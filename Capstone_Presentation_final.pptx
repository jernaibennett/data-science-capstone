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3"/>
  </p:notesMasterIdLst>
  <p:sldIdLst>
    <p:sldId id="256" r:id="rId2"/>
    <p:sldId id="257" r:id="rId3"/>
    <p:sldId id="275" r:id="rId4"/>
    <p:sldId id="273" r:id="rId5"/>
    <p:sldId id="274" r:id="rId6"/>
    <p:sldId id="272" r:id="rId7"/>
    <p:sldId id="258" r:id="rId8"/>
    <p:sldId id="263" r:id="rId9"/>
    <p:sldId id="259" r:id="rId10"/>
    <p:sldId id="261" r:id="rId11"/>
    <p:sldId id="281" r:id="rId12"/>
    <p:sldId id="280" r:id="rId13"/>
    <p:sldId id="260" r:id="rId14"/>
    <p:sldId id="262" r:id="rId15"/>
    <p:sldId id="278" r:id="rId16"/>
    <p:sldId id="277" r:id="rId17"/>
    <p:sldId id="279" r:id="rId18"/>
    <p:sldId id="270" r:id="rId19"/>
    <p:sldId id="282" r:id="rId20"/>
    <p:sldId id="276" r:id="rId21"/>
    <p:sldId id="271"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0A9E"/>
    <a:srgbClr val="939CA9"/>
    <a:srgbClr val="B1B1C5"/>
    <a:srgbClr val="F4EF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E7BADA-825B-44CC-ADDE-C7F05DD2ED5B}" v="132" dt="2026-04-07T20:23:02.2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24" d="100"/>
          <a:sy n="124" d="100"/>
        </p:scale>
        <p:origin x="908" y="9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6/11/relationships/changesInfo" Target="changesInfos/changesInfo1.xml"/><Relationship Id="rId2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nai Bennett" userId="1c73f56dab780b2a" providerId="LiveId" clId="{346F34F6-38C7-417B-8B7B-C068F9F0A8F3}"/>
    <pc:docChg chg="undo redo custSel addSld delSld modSld sldOrd">
      <pc:chgData name="Jernai Bennett" userId="1c73f56dab780b2a" providerId="LiveId" clId="{346F34F6-38C7-417B-8B7B-C068F9F0A8F3}" dt="2026-04-07T20:23:25.965" v="4447" actId="171"/>
      <pc:docMkLst>
        <pc:docMk/>
      </pc:docMkLst>
      <pc:sldChg chg="addSp delSp modSp mod modNotesTx">
        <pc:chgData name="Jernai Bennett" userId="1c73f56dab780b2a" providerId="LiveId" clId="{346F34F6-38C7-417B-8B7B-C068F9F0A8F3}" dt="2026-04-07T20:23:25.965" v="4447" actId="171"/>
        <pc:sldMkLst>
          <pc:docMk/>
          <pc:sldMk cId="0" sldId="256"/>
        </pc:sldMkLst>
        <pc:spChg chg="ord">
          <ac:chgData name="Jernai Bennett" userId="1c73f56dab780b2a" providerId="LiveId" clId="{346F34F6-38C7-417B-8B7B-C068F9F0A8F3}" dt="2026-04-07T20:23:25.965" v="4447" actId="171"/>
          <ac:spMkLst>
            <pc:docMk/>
            <pc:sldMk cId="0" sldId="256"/>
            <ac:spMk id="5" creationId="{00000000-0000-0000-0000-000000000000}"/>
          </ac:spMkLst>
        </pc:spChg>
        <pc:spChg chg="add del mod">
          <ac:chgData name="Jernai Bennett" userId="1c73f56dab780b2a" providerId="LiveId" clId="{346F34F6-38C7-417B-8B7B-C068F9F0A8F3}" dt="2026-04-07T20:23:05.408" v="4445"/>
          <ac:spMkLst>
            <pc:docMk/>
            <pc:sldMk cId="0" sldId="256"/>
            <ac:spMk id="8" creationId="{399ED237-81B9-B19E-2C31-E63D80B2442D}"/>
          </ac:spMkLst>
        </pc:spChg>
        <pc:spChg chg="mod">
          <ac:chgData name="Jernai Bennett" userId="1c73f56dab780b2a" providerId="LiveId" clId="{346F34F6-38C7-417B-8B7B-C068F9F0A8F3}" dt="2026-03-24T18:47:27.106" v="1444" actId="14100"/>
          <ac:spMkLst>
            <pc:docMk/>
            <pc:sldMk cId="0" sldId="256"/>
            <ac:spMk id="9" creationId="{00000000-0000-0000-0000-000000000000}"/>
          </ac:spMkLst>
        </pc:spChg>
      </pc:sldChg>
      <pc:sldChg chg="addSp delSp modSp mod modNotesTx">
        <pc:chgData name="Jernai Bennett" userId="1c73f56dab780b2a" providerId="LiveId" clId="{346F34F6-38C7-417B-8B7B-C068F9F0A8F3}" dt="2026-04-01T20:42:12.224" v="4075" actId="20577"/>
        <pc:sldMkLst>
          <pc:docMk/>
          <pc:sldMk cId="0" sldId="257"/>
        </pc:sldMkLst>
        <pc:spChg chg="mod">
          <ac:chgData name="Jernai Bennett" userId="1c73f56dab780b2a" providerId="LiveId" clId="{346F34F6-38C7-417B-8B7B-C068F9F0A8F3}" dt="2026-03-24T16:54:04.279" v="1037" actId="255"/>
          <ac:spMkLst>
            <pc:docMk/>
            <pc:sldMk cId="0" sldId="257"/>
            <ac:spMk id="7" creationId="{00000000-0000-0000-0000-000000000000}"/>
          </ac:spMkLst>
        </pc:spChg>
        <pc:spChg chg="mod">
          <ac:chgData name="Jernai Bennett" userId="1c73f56dab780b2a" providerId="LiveId" clId="{346F34F6-38C7-417B-8B7B-C068F9F0A8F3}" dt="2026-03-24T20:05:17.337" v="3093"/>
          <ac:spMkLst>
            <pc:docMk/>
            <pc:sldMk cId="0" sldId="257"/>
            <ac:spMk id="9" creationId="{00000000-0000-0000-0000-000000000000}"/>
          </ac:spMkLst>
        </pc:spChg>
        <pc:spChg chg="add mod">
          <ac:chgData name="Jernai Bennett" userId="1c73f56dab780b2a" providerId="LiveId" clId="{346F34F6-38C7-417B-8B7B-C068F9F0A8F3}" dt="2026-04-01T20:42:12.224" v="4075" actId="20577"/>
          <ac:spMkLst>
            <pc:docMk/>
            <pc:sldMk cId="0" sldId="257"/>
            <ac:spMk id="15" creationId="{83DCBE76-19D2-B705-006F-7DD5D72959B2}"/>
          </ac:spMkLst>
        </pc:spChg>
        <pc:spChg chg="add mod">
          <ac:chgData name="Jernai Bennett" userId="1c73f56dab780b2a" providerId="LiveId" clId="{346F34F6-38C7-417B-8B7B-C068F9F0A8F3}" dt="2026-03-24T20:05:50.471" v="3110" actId="20577"/>
          <ac:spMkLst>
            <pc:docMk/>
            <pc:sldMk cId="0" sldId="257"/>
            <ac:spMk id="16" creationId="{F91C5E38-69CF-5B6B-63E1-12775CC7911B}"/>
          </ac:spMkLst>
        </pc:spChg>
      </pc:sldChg>
      <pc:sldChg chg="addSp delSp modSp mod ord">
        <pc:chgData name="Jernai Bennett" userId="1c73f56dab780b2a" providerId="LiveId" clId="{346F34F6-38C7-417B-8B7B-C068F9F0A8F3}" dt="2026-04-07T19:58:38.552" v="4343" actId="478"/>
        <pc:sldMkLst>
          <pc:docMk/>
          <pc:sldMk cId="0" sldId="258"/>
        </pc:sldMkLst>
        <pc:spChg chg="add mod">
          <ac:chgData name="Jernai Bennett" userId="1c73f56dab780b2a" providerId="LiveId" clId="{346F34F6-38C7-417B-8B7B-C068F9F0A8F3}" dt="2026-03-24T17:05:08.015" v="1205" actId="14100"/>
          <ac:spMkLst>
            <pc:docMk/>
            <pc:sldMk cId="0" sldId="258"/>
            <ac:spMk id="9" creationId="{06DDC076-4CA1-6A48-5AA4-62BFEDE59739}"/>
          </ac:spMkLst>
        </pc:spChg>
        <pc:spChg chg="add mod">
          <ac:chgData name="Jernai Bennett" userId="1c73f56dab780b2a" providerId="LiveId" clId="{346F34F6-38C7-417B-8B7B-C068F9F0A8F3}" dt="2026-03-24T20:16:38.706" v="3272" actId="207"/>
          <ac:spMkLst>
            <pc:docMk/>
            <pc:sldMk cId="0" sldId="258"/>
            <ac:spMk id="11" creationId="{3C201574-2B31-DF3E-1269-0BE65199D7F7}"/>
          </ac:spMkLst>
        </pc:spChg>
        <pc:spChg chg="mod">
          <ac:chgData name="Jernai Bennett" userId="1c73f56dab780b2a" providerId="LiveId" clId="{346F34F6-38C7-417B-8B7B-C068F9F0A8F3}" dt="2026-03-24T16:25:00.103" v="649"/>
          <ac:spMkLst>
            <pc:docMk/>
            <pc:sldMk cId="0" sldId="258"/>
            <ac:spMk id="22" creationId="{00000000-0000-0000-0000-000000000000}"/>
          </ac:spMkLst>
        </pc:spChg>
        <pc:spChg chg="mod">
          <ac:chgData name="Jernai Bennett" userId="1c73f56dab780b2a" providerId="LiveId" clId="{346F34F6-38C7-417B-8B7B-C068F9F0A8F3}" dt="2026-03-24T16:25:21.477" v="657" actId="1076"/>
          <ac:spMkLst>
            <pc:docMk/>
            <pc:sldMk cId="0" sldId="258"/>
            <ac:spMk id="23" creationId="{00000000-0000-0000-0000-000000000000}"/>
          </ac:spMkLst>
        </pc:spChg>
        <pc:spChg chg="mod">
          <ac:chgData name="Jernai Bennett" userId="1c73f56dab780b2a" providerId="LiveId" clId="{346F34F6-38C7-417B-8B7B-C068F9F0A8F3}" dt="2026-03-24T17:01:59.603" v="1161" actId="1076"/>
          <ac:spMkLst>
            <pc:docMk/>
            <pc:sldMk cId="0" sldId="258"/>
            <ac:spMk id="26" creationId="{00000000-0000-0000-0000-000000000000}"/>
          </ac:spMkLst>
        </pc:spChg>
        <pc:spChg chg="del mod">
          <ac:chgData name="Jernai Bennett" userId="1c73f56dab780b2a" providerId="LiveId" clId="{346F34F6-38C7-417B-8B7B-C068F9F0A8F3}" dt="2026-04-07T19:58:38.552" v="4343" actId="478"/>
          <ac:spMkLst>
            <pc:docMk/>
            <pc:sldMk cId="0" sldId="258"/>
            <ac:spMk id="27" creationId="{00000000-0000-0000-0000-000000000000}"/>
          </ac:spMkLst>
        </pc:spChg>
      </pc:sldChg>
      <pc:sldChg chg="addSp delSp modSp mod">
        <pc:chgData name="Jernai Bennett" userId="1c73f56dab780b2a" providerId="LiveId" clId="{346F34F6-38C7-417B-8B7B-C068F9F0A8F3}" dt="2026-03-24T20:49:15.128" v="4004" actId="478"/>
        <pc:sldMkLst>
          <pc:docMk/>
          <pc:sldMk cId="0" sldId="259"/>
        </pc:sldMkLst>
        <pc:spChg chg="mod">
          <ac:chgData name="Jernai Bennett" userId="1c73f56dab780b2a" providerId="LiveId" clId="{346F34F6-38C7-417B-8B7B-C068F9F0A8F3}" dt="2026-03-24T19:24:28.439" v="1701" actId="20577"/>
          <ac:spMkLst>
            <pc:docMk/>
            <pc:sldMk cId="0" sldId="259"/>
            <ac:spMk id="3" creationId="{00000000-0000-0000-0000-000000000000}"/>
          </ac:spMkLst>
        </pc:spChg>
        <pc:spChg chg="mod">
          <ac:chgData name="Jernai Bennett" userId="1c73f56dab780b2a" providerId="LiveId" clId="{346F34F6-38C7-417B-8B7B-C068F9F0A8F3}" dt="2026-03-24T19:06:02.604" v="1534" actId="1076"/>
          <ac:spMkLst>
            <pc:docMk/>
            <pc:sldMk cId="0" sldId="259"/>
            <ac:spMk id="6" creationId="{00000000-0000-0000-0000-000000000000}"/>
          </ac:spMkLst>
        </pc:spChg>
        <pc:spChg chg="mod">
          <ac:chgData name="Jernai Bennett" userId="1c73f56dab780b2a" providerId="LiveId" clId="{346F34F6-38C7-417B-8B7B-C068F9F0A8F3}" dt="2026-03-24T19:05:53.594" v="1532" actId="1076"/>
          <ac:spMkLst>
            <pc:docMk/>
            <pc:sldMk cId="0" sldId="259"/>
            <ac:spMk id="25" creationId="{00000000-0000-0000-0000-000000000000}"/>
          </ac:spMkLst>
        </pc:spChg>
        <pc:spChg chg="mod">
          <ac:chgData name="Jernai Bennett" userId="1c73f56dab780b2a" providerId="LiveId" clId="{346F34F6-38C7-417B-8B7B-C068F9F0A8F3}" dt="2026-03-24T19:47:02.163" v="2286" actId="1076"/>
          <ac:spMkLst>
            <pc:docMk/>
            <pc:sldMk cId="0" sldId="259"/>
            <ac:spMk id="26" creationId="{00000000-0000-0000-0000-000000000000}"/>
          </ac:spMkLst>
        </pc:spChg>
        <pc:spChg chg="mod">
          <ac:chgData name="Jernai Bennett" userId="1c73f56dab780b2a" providerId="LiveId" clId="{346F34F6-38C7-417B-8B7B-C068F9F0A8F3}" dt="2026-03-24T19:53:17.399" v="2562" actId="20577"/>
          <ac:spMkLst>
            <pc:docMk/>
            <pc:sldMk cId="0" sldId="259"/>
            <ac:spMk id="28" creationId="{00000000-0000-0000-0000-000000000000}"/>
          </ac:spMkLst>
        </pc:spChg>
        <pc:graphicFrameChg chg="mod modGraphic">
          <ac:chgData name="Jernai Bennett" userId="1c73f56dab780b2a" providerId="LiveId" clId="{346F34F6-38C7-417B-8B7B-C068F9F0A8F3}" dt="2026-03-24T19:06:13.673" v="1536" actId="14100"/>
          <ac:graphicFrameMkLst>
            <pc:docMk/>
            <pc:sldMk cId="0" sldId="259"/>
            <ac:graphicFrameMk id="7" creationId="{00000000-0000-0000-0000-000000000000}"/>
          </ac:graphicFrameMkLst>
        </pc:graphicFrameChg>
        <pc:picChg chg="add del">
          <ac:chgData name="Jernai Bennett" userId="1c73f56dab780b2a" providerId="LiveId" clId="{346F34F6-38C7-417B-8B7B-C068F9F0A8F3}" dt="2026-03-24T19:06:20.569" v="1538" actId="478"/>
          <ac:picMkLst>
            <pc:docMk/>
            <pc:sldMk cId="0" sldId="259"/>
            <ac:picMk id="2" creationId="{00000000-0000-0000-0000-000000000000}"/>
          </ac:picMkLst>
        </pc:picChg>
      </pc:sldChg>
      <pc:sldChg chg="addSp delSp modSp mod ord">
        <pc:chgData name="Jernai Bennett" userId="1c73f56dab780b2a" providerId="LiveId" clId="{346F34F6-38C7-417B-8B7B-C068F9F0A8F3}" dt="2026-03-24T20:50:41.323" v="4021" actId="478"/>
        <pc:sldMkLst>
          <pc:docMk/>
          <pc:sldMk cId="0" sldId="260"/>
        </pc:sldMkLst>
        <pc:spChg chg="mod">
          <ac:chgData name="Jernai Bennett" userId="1c73f56dab780b2a" providerId="LiveId" clId="{346F34F6-38C7-417B-8B7B-C068F9F0A8F3}" dt="2026-03-24T19:25:36.293" v="1784" actId="1076"/>
          <ac:spMkLst>
            <pc:docMk/>
            <pc:sldMk cId="0" sldId="260"/>
            <ac:spMk id="3" creationId="{00000000-0000-0000-0000-000000000000}"/>
          </ac:spMkLst>
        </pc:spChg>
        <pc:spChg chg="mod">
          <ac:chgData name="Jernai Bennett" userId="1c73f56dab780b2a" providerId="LiveId" clId="{346F34F6-38C7-417B-8B7B-C068F9F0A8F3}" dt="2026-03-24T15:29:22.605" v="104" actId="1076"/>
          <ac:spMkLst>
            <pc:docMk/>
            <pc:sldMk cId="0" sldId="260"/>
            <ac:spMk id="27" creationId="{00000000-0000-0000-0000-000000000000}"/>
          </ac:spMkLst>
        </pc:spChg>
        <pc:spChg chg="mod">
          <ac:chgData name="Jernai Bennett" userId="1c73f56dab780b2a" providerId="LiveId" clId="{346F34F6-38C7-417B-8B7B-C068F9F0A8F3}" dt="2026-03-24T15:29:41.567" v="107" actId="14100"/>
          <ac:spMkLst>
            <pc:docMk/>
            <pc:sldMk cId="0" sldId="260"/>
            <ac:spMk id="28" creationId="{00000000-0000-0000-0000-000000000000}"/>
          </ac:spMkLst>
        </pc:spChg>
        <pc:picChg chg="add del">
          <ac:chgData name="Jernai Bennett" userId="1c73f56dab780b2a" providerId="LiveId" clId="{346F34F6-38C7-417B-8B7B-C068F9F0A8F3}" dt="2026-03-24T20:50:29.882" v="4019" actId="478"/>
          <ac:picMkLst>
            <pc:docMk/>
            <pc:sldMk cId="0" sldId="260"/>
            <ac:picMk id="2" creationId="{00000000-0000-0000-0000-000000000000}"/>
          </ac:picMkLst>
        </pc:picChg>
      </pc:sldChg>
      <pc:sldChg chg="addSp delSp modSp mod ord">
        <pc:chgData name="Jernai Bennett" userId="1c73f56dab780b2a" providerId="LiveId" clId="{346F34F6-38C7-417B-8B7B-C068F9F0A8F3}" dt="2026-03-24T20:50:15.709" v="4015" actId="478"/>
        <pc:sldMkLst>
          <pc:docMk/>
          <pc:sldMk cId="0" sldId="261"/>
        </pc:sldMkLst>
        <pc:spChg chg="mod">
          <ac:chgData name="Jernai Bennett" userId="1c73f56dab780b2a" providerId="LiveId" clId="{346F34F6-38C7-417B-8B7B-C068F9F0A8F3}" dt="2026-03-24T19:24:39.642" v="1729" actId="20577"/>
          <ac:spMkLst>
            <pc:docMk/>
            <pc:sldMk cId="0" sldId="261"/>
            <ac:spMk id="3" creationId="{00000000-0000-0000-0000-000000000000}"/>
          </ac:spMkLst>
        </pc:spChg>
        <pc:picChg chg="add mod modCrop">
          <ac:chgData name="Jernai Bennett" userId="1c73f56dab780b2a" providerId="LiveId" clId="{346F34F6-38C7-417B-8B7B-C068F9F0A8F3}" dt="2026-03-24T20:28:06.171" v="3804" actId="14100"/>
          <ac:picMkLst>
            <pc:docMk/>
            <pc:sldMk cId="0" sldId="261"/>
            <ac:picMk id="10" creationId="{6778D8F8-07C5-62D4-EF1C-FDE38CFFA583}"/>
          </ac:picMkLst>
        </pc:picChg>
        <pc:picChg chg="add mod">
          <ac:chgData name="Jernai Bennett" userId="1c73f56dab780b2a" providerId="LiveId" clId="{346F34F6-38C7-417B-8B7B-C068F9F0A8F3}" dt="2026-03-24T20:28:15.328" v="3806" actId="1076"/>
          <ac:picMkLst>
            <pc:docMk/>
            <pc:sldMk cId="0" sldId="261"/>
            <ac:picMk id="12" creationId="{C2D21611-2A58-E9FA-2D25-1259106CC17C}"/>
          </ac:picMkLst>
        </pc:picChg>
      </pc:sldChg>
      <pc:sldChg chg="addSp delSp modSp mod ord modNotesTx">
        <pc:chgData name="Jernai Bennett" userId="1c73f56dab780b2a" providerId="LiveId" clId="{346F34F6-38C7-417B-8B7B-C068F9F0A8F3}" dt="2026-04-01T20:52:30.238" v="4340" actId="20577"/>
        <pc:sldMkLst>
          <pc:docMk/>
          <pc:sldMk cId="0" sldId="262"/>
        </pc:sldMkLst>
        <pc:spChg chg="mod">
          <ac:chgData name="Jernai Bennett" userId="1c73f56dab780b2a" providerId="LiveId" clId="{346F34F6-38C7-417B-8B7B-C068F9F0A8F3}" dt="2026-03-24T19:25:08.560" v="1779" actId="20577"/>
          <ac:spMkLst>
            <pc:docMk/>
            <pc:sldMk cId="0" sldId="262"/>
            <ac:spMk id="3" creationId="{00000000-0000-0000-0000-000000000000}"/>
          </ac:spMkLst>
        </pc:spChg>
        <pc:spChg chg="add mod">
          <ac:chgData name="Jernai Bennett" userId="1c73f56dab780b2a" providerId="LiveId" clId="{346F34F6-38C7-417B-8B7B-C068F9F0A8F3}" dt="2026-04-01T20:52:17.669" v="4333" actId="20577"/>
          <ac:spMkLst>
            <pc:docMk/>
            <pc:sldMk cId="0" sldId="262"/>
            <ac:spMk id="19" creationId="{762ECEAB-5300-2026-9698-D0B7C99AC309}"/>
          </ac:spMkLst>
        </pc:spChg>
        <pc:picChg chg="mod modCrop">
          <ac:chgData name="Jernai Bennett" userId="1c73f56dab780b2a" providerId="LiveId" clId="{346F34F6-38C7-417B-8B7B-C068F9F0A8F3}" dt="2026-03-24T20:42:04.453" v="3895" actId="1076"/>
          <ac:picMkLst>
            <pc:docMk/>
            <pc:sldMk cId="0" sldId="262"/>
            <ac:picMk id="6" creationId="{00000000-0000-0000-0000-000000000000}"/>
          </ac:picMkLst>
        </pc:picChg>
      </pc:sldChg>
      <pc:sldChg chg="addSp delSp modSp mod ord">
        <pc:chgData name="Jernai Bennett" userId="1c73f56dab780b2a" providerId="LiveId" clId="{346F34F6-38C7-417B-8B7B-C068F9F0A8F3}" dt="2026-04-01T20:44:16.199" v="4099" actId="15"/>
        <pc:sldMkLst>
          <pc:docMk/>
          <pc:sldMk cId="0" sldId="263"/>
        </pc:sldMkLst>
        <pc:spChg chg="mod">
          <ac:chgData name="Jernai Bennett" userId="1c73f56dab780b2a" providerId="LiveId" clId="{346F34F6-38C7-417B-8B7B-C068F9F0A8F3}" dt="2026-03-24T19:43:13.150" v="2213" actId="1076"/>
          <ac:spMkLst>
            <pc:docMk/>
            <pc:sldMk cId="0" sldId="263"/>
            <ac:spMk id="3" creationId="{00000000-0000-0000-0000-000000000000}"/>
          </ac:spMkLst>
        </pc:spChg>
        <pc:spChg chg="add mod">
          <ac:chgData name="Jernai Bennett" userId="1c73f56dab780b2a" providerId="LiveId" clId="{346F34F6-38C7-417B-8B7B-C068F9F0A8F3}" dt="2026-04-01T20:44:16.199" v="4099" actId="15"/>
          <ac:spMkLst>
            <pc:docMk/>
            <pc:sldMk cId="0" sldId="263"/>
            <ac:spMk id="67" creationId="{D647B8F1-FEFE-24FD-ED7E-CCE09FFB463D}"/>
          </ac:spMkLst>
        </pc:spChg>
        <pc:picChg chg="mod">
          <ac:chgData name="Jernai Bennett" userId="1c73f56dab780b2a" providerId="LiveId" clId="{346F34F6-38C7-417B-8B7B-C068F9F0A8F3}" dt="2026-04-01T20:43:34.331" v="4078" actId="1076"/>
          <ac:picMkLst>
            <pc:docMk/>
            <pc:sldMk cId="0" sldId="263"/>
            <ac:picMk id="2" creationId="{00000000-0000-0000-0000-000000000000}"/>
          </ac:picMkLst>
        </pc:picChg>
      </pc:sldChg>
      <pc:sldChg chg="delSp modSp mod setBg">
        <pc:chgData name="Jernai Bennett" userId="1c73f56dab780b2a" providerId="LiveId" clId="{346F34F6-38C7-417B-8B7B-C068F9F0A8F3}" dt="2026-04-01T20:49:56.874" v="4208" actId="20577"/>
        <pc:sldMkLst>
          <pc:docMk/>
          <pc:sldMk cId="0" sldId="270"/>
        </pc:sldMkLst>
        <pc:spChg chg="mod">
          <ac:chgData name="Jernai Bennett" userId="1c73f56dab780b2a" providerId="LiveId" clId="{346F34F6-38C7-417B-8B7B-C068F9F0A8F3}" dt="2026-03-24T19:36:43.821" v="2155" actId="1076"/>
          <ac:spMkLst>
            <pc:docMk/>
            <pc:sldMk cId="0" sldId="270"/>
            <ac:spMk id="3" creationId="{00000000-0000-0000-0000-000000000000}"/>
          </ac:spMkLst>
        </pc:spChg>
        <pc:spChg chg="mod">
          <ac:chgData name="Jernai Bennett" userId="1c73f56dab780b2a" providerId="LiveId" clId="{346F34F6-38C7-417B-8B7B-C068F9F0A8F3}" dt="2026-03-24T19:29:58.420" v="1876" actId="1076"/>
          <ac:spMkLst>
            <pc:docMk/>
            <pc:sldMk cId="0" sldId="270"/>
            <ac:spMk id="4" creationId="{00000000-0000-0000-0000-000000000000}"/>
          </ac:spMkLst>
        </pc:spChg>
        <pc:spChg chg="mod">
          <ac:chgData name="Jernai Bennett" userId="1c73f56dab780b2a" providerId="LiveId" clId="{346F34F6-38C7-417B-8B7B-C068F9F0A8F3}" dt="2026-04-01T20:49:56.874" v="4208" actId="20577"/>
          <ac:spMkLst>
            <pc:docMk/>
            <pc:sldMk cId="0" sldId="270"/>
            <ac:spMk id="5" creationId="{00000000-0000-0000-0000-000000000000}"/>
          </ac:spMkLst>
        </pc:spChg>
        <pc:spChg chg="mod">
          <ac:chgData name="Jernai Bennett" userId="1c73f56dab780b2a" providerId="LiveId" clId="{346F34F6-38C7-417B-8B7B-C068F9F0A8F3}" dt="2026-03-24T19:36:19.624" v="2152" actId="20577"/>
          <ac:spMkLst>
            <pc:docMk/>
            <pc:sldMk cId="0" sldId="270"/>
            <ac:spMk id="7" creationId="{00000000-0000-0000-0000-000000000000}"/>
          </ac:spMkLst>
        </pc:spChg>
        <pc:spChg chg="mod">
          <ac:chgData name="Jernai Bennett" userId="1c73f56dab780b2a" providerId="LiveId" clId="{346F34F6-38C7-417B-8B7B-C068F9F0A8F3}" dt="2026-03-24T15:16:53.747" v="0" actId="21"/>
          <ac:spMkLst>
            <pc:docMk/>
            <pc:sldMk cId="0" sldId="270"/>
            <ac:spMk id="9" creationId="{00000000-0000-0000-0000-000000000000}"/>
          </ac:spMkLst>
        </pc:spChg>
      </pc:sldChg>
      <pc:sldChg chg="addSp delSp mod">
        <pc:chgData name="Jernai Bennett" userId="1c73f56dab780b2a" providerId="LiveId" clId="{346F34F6-38C7-417B-8B7B-C068F9F0A8F3}" dt="2026-03-24T20:51:37.915" v="4031" actId="478"/>
        <pc:sldMkLst>
          <pc:docMk/>
          <pc:sldMk cId="0" sldId="271"/>
        </pc:sldMkLst>
        <pc:picChg chg="add del">
          <ac:chgData name="Jernai Bennett" userId="1c73f56dab780b2a" providerId="LiveId" clId="{346F34F6-38C7-417B-8B7B-C068F9F0A8F3}" dt="2026-03-24T20:51:33.967" v="4030" actId="478"/>
          <ac:picMkLst>
            <pc:docMk/>
            <pc:sldMk cId="0" sldId="271"/>
            <ac:picMk id="2" creationId="{00000000-0000-0000-0000-000000000000}"/>
          </ac:picMkLst>
        </pc:picChg>
      </pc:sldChg>
      <pc:sldChg chg="addSp delSp modSp add mod">
        <pc:chgData name="Jernai Bennett" userId="1c73f56dab780b2a" providerId="LiveId" clId="{346F34F6-38C7-417B-8B7B-C068F9F0A8F3}" dt="2026-04-07T20:08:13.277" v="4417"/>
        <pc:sldMkLst>
          <pc:docMk/>
          <pc:sldMk cId="330636751" sldId="272"/>
        </pc:sldMkLst>
        <pc:spChg chg="add mod">
          <ac:chgData name="Jernai Bennett" userId="1c73f56dab780b2a" providerId="LiveId" clId="{346F34F6-38C7-417B-8B7B-C068F9F0A8F3}" dt="2026-03-24T19:56:15.508" v="2599" actId="1076"/>
          <ac:spMkLst>
            <pc:docMk/>
            <pc:sldMk cId="330636751" sldId="272"/>
            <ac:spMk id="11" creationId="{8ED55DF2-FF24-23D5-363C-9E13E79D8863}"/>
          </ac:spMkLst>
        </pc:spChg>
        <pc:spChg chg="add mod">
          <ac:chgData name="Jernai Bennett" userId="1c73f56dab780b2a" providerId="LiveId" clId="{346F34F6-38C7-417B-8B7B-C068F9F0A8F3}" dt="2026-04-07T20:08:13.277" v="4417"/>
          <ac:spMkLst>
            <pc:docMk/>
            <pc:sldMk cId="330636751" sldId="272"/>
            <ac:spMk id="12" creationId="{442811BC-CF94-7D8C-E9EF-FE14CCF65E02}"/>
          </ac:spMkLst>
        </pc:spChg>
        <pc:spChg chg="mod">
          <ac:chgData name="Jernai Bennett" userId="1c73f56dab780b2a" providerId="LiveId" clId="{346F34F6-38C7-417B-8B7B-C068F9F0A8F3}" dt="2026-03-24T16:24:35.142" v="641" actId="5793"/>
          <ac:spMkLst>
            <pc:docMk/>
            <pc:sldMk cId="330636751" sldId="272"/>
            <ac:spMk id="23" creationId="{5FA9D98C-C202-B081-E084-4DDB7363F090}"/>
          </ac:spMkLst>
        </pc:spChg>
        <pc:spChg chg="mod">
          <ac:chgData name="Jernai Bennett" userId="1c73f56dab780b2a" providerId="LiveId" clId="{346F34F6-38C7-417B-8B7B-C068F9F0A8F3}" dt="2026-03-24T16:25:59.980" v="945" actId="5793"/>
          <ac:spMkLst>
            <pc:docMk/>
            <pc:sldMk cId="330636751" sldId="272"/>
            <ac:spMk id="25" creationId="{F5FD71C4-FEFF-D460-921A-3FD7CE42D25E}"/>
          </ac:spMkLst>
        </pc:spChg>
        <pc:spChg chg="mod">
          <ac:chgData name="Jernai Bennett" userId="1c73f56dab780b2a" providerId="LiveId" clId="{346F34F6-38C7-417B-8B7B-C068F9F0A8F3}" dt="2026-03-24T17:03:16.842" v="1178" actId="1076"/>
          <ac:spMkLst>
            <pc:docMk/>
            <pc:sldMk cId="330636751" sldId="272"/>
            <ac:spMk id="26" creationId="{8273A58C-0F02-EB50-9429-CD6B03B8E5E2}"/>
          </ac:spMkLst>
        </pc:spChg>
      </pc:sldChg>
      <pc:sldChg chg="addSp delSp modSp add mod ord modNotesTx">
        <pc:chgData name="Jernai Bennett" userId="1c73f56dab780b2a" providerId="LiveId" clId="{346F34F6-38C7-417B-8B7B-C068F9F0A8F3}" dt="2026-04-07T20:04:54.990" v="4372" actId="20577"/>
        <pc:sldMkLst>
          <pc:docMk/>
          <pc:sldMk cId="665117640" sldId="273"/>
        </pc:sldMkLst>
        <pc:spChg chg="mod">
          <ac:chgData name="Jernai Bennett" userId="1c73f56dab780b2a" providerId="LiveId" clId="{346F34F6-38C7-417B-8B7B-C068F9F0A8F3}" dt="2026-03-24T20:06:32.612" v="3128" actId="20577"/>
          <ac:spMkLst>
            <pc:docMk/>
            <pc:sldMk cId="665117640" sldId="273"/>
            <ac:spMk id="3" creationId="{CF00BEAF-14FE-301A-CFE8-F1E7945AE18B}"/>
          </ac:spMkLst>
        </pc:spChg>
        <pc:spChg chg="mod">
          <ac:chgData name="Jernai Bennett" userId="1c73f56dab780b2a" providerId="LiveId" clId="{346F34F6-38C7-417B-8B7B-C068F9F0A8F3}" dt="2026-03-24T20:06:30.442" v="3124"/>
          <ac:spMkLst>
            <pc:docMk/>
            <pc:sldMk cId="665117640" sldId="273"/>
            <ac:spMk id="7" creationId="{99F332FE-F2B3-CA86-28A8-668A95CFA82C}"/>
          </ac:spMkLst>
        </pc:spChg>
        <pc:spChg chg="add mod">
          <ac:chgData name="Jernai Bennett" userId="1c73f56dab780b2a" providerId="LiveId" clId="{346F34F6-38C7-417B-8B7B-C068F9F0A8F3}" dt="2026-04-07T19:57:52.778" v="4342" actId="14100"/>
          <ac:spMkLst>
            <pc:docMk/>
            <pc:sldMk cId="665117640" sldId="273"/>
            <ac:spMk id="11" creationId="{85A892F8-644B-A850-ED9F-6022E9DF0682}"/>
          </ac:spMkLst>
        </pc:spChg>
        <pc:picChg chg="add del">
          <ac:chgData name="Jernai Bennett" userId="1c73f56dab780b2a" providerId="LiveId" clId="{346F34F6-38C7-417B-8B7B-C068F9F0A8F3}" dt="2026-03-24T20:48:52.971" v="3999" actId="478"/>
          <ac:picMkLst>
            <pc:docMk/>
            <pc:sldMk cId="665117640" sldId="273"/>
            <ac:picMk id="2" creationId="{39869D8A-0ED7-5567-C9B0-35E1BFD1BE52}"/>
          </ac:picMkLst>
        </pc:picChg>
      </pc:sldChg>
      <pc:sldChg chg="addSp delSp modSp add mod">
        <pc:chgData name="Jernai Bennett" userId="1c73f56dab780b2a" providerId="LiveId" clId="{346F34F6-38C7-417B-8B7B-C068F9F0A8F3}" dt="2026-04-07T20:06:04.216" v="4409" actId="20577"/>
        <pc:sldMkLst>
          <pc:docMk/>
          <pc:sldMk cId="877813271" sldId="274"/>
        </pc:sldMkLst>
        <pc:spChg chg="mod">
          <ac:chgData name="Jernai Bennett" userId="1c73f56dab780b2a" providerId="LiveId" clId="{346F34F6-38C7-417B-8B7B-C068F9F0A8F3}" dt="2026-03-24T19:26:53.109" v="1790"/>
          <ac:spMkLst>
            <pc:docMk/>
            <pc:sldMk cId="877813271" sldId="274"/>
            <ac:spMk id="3" creationId="{D121B047-7845-33DE-E6B9-E92909C0D156}"/>
          </ac:spMkLst>
        </pc:spChg>
        <pc:spChg chg="add mod">
          <ac:chgData name="Jernai Bennett" userId="1c73f56dab780b2a" providerId="LiveId" clId="{346F34F6-38C7-417B-8B7B-C068F9F0A8F3}" dt="2026-03-24T19:47:18.715" v="2287"/>
          <ac:spMkLst>
            <pc:docMk/>
            <pc:sldMk cId="877813271" sldId="274"/>
            <ac:spMk id="6" creationId="{DA55B2EE-B3D4-5FFE-C5A0-358374E9322C}"/>
          </ac:spMkLst>
        </pc:spChg>
        <pc:spChg chg="add mod">
          <ac:chgData name="Jernai Bennett" userId="1c73f56dab780b2a" providerId="LiveId" clId="{346F34F6-38C7-417B-8B7B-C068F9F0A8F3}" dt="2026-04-07T20:06:04.216" v="4409" actId="20577"/>
          <ac:spMkLst>
            <pc:docMk/>
            <pc:sldMk cId="877813271" sldId="274"/>
            <ac:spMk id="8" creationId="{3DC4A090-4AAD-8677-C049-F1D6E811C07E}"/>
          </ac:spMkLst>
        </pc:spChg>
        <pc:spChg chg="mod">
          <ac:chgData name="Jernai Bennett" userId="1c73f56dab780b2a" providerId="LiveId" clId="{346F34F6-38C7-417B-8B7B-C068F9F0A8F3}" dt="2026-03-24T19:57:54.622" v="2619" actId="207"/>
          <ac:spMkLst>
            <pc:docMk/>
            <pc:sldMk cId="877813271" sldId="274"/>
            <ac:spMk id="11" creationId="{E7574B97-EB8E-FD8F-8083-118638EC2B32}"/>
          </ac:spMkLst>
        </pc:spChg>
        <pc:spChg chg="add mod">
          <ac:chgData name="Jernai Bennett" userId="1c73f56dab780b2a" providerId="LiveId" clId="{346F34F6-38C7-417B-8B7B-C068F9F0A8F3}" dt="2026-03-24T20:02:33.074" v="3054" actId="5793"/>
          <ac:spMkLst>
            <pc:docMk/>
            <pc:sldMk cId="877813271" sldId="274"/>
            <ac:spMk id="13" creationId="{F4434757-5D46-DC1A-3A09-A892493C5267}"/>
          </ac:spMkLst>
        </pc:spChg>
        <pc:spChg chg="add mod">
          <ac:chgData name="Jernai Bennett" userId="1c73f56dab780b2a" providerId="LiveId" clId="{346F34F6-38C7-417B-8B7B-C068F9F0A8F3}" dt="2026-03-24T19:58:12.948" v="2623" actId="1076"/>
          <ac:spMkLst>
            <pc:docMk/>
            <pc:sldMk cId="877813271" sldId="274"/>
            <ac:spMk id="15" creationId="{0AD7BBFD-D724-1EAA-0383-2CD871E5D7C4}"/>
          </ac:spMkLst>
        </pc:spChg>
      </pc:sldChg>
      <pc:sldChg chg="addSp delSp modSp add mod">
        <pc:chgData name="Jernai Bennett" userId="1c73f56dab780b2a" providerId="LiveId" clId="{346F34F6-38C7-417B-8B7B-C068F9F0A8F3}" dt="2026-03-24T20:48:47.936" v="3997" actId="478"/>
        <pc:sldMkLst>
          <pc:docMk/>
          <pc:sldMk cId="736116029" sldId="275"/>
        </pc:sldMkLst>
        <pc:spChg chg="mod">
          <ac:chgData name="Jernai Bennett" userId="1c73f56dab780b2a" providerId="LiveId" clId="{346F34F6-38C7-417B-8B7B-C068F9F0A8F3}" dt="2026-03-24T20:06:54.155" v="3133" actId="20577"/>
          <ac:spMkLst>
            <pc:docMk/>
            <pc:sldMk cId="736116029" sldId="275"/>
            <ac:spMk id="3" creationId="{8C20B694-D725-7C95-0F86-59B90FC09F64}"/>
          </ac:spMkLst>
        </pc:spChg>
        <pc:spChg chg="add del mod">
          <ac:chgData name="Jernai Bennett" userId="1c73f56dab780b2a" providerId="LiveId" clId="{346F34F6-38C7-417B-8B7B-C068F9F0A8F3}" dt="2026-03-24T20:07:03.615" v="3136" actId="1076"/>
          <ac:spMkLst>
            <pc:docMk/>
            <pc:sldMk cId="736116029" sldId="275"/>
            <ac:spMk id="20" creationId="{21533697-463A-9920-A614-AE132B8026EB}"/>
          </ac:spMkLst>
        </pc:spChg>
      </pc:sldChg>
      <pc:sldChg chg="delSp modSp add mod modNotesTx">
        <pc:chgData name="Jernai Bennett" userId="1c73f56dab780b2a" providerId="LiveId" clId="{346F34F6-38C7-417B-8B7B-C068F9F0A8F3}" dt="2026-04-01T20:50:45.290" v="4303" actId="20577"/>
        <pc:sldMkLst>
          <pc:docMk/>
          <pc:sldMk cId="2720542541" sldId="276"/>
        </pc:sldMkLst>
        <pc:spChg chg="mod">
          <ac:chgData name="Jernai Bennett" userId="1c73f56dab780b2a" providerId="LiveId" clId="{346F34F6-38C7-417B-8B7B-C068F9F0A8F3}" dt="2026-03-24T19:36:39.045" v="2154" actId="1076"/>
          <ac:spMkLst>
            <pc:docMk/>
            <pc:sldMk cId="2720542541" sldId="276"/>
            <ac:spMk id="3" creationId="{E81C55D1-D561-2BB0-1D54-6EC760458087}"/>
          </ac:spMkLst>
        </pc:spChg>
        <pc:spChg chg="mod">
          <ac:chgData name="Jernai Bennett" userId="1c73f56dab780b2a" providerId="LiveId" clId="{346F34F6-38C7-417B-8B7B-C068F9F0A8F3}" dt="2026-03-24T19:29:48.055" v="1872" actId="1076"/>
          <ac:spMkLst>
            <pc:docMk/>
            <pc:sldMk cId="2720542541" sldId="276"/>
            <ac:spMk id="4" creationId="{9F21BA0B-0EE5-FCD8-259E-D82C2C119F76}"/>
          </ac:spMkLst>
        </pc:spChg>
        <pc:spChg chg="mod">
          <ac:chgData name="Jernai Bennett" userId="1c73f56dab780b2a" providerId="LiveId" clId="{346F34F6-38C7-417B-8B7B-C068F9F0A8F3}" dt="2026-03-24T19:29:09.102" v="1862" actId="20577"/>
          <ac:spMkLst>
            <pc:docMk/>
            <pc:sldMk cId="2720542541" sldId="276"/>
            <ac:spMk id="5" creationId="{60C9E135-9F0A-7CA6-025D-E9BF9DE152A0}"/>
          </ac:spMkLst>
        </pc:spChg>
        <pc:spChg chg="mod">
          <ac:chgData name="Jernai Bennett" userId="1c73f56dab780b2a" providerId="LiveId" clId="{346F34F6-38C7-417B-8B7B-C068F9F0A8F3}" dt="2026-03-24T19:29:22.648" v="1866" actId="20577"/>
          <ac:spMkLst>
            <pc:docMk/>
            <pc:sldMk cId="2720542541" sldId="276"/>
            <ac:spMk id="11" creationId="{67842D75-59DC-21E9-C48C-0ADF55A15DEC}"/>
          </ac:spMkLst>
        </pc:spChg>
        <pc:spChg chg="mod">
          <ac:chgData name="Jernai Bennett" userId="1c73f56dab780b2a" providerId="LiveId" clId="{346F34F6-38C7-417B-8B7B-C068F9F0A8F3}" dt="2026-04-01T20:50:45.290" v="4303" actId="20577"/>
          <ac:spMkLst>
            <pc:docMk/>
            <pc:sldMk cId="2720542541" sldId="276"/>
            <ac:spMk id="12" creationId="{D0013D0F-B6FC-AF73-E6E2-19454E476916}"/>
          </ac:spMkLst>
        </pc:spChg>
      </pc:sldChg>
      <pc:sldChg chg="addSp delSp modSp add mod modNotesTx">
        <pc:chgData name="Jernai Bennett" userId="1c73f56dab780b2a" providerId="LiveId" clId="{346F34F6-38C7-417B-8B7B-C068F9F0A8F3}" dt="2026-04-01T20:51:33.481" v="4322" actId="20577"/>
        <pc:sldMkLst>
          <pc:docMk/>
          <pc:sldMk cId="1143611810" sldId="277"/>
        </pc:sldMkLst>
        <pc:spChg chg="mod">
          <ac:chgData name="Jernai Bennett" userId="1c73f56dab780b2a" providerId="LiveId" clId="{346F34F6-38C7-417B-8B7B-C068F9F0A8F3}" dt="2026-03-24T20:51:07.717" v="4025" actId="20577"/>
          <ac:spMkLst>
            <pc:docMk/>
            <pc:sldMk cId="1143611810" sldId="277"/>
            <ac:spMk id="17" creationId="{2D567418-0F99-3F76-57D4-A86B63D6D1A9}"/>
          </ac:spMkLst>
        </pc:spChg>
        <pc:spChg chg="add mod">
          <ac:chgData name="Jernai Bennett" userId="1c73f56dab780b2a" providerId="LiveId" clId="{346F34F6-38C7-417B-8B7B-C068F9F0A8F3}" dt="2026-04-01T20:51:26.628" v="4314" actId="21"/>
          <ac:spMkLst>
            <pc:docMk/>
            <pc:sldMk cId="1143611810" sldId="277"/>
            <ac:spMk id="20" creationId="{B929B782-CCD2-A184-0A63-BB7944130766}"/>
          </ac:spMkLst>
        </pc:spChg>
        <pc:picChg chg="mod modCrop">
          <ac:chgData name="Jernai Bennett" userId="1c73f56dab780b2a" providerId="LiveId" clId="{346F34F6-38C7-417B-8B7B-C068F9F0A8F3}" dt="2026-03-24T20:45:16.361" v="3938" actId="1076"/>
          <ac:picMkLst>
            <pc:docMk/>
            <pc:sldMk cId="1143611810" sldId="277"/>
            <ac:picMk id="6" creationId="{D8B1D37A-9944-C653-A9F0-B78774552139}"/>
          </ac:picMkLst>
        </pc:picChg>
      </pc:sldChg>
      <pc:sldChg chg="addSp delSp modSp add mod modNotesTx">
        <pc:chgData name="Jernai Bennett" userId="1c73f56dab780b2a" providerId="LiveId" clId="{346F34F6-38C7-417B-8B7B-C068F9F0A8F3}" dt="2026-04-01T20:47:13.861" v="4173" actId="20577"/>
        <pc:sldMkLst>
          <pc:docMk/>
          <pc:sldMk cId="2961933440" sldId="278"/>
        </pc:sldMkLst>
        <pc:spChg chg="add mod">
          <ac:chgData name="Jernai Bennett" userId="1c73f56dab780b2a" providerId="LiveId" clId="{346F34F6-38C7-417B-8B7B-C068F9F0A8F3}" dt="2026-04-01T20:47:12.206" v="4172" actId="21"/>
          <ac:spMkLst>
            <pc:docMk/>
            <pc:sldMk cId="2961933440" sldId="278"/>
            <ac:spMk id="8" creationId="{83376AAA-04D1-904C-7130-55EB4D6EADC6}"/>
          </ac:spMkLst>
        </pc:spChg>
        <pc:picChg chg="mod modCrop">
          <ac:chgData name="Jernai Bennett" userId="1c73f56dab780b2a" providerId="LiveId" clId="{346F34F6-38C7-417B-8B7B-C068F9F0A8F3}" dt="2026-03-24T20:42:15.727" v="3897" actId="1076"/>
          <ac:picMkLst>
            <pc:docMk/>
            <pc:sldMk cId="2961933440" sldId="278"/>
            <ac:picMk id="6" creationId="{B304612A-6C66-7C09-517D-850A5D48FA7F}"/>
          </ac:picMkLst>
        </pc:picChg>
      </pc:sldChg>
      <pc:sldChg chg="addSp delSp modSp add mod modNotesTx">
        <pc:chgData name="Jernai Bennett" userId="1c73f56dab780b2a" providerId="LiveId" clId="{346F34F6-38C7-417B-8B7B-C068F9F0A8F3}" dt="2026-04-01T20:49:16.824" v="4204" actId="20577"/>
        <pc:sldMkLst>
          <pc:docMk/>
          <pc:sldMk cId="961831132" sldId="279"/>
        </pc:sldMkLst>
        <pc:spChg chg="mod">
          <ac:chgData name="Jernai Bennett" userId="1c73f56dab780b2a" providerId="LiveId" clId="{346F34F6-38C7-417B-8B7B-C068F9F0A8F3}" dt="2026-03-24T20:15:38.756" v="3268" actId="20577"/>
          <ac:spMkLst>
            <pc:docMk/>
            <pc:sldMk cId="961831132" sldId="279"/>
            <ac:spMk id="3" creationId="{F275BE19-CF05-2BDF-C0CD-C285E66FA185}"/>
          </ac:spMkLst>
        </pc:spChg>
        <pc:spChg chg="add mod">
          <ac:chgData name="Jernai Bennett" userId="1c73f56dab780b2a" providerId="LiveId" clId="{346F34F6-38C7-417B-8B7B-C068F9F0A8F3}" dt="2026-04-01T20:49:11.925" v="4197" actId="20577"/>
          <ac:spMkLst>
            <pc:docMk/>
            <pc:sldMk cId="961831132" sldId="279"/>
            <ac:spMk id="8" creationId="{35D1B336-1C50-806F-B823-8C550BE1B45F}"/>
          </ac:spMkLst>
        </pc:spChg>
        <pc:spChg chg="mod">
          <ac:chgData name="Jernai Bennett" userId="1c73f56dab780b2a" providerId="LiveId" clId="{346F34F6-38C7-417B-8B7B-C068F9F0A8F3}" dt="2026-03-24T20:15:44.950" v="3269" actId="20577"/>
          <ac:spMkLst>
            <pc:docMk/>
            <pc:sldMk cId="961831132" sldId="279"/>
            <ac:spMk id="17" creationId="{4FA3E575-9531-C351-7B36-6FFC5F0CDA7B}"/>
          </ac:spMkLst>
        </pc:spChg>
      </pc:sldChg>
      <pc:sldChg chg="addSp delSp modSp add mod">
        <pc:chgData name="Jernai Bennett" userId="1c73f56dab780b2a" providerId="LiveId" clId="{346F34F6-38C7-417B-8B7B-C068F9F0A8F3}" dt="2026-03-24T20:50:23.834" v="4017" actId="478"/>
        <pc:sldMkLst>
          <pc:docMk/>
          <pc:sldMk cId="1701936976" sldId="280"/>
        </pc:sldMkLst>
        <pc:picChg chg="add mod modCrop">
          <ac:chgData name="Jernai Bennett" userId="1c73f56dab780b2a" providerId="LiveId" clId="{346F34F6-38C7-417B-8B7B-C068F9F0A8F3}" dt="2026-03-24T20:29:04.241" v="3816" actId="14100"/>
          <ac:picMkLst>
            <pc:docMk/>
            <pc:sldMk cId="1701936976" sldId="280"/>
            <ac:picMk id="9" creationId="{BDE351ED-CD5A-3A73-87D5-61A85CD3BA4B}"/>
          </ac:picMkLst>
        </pc:picChg>
        <pc:picChg chg="add mod modCrop">
          <ac:chgData name="Jernai Bennett" userId="1c73f56dab780b2a" providerId="LiveId" clId="{346F34F6-38C7-417B-8B7B-C068F9F0A8F3}" dt="2026-03-24T20:29:42.285" v="3826" actId="1076"/>
          <ac:picMkLst>
            <pc:docMk/>
            <pc:sldMk cId="1701936976" sldId="280"/>
            <ac:picMk id="13" creationId="{48BC81DA-1AC2-2257-5676-B6898B3B1BD2}"/>
          </ac:picMkLst>
        </pc:picChg>
      </pc:sldChg>
      <pc:sldChg chg="addSp delSp modSp add mod">
        <pc:chgData name="Jernai Bennett" userId="1c73f56dab780b2a" providerId="LiveId" clId="{346F34F6-38C7-417B-8B7B-C068F9F0A8F3}" dt="2026-03-24T20:50:19.870" v="4016" actId="478"/>
        <pc:sldMkLst>
          <pc:docMk/>
          <pc:sldMk cId="3012241994" sldId="281"/>
        </pc:sldMkLst>
        <pc:picChg chg="add mod modCrop">
          <ac:chgData name="Jernai Bennett" userId="1c73f56dab780b2a" providerId="LiveId" clId="{346F34F6-38C7-417B-8B7B-C068F9F0A8F3}" dt="2026-03-24T20:25:26.973" v="3796" actId="14100"/>
          <ac:picMkLst>
            <pc:docMk/>
            <pc:sldMk cId="3012241994" sldId="281"/>
            <ac:picMk id="13" creationId="{3D7B03B7-B113-F611-A14D-6F878840B305}"/>
          </ac:picMkLst>
        </pc:picChg>
        <pc:picChg chg="add mod modCrop">
          <ac:chgData name="Jernai Bennett" userId="1c73f56dab780b2a" providerId="LiveId" clId="{346F34F6-38C7-417B-8B7B-C068F9F0A8F3}" dt="2026-03-24T20:25:36.056" v="3798" actId="14100"/>
          <ac:picMkLst>
            <pc:docMk/>
            <pc:sldMk cId="3012241994" sldId="281"/>
            <ac:picMk id="15" creationId="{7418E311-638F-9EB4-9600-E9FB7365B93E}"/>
          </ac:picMkLst>
        </pc:picChg>
      </pc:sldChg>
      <pc:sldChg chg="addSp modSp add mod">
        <pc:chgData name="Jernai Bennett" userId="1c73f56dab780b2a" providerId="LiveId" clId="{346F34F6-38C7-417B-8B7B-C068F9F0A8F3}" dt="2026-04-07T20:18:37.788" v="4441" actId="2710"/>
        <pc:sldMkLst>
          <pc:docMk/>
          <pc:sldMk cId="4220333559" sldId="282"/>
        </pc:sldMkLst>
        <pc:spChg chg="mod">
          <ac:chgData name="Jernai Bennett" userId="1c73f56dab780b2a" providerId="LiveId" clId="{346F34F6-38C7-417B-8B7B-C068F9F0A8F3}" dt="2026-04-01T20:50:03.025" v="4218" actId="20577"/>
          <ac:spMkLst>
            <pc:docMk/>
            <pc:sldMk cId="4220333559" sldId="282"/>
            <ac:spMk id="5" creationId="{372C7F16-647E-FD05-80C0-743FC50A209D}"/>
          </ac:spMkLst>
        </pc:spChg>
        <pc:spChg chg="mod">
          <ac:chgData name="Jernai Bennett" userId="1c73f56dab780b2a" providerId="LiveId" clId="{346F34F6-38C7-417B-8B7B-C068F9F0A8F3}" dt="2026-04-07T20:18:37.788" v="4441" actId="2710"/>
          <ac:spMkLst>
            <pc:docMk/>
            <pc:sldMk cId="4220333559" sldId="282"/>
            <ac:spMk id="7" creationId="{3F2A6685-A481-932E-8E57-9B6208E6CE87}"/>
          </ac:spMkLst>
        </pc:spChg>
        <pc:spChg chg="add">
          <ac:chgData name="Jernai Bennett" userId="1c73f56dab780b2a" providerId="LiveId" clId="{346F34F6-38C7-417B-8B7B-C068F9F0A8F3}" dt="2026-04-07T20:16:48.427" v="4418"/>
          <ac:spMkLst>
            <pc:docMk/>
            <pc:sldMk cId="4220333559" sldId="282"/>
            <ac:spMk id="8" creationId="{3C27694F-6A45-1274-E583-793DE1611A1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7563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my name is Jernai Bennett and I'm a graduate student in the MS Data Science and AI program here at FIU. Today I'll be presenting my capstone project. I'll walk you through the motivation behind this work, my goals for the semester, my data sources, and the next steps I'll be taking."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core motivation here comes from a real pain point in software engineering. Research shows developers spend roughly 20 to 30 percent of their time on documentation tasks — time that could be spent building. And even when documentation exists, it's often inconsistent or gets outdated quickly when code changes hands between teams. The opportunity I see is using a code-specific language model to automate this work at scale. On the challenges side — and this is something that came up during my data exploration — collecting high quality, multi-language code samples at scale is non-trivial. Code syntax varies wildly between languages, and a lot of publicly available code has messy or missing comments that require significant cleaning before they're useful for training."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C9A7F-AF4E-8D07-5BF9-2CC31E2F8F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905B6B-A4B5-515E-08E9-F56C98F6E2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D46791-AC48-32CC-C45A-768D0D6135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0BF09B-4AC3-8A14-E8BF-D82034289BF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689473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2F764-2D25-04C8-9A14-266B49D3F2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8CCB09-C68E-7C7E-6437-2C2344EA3F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D36D85-426C-5081-B38C-8E03B9BFB0B7}"/>
              </a:ext>
            </a:extLst>
          </p:cNvPr>
          <p:cNvSpPr>
            <a:spLocks noGrp="1"/>
          </p:cNvSpPr>
          <p:nvPr>
            <p:ph type="body" idx="1"/>
          </p:nvPr>
        </p:nvSpPr>
        <p:spPr/>
        <p:txBody>
          <a:bodyPr/>
          <a:lstStyle/>
          <a:p>
            <a:r>
              <a:rPr lang="en-US" dirty="0"/>
              <a:t>The core objective of this project is to fine-tune CodeT5 — which is a pre-trained transformer model specifically built for code — on two tasks: generating documentation from source code, and summarizing/classifying bug reports from GitHub Issues. CodeT5 was pre-trained on over 8.3 million code-function pairs from GitHub, so it already understands programming syntax and semantics. My job this semester is to get the data right. That means collecting the datasets, cleaning and preprocessing them, validating quality, and establishing baseline evaluation metrics  so I have something to compare my fine-tuned model against later."</a:t>
            </a:r>
          </a:p>
        </p:txBody>
      </p:sp>
      <p:sp>
        <p:nvSpPr>
          <p:cNvPr id="4" name="Slide Number Placeholder 3">
            <a:extLst>
              <a:ext uri="{FF2B5EF4-FFF2-40B4-BE49-F238E27FC236}">
                <a16:creationId xmlns:a16="http://schemas.microsoft.com/office/drawing/2014/main" id="{421C7FE0-172A-81EB-A021-44672EB588D7}"/>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2844893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09F2E-5347-2E9A-1742-F75F722B91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98C1AB-9306-81EF-9ACE-4848AE25EF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1C974A-B392-F2A3-4F78-9F5B40C5EF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BD9A89-17C4-9E80-FFA6-F638B8C80261}"/>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272469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70598-5259-D0D0-5265-7F14FD70A0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27600F-AA40-4CA0-15B5-E6C8A4E596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18468E-0F0B-F8B3-D08C-6DFC3A6ED473}"/>
              </a:ext>
            </a:extLst>
          </p:cNvPr>
          <p:cNvSpPr>
            <a:spLocks noGrp="1"/>
          </p:cNvSpPr>
          <p:nvPr>
            <p:ph type="body" idx="1"/>
          </p:nvPr>
        </p:nvSpPr>
        <p:spPr/>
        <p:txBody>
          <a:bodyPr/>
          <a:lstStyle/>
          <a:p>
            <a:r>
              <a:rPr lang="en-US" dirty="0"/>
              <a:t>"My primary dataset is </a:t>
            </a:r>
            <a:r>
              <a:rPr lang="en-US" dirty="0" err="1"/>
              <a:t>CodeSearchNet</a:t>
            </a:r>
            <a:r>
              <a:rPr lang="en-US" dirty="0"/>
              <a:t>, which is an industry-standard benchmark dataset originally released by GitHub and Microsoft Research. It contains over 1 million function-documentation pairs spanning 6 programming languages — Python, Java, JavaScript, PHP, Ruby, and Go. The key advantage of this dataset is that the alignments between code and documentation already exist — they come from real open-source repositories where developers wrote docstrings and comments. This makes it ideal for supervised fine-tuning on the documentation generation task. I'm using the Hugging Face version of this dataset, which is well-maintained and easy to load programmatically."</a:t>
            </a:r>
          </a:p>
          <a:p>
            <a:r>
              <a:rPr lang="en-US" b="1" dirty="0"/>
              <a:t>References to add:</a:t>
            </a:r>
            <a:endParaRPr lang="en-US" dirty="0"/>
          </a:p>
          <a:p>
            <a:endParaRPr lang="en-US" dirty="0"/>
          </a:p>
        </p:txBody>
      </p:sp>
      <p:sp>
        <p:nvSpPr>
          <p:cNvPr id="4" name="Slide Number Placeholder 3">
            <a:extLst>
              <a:ext uri="{FF2B5EF4-FFF2-40B4-BE49-F238E27FC236}">
                <a16:creationId xmlns:a16="http://schemas.microsoft.com/office/drawing/2014/main" id="{3A59D53B-6E46-6BC0-73FC-AA303B3C73C9}"/>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8758121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secondary dataset is a GitHub Issues dataset from Kaggle containing over 500,000 labeled bug reports across popular open-source repositories. Each issue is tagged with a category — bug, feature request, question, or documentation. This dataset supports the bug report analysis component of the project, where the goal is to train the model to understand and summarize real developer-written issue descriptions. One thing I'll need to handle carefully here is class imbalance — bug labels are typically underrepresented compared to feature requests and general questions, so part of my preprocessing work will involve handling that."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I'll walk through what the exploratory data analysis revealed. Looking at the descriptive statistics for </a:t>
            </a:r>
            <a:r>
              <a:rPr lang="en-US" dirty="0" err="1"/>
              <a:t>CodeSearchNet</a:t>
            </a:r>
            <a:r>
              <a:rPr lang="en-US" dirty="0"/>
              <a:t> — the average function is about 981 characters long with a median of 615, which tells us the distribution is right-skewed, meaning a small number of very long functions are pulling the mean up. The average docstring is 34 words with a median of 19, again right-skewed. What's most relevant to the model is the identifier count — on average 23.8 identifiers per function, which is exactly why CodeT5's identifier-aware pretraining is such a strong fit for this dataset. The wide standard deviation in code length — 1,315 characters — is what motivated the 50 to 8,000 character quality filter I applied during preprocessing."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plots give a visual picture of the distributions. The red dashed lines mark the quality filter thresholds I applied. You can see that the bulk of the data falls well within the filter bounds, which confirms the 69.4% retention rate wasn't arbitrary — most functions genuinely met quality standards. The documentation coverage breakdown in the bottom left is particularly important: while 100% of retained samples have a docstring, only about 32% have structured parameter documentation and 19% have return documentation. That low structured doc rate is actually what motivated the </a:t>
            </a:r>
            <a:r>
              <a:rPr lang="en-US" dirty="0" err="1"/>
              <a:t>PyPlus</a:t>
            </a:r>
            <a:r>
              <a:rPr lang="en-US" dirty="0"/>
              <a:t> target enrichment strategy I mentioned in the objectives — without it, most training targets would be thin one-sentence </a:t>
            </a:r>
            <a:r>
              <a:rPr lang="en-US" dirty="0" err="1"/>
              <a:t>summarie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FB568-02E4-35A5-7153-D55C9BEF88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804795-BFD0-D646-0346-CC30043C01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FDB204-FAC5-BE4D-016B-149B9BB4463C}"/>
              </a:ext>
            </a:extLst>
          </p:cNvPr>
          <p:cNvSpPr>
            <a:spLocks noGrp="1"/>
          </p:cNvSpPr>
          <p:nvPr>
            <p:ph type="body" idx="1"/>
          </p:nvPr>
        </p:nvSpPr>
        <p:spPr/>
        <p:txBody>
          <a:bodyPr/>
          <a:lstStyle/>
          <a:p>
            <a:r>
              <a:rPr lang="en-US" dirty="0"/>
              <a:t>These additional plots reinforce the same story. The distributions confirm that code length and docstring length both follow a long-tail pattern, which is common in real-world codebases. The concentration of samples in the lower ranges is a good sign — it means the model will be trained mostly on reasonably sized functions rather than outliers. The identifier distribution also clusters in a range that CodeT5 handles well given its pretraining, so we're working with the model's strengths rather than against them.</a:t>
            </a:r>
          </a:p>
        </p:txBody>
      </p:sp>
      <p:sp>
        <p:nvSpPr>
          <p:cNvPr id="4" name="Slide Number Placeholder 3">
            <a:extLst>
              <a:ext uri="{FF2B5EF4-FFF2-40B4-BE49-F238E27FC236}">
                <a16:creationId xmlns:a16="http://schemas.microsoft.com/office/drawing/2014/main" id="{0F51C6BE-46F2-AEED-C2D9-14A4A617DCED}"/>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649755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B3E95-EEAE-9601-91BC-8F0860C6BD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07A72A-7117-11DD-8C20-CC5CEA1052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D6AEAE-3E09-4B21-6BFE-1D7139F90165}"/>
              </a:ext>
            </a:extLst>
          </p:cNvPr>
          <p:cNvSpPr>
            <a:spLocks noGrp="1"/>
          </p:cNvSpPr>
          <p:nvPr>
            <p:ph type="body" idx="1"/>
          </p:nvPr>
        </p:nvSpPr>
        <p:spPr/>
        <p:txBody>
          <a:bodyPr/>
          <a:lstStyle/>
          <a:p>
            <a:r>
              <a:rPr lang="en-US" dirty="0"/>
              <a:t>This final set of </a:t>
            </a:r>
            <a:r>
              <a:rPr lang="en-US" dirty="0" err="1"/>
              <a:t>CodeSearchNet</a:t>
            </a:r>
            <a:r>
              <a:rPr lang="en-US" dirty="0"/>
              <a:t> EDA plots gives a fuller picture of the data after filtering. Together, these three slides of visualizations validate the preprocessing decisions — the filters were calibrated to the actual distribution of the data, not arbitrary cutoffs. The retained 286,000 pairs represent a clean, representative sample that should give the model a strong and consistent training signal for the documentation generation task."</a:t>
            </a:r>
          </a:p>
        </p:txBody>
      </p:sp>
      <p:sp>
        <p:nvSpPr>
          <p:cNvPr id="4" name="Slide Number Placeholder 3">
            <a:extLst>
              <a:ext uri="{FF2B5EF4-FFF2-40B4-BE49-F238E27FC236}">
                <a16:creationId xmlns:a16="http://schemas.microsoft.com/office/drawing/2014/main" id="{0015F081-A843-E492-051D-1EB162B57BD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363028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Shifting to the GitHub Issues dataset — the statistics here tell a very different story from </a:t>
            </a:r>
            <a:r>
              <a:rPr lang="en-US" dirty="0" err="1"/>
              <a:t>CodeSearchNet</a:t>
            </a:r>
            <a:r>
              <a:rPr lang="en-US" dirty="0"/>
              <a:t>. Title length is fairly compact, averaging 7.5 words with a median of 7, which makes titles strong summarization targets. The body length distribution is where things get interesting — a mean of 181 words but a median of only 123, with a maximum of 18,481 words. That extreme right skew is why the 600-word cap in the quality filter was essential. Without it, a handful of massive incident reports would have dominated batch loss and pushed the model toward generating unnecessarily verbose outputs. The most common label in the dataset is '</a:t>
            </a:r>
            <a:r>
              <a:rPr lang="en-US" dirty="0" err="1"/>
              <a:t>needsInvestigation</a:t>
            </a:r>
            <a:r>
              <a:rPr lang="en-US" dirty="0"/>
              <a:t>,' which reflects how real-world issue tracking actually works."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plot shows the distribution of title word counts. The distribution peaks between 5 and 8 words with a median of 7, and is right-skewed. The red dashed line at 3 words marks the minimum threshold from my quality filter — it cuts out single-word or near-empty titles like 'bug,' 'fix,' or 'help' that carry no meaningful content for the model to learn from. The fact that the vast majority of titles fall well above that threshold confirms that most issue reporters do write descriptive titles, making them suitable summarization targets."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4EE03-D37C-34B9-E738-00FE53C4E9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A48C9A-87FC-39D8-617D-47915078A6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3545EC-D274-04FD-358A-6F6311790E3D}"/>
              </a:ext>
            </a:extLst>
          </p:cNvPr>
          <p:cNvSpPr>
            <a:spLocks noGrp="1"/>
          </p:cNvSpPr>
          <p:nvPr>
            <p:ph type="body" idx="1"/>
          </p:nvPr>
        </p:nvSpPr>
        <p:spPr/>
        <p:txBody>
          <a:bodyPr/>
          <a:lstStyle/>
          <a:p>
            <a:r>
              <a:rPr lang="en-US" sz="1200" dirty="0">
                <a:latin typeface="Poppins" panose="00000500000000000000" pitchFamily="2" charset="0"/>
                <a:cs typeface="Poppins" panose="00000500000000000000" pitchFamily="2" charset="0"/>
              </a:rPr>
              <a:t>The original dataset before preprocessing had heavily right-skewed distribution with a median of 123 words but a mean of 182 and a maximum of 18,481.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Poppins" panose="00000500000000000000" pitchFamily="2" charset="0"/>
                <a:cs typeface="Poppins" panose="00000500000000000000" pitchFamily="2" charset="0"/>
              </a:rPr>
              <a:t>The orange dashed line at max=600 words confirms the cap was essential .Without it, a small number of extremely long issues would have dominated batch loss and pushed the model to generate unnecessarily verbose summaries.</a:t>
            </a:r>
          </a:p>
          <a:p>
            <a:endParaRPr lang="en-US" dirty="0"/>
          </a:p>
        </p:txBody>
      </p:sp>
      <p:sp>
        <p:nvSpPr>
          <p:cNvPr id="4" name="Slide Number Placeholder 3">
            <a:extLst>
              <a:ext uri="{FF2B5EF4-FFF2-40B4-BE49-F238E27FC236}">
                <a16:creationId xmlns:a16="http://schemas.microsoft.com/office/drawing/2014/main" id="{569362D8-3AD7-015C-1061-89ABB5A8CC8B}"/>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5487973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1B006-67D4-EEAA-1087-3F32E7FD20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F9671B-88CB-6048-CA5A-6A7585ACD1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D484CA-2B02-6F14-2B97-06682C066DED}"/>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sz="1200" dirty="0">
                <a:latin typeface="Poppins" panose="00000500000000000000" pitchFamily="2" charset="0"/>
                <a:cs typeface="Poppins" panose="00000500000000000000" pitchFamily="2" charset="0"/>
              </a:rPr>
              <a:t>by far the strongest quality signal, and the key justification for training a single shared model across both </a:t>
            </a:r>
            <a:r>
              <a:rPr lang="en-US" sz="1200" dirty="0" err="1">
                <a:latin typeface="Poppins" panose="00000500000000000000" pitchFamily="2" charset="0"/>
                <a:cs typeface="Poppins" panose="00000500000000000000" pitchFamily="2" charset="0"/>
              </a:rPr>
              <a:t>CodeSearchNet</a:t>
            </a:r>
            <a:r>
              <a:rPr lang="en-US" sz="1200" dirty="0">
                <a:latin typeface="Poppins" panose="00000500000000000000" pitchFamily="2" charset="0"/>
                <a:cs typeface="Poppins" panose="00000500000000000000" pitchFamily="2" charset="0"/>
              </a:rPr>
              <a:t> and GitHub Issues, since both datasets share significant code vocabulary overlap.</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sz="1200" dirty="0">
                <a:latin typeface="Poppins" panose="00000500000000000000" pitchFamily="2" charset="0"/>
                <a:cs typeface="Poppins" panose="00000500000000000000" pitchFamily="2" charset="0"/>
              </a:rPr>
              <a:t>this means the model cannot rely on pattern matching and must learn to semantically understand and compress the issue description</a:t>
            </a:r>
          </a:p>
          <a:p>
            <a:endParaRPr lang="en-US" dirty="0"/>
          </a:p>
        </p:txBody>
      </p:sp>
      <p:sp>
        <p:nvSpPr>
          <p:cNvPr id="4" name="Slide Number Placeholder 3">
            <a:extLst>
              <a:ext uri="{FF2B5EF4-FFF2-40B4-BE49-F238E27FC236}">
                <a16:creationId xmlns:a16="http://schemas.microsoft.com/office/drawing/2014/main" id="{1AB1A216-6051-7AF4-2151-C8B7173396ED}"/>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312831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C3ECC-F9A3-9C7B-800D-D12E98F3CC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AB5E17-F3ED-FBBB-B1F4-D8089F58C7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A57608-0B4B-5E0C-39E0-55A95F157338}"/>
              </a:ext>
            </a:extLst>
          </p:cNvPr>
          <p:cNvSpPr>
            <a:spLocks noGrp="1"/>
          </p:cNvSpPr>
          <p:nvPr>
            <p:ph type="body" idx="1"/>
          </p:nvPr>
        </p:nvSpPr>
        <p:spPr/>
        <p:txBody>
          <a:bodyPr/>
          <a:lstStyle/>
          <a:p>
            <a:r>
              <a:rPr lang="en-US" dirty="0"/>
              <a:t>"Pulling the EDA findings together — a few key decisions get validated here. The 99.7% docstring coverage in </a:t>
            </a:r>
            <a:r>
              <a:rPr lang="en-US" dirty="0" err="1"/>
              <a:t>CodeSearchNet</a:t>
            </a:r>
            <a:r>
              <a:rPr lang="en-US" dirty="0"/>
              <a:t> confirmed that supervised fine-tuning was the right approach; there was no need for semi-supervised methods since nearly every sample has a clean label. The low structured parameter doc rate of 32% validates the </a:t>
            </a:r>
            <a:r>
              <a:rPr lang="en-US" dirty="0" err="1"/>
              <a:t>PyPlus</a:t>
            </a:r>
            <a:r>
              <a:rPr lang="en-US" dirty="0"/>
              <a:t> enrichment decision — without enriched targets, most training examples would have been thin one-sentence summaries with limited signal. Scoping to Python only and applying strict quality filters produced a cleaner training distribution, which we expect to reduce noise in evaluation. And training on both datasets together tests whether a single encoder-decoder can generalize across structured docstring generation and unstructured bug report summarization — a key practical finding for multi-task deployment. One caveat worth noting: the EDA was conducted on samples of 8,000 and 5,000 respectively, so distributions may shift slightly at full scale. Full model comparison results are still pending."</a:t>
            </a:r>
          </a:p>
        </p:txBody>
      </p:sp>
      <p:sp>
        <p:nvSpPr>
          <p:cNvPr id="4" name="Slide Number Placeholder 3">
            <a:extLst>
              <a:ext uri="{FF2B5EF4-FFF2-40B4-BE49-F238E27FC236}">
                <a16:creationId xmlns:a16="http://schemas.microsoft.com/office/drawing/2014/main" id="{124B8971-4DC8-0002-1C93-DBABEC9B41A4}"/>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9875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74527-5333-76EA-58B5-94A8688143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94862E-4DC1-CF37-35BB-286992CED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795104-6252-7AAC-2841-6131594347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F7E441-56D8-9B32-FBF4-2629F8D7BF19}"/>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0095408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AD0A1-C0DD-43C0-D878-FCED34D5CD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BB4515-D229-938D-5955-5AD782479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C51AB-1BCA-5EE6-2F3F-A1DB3C05699F}"/>
              </a:ext>
            </a:extLst>
          </p:cNvPr>
          <p:cNvSpPr>
            <a:spLocks noGrp="1"/>
          </p:cNvSpPr>
          <p:nvPr>
            <p:ph type="body" idx="1"/>
          </p:nvPr>
        </p:nvSpPr>
        <p:spPr/>
        <p:txBody>
          <a:bodyPr/>
          <a:lstStyle/>
          <a:p>
            <a:r>
              <a:rPr lang="en-US" dirty="0"/>
              <a:t>The immediate next step is running the full comparison across all three models — CodeT5-small, CodeT5+ 220M, and CodeT5+ 220M with </a:t>
            </a:r>
            <a:r>
              <a:rPr lang="en-US" dirty="0" err="1"/>
              <a:t>LoRA</a:t>
            </a:r>
            <a:r>
              <a:rPr lang="en-US" dirty="0"/>
              <a:t> — each trained for three epochs. From there I'll select the best-performing model based on a composite score across BLEU-4, ROUGE-L, METEOR, and </a:t>
            </a:r>
            <a:r>
              <a:rPr lang="en-US" dirty="0" err="1"/>
              <a:t>CodeBLEU</a:t>
            </a:r>
            <a:r>
              <a:rPr lang="en-US" dirty="0"/>
              <a:t>, then run full fine-tuning on the combined 225,000-sample dataset. Final evaluation will be done separately on </a:t>
            </a:r>
            <a:r>
              <a:rPr lang="en-US" dirty="0" err="1"/>
              <a:t>CodeSearchNet</a:t>
            </a:r>
            <a:r>
              <a:rPr lang="en-US" dirty="0"/>
              <a:t> and GitHub Issues to measure how well the model generalizes across both task domains. I'll also run inference demos on unseen code and bug report examples to qualitatively validate the outputs. If time permits, the stretch goal is building a lightweight interface for deployment."</a:t>
            </a:r>
          </a:p>
        </p:txBody>
      </p:sp>
      <p:sp>
        <p:nvSpPr>
          <p:cNvPr id="4" name="Slide Number Placeholder 3">
            <a:extLst>
              <a:ext uri="{FF2B5EF4-FFF2-40B4-BE49-F238E27FC236}">
                <a16:creationId xmlns:a16="http://schemas.microsoft.com/office/drawing/2014/main" id="{29BBD3D8-8837-F564-0083-693FC5775A3A}"/>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5110590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0000"/>
          </a:blip>
          <a:stretch>
            <a:fillRect/>
          </a:stretch>
        </p:blipFill>
        <p:spPr>
          <a:xfrm>
            <a:off x="6858000" y="91440"/>
            <a:ext cx="2286000" cy="1645920"/>
          </a:xfrm>
          <a:prstGeom prst="rect">
            <a:avLst/>
          </a:prstGeom>
        </p:spPr>
      </p:pic>
      <p:sp>
        <p:nvSpPr>
          <p:cNvPr id="5" name="Shape 2"/>
          <p:cNvSpPr/>
          <p:nvPr/>
        </p:nvSpPr>
        <p:spPr>
          <a:xfrm>
            <a:off x="7863840" y="3840480"/>
            <a:ext cx="1828800" cy="1828800"/>
          </a:xfrm>
          <a:prstGeom prst="ellipse">
            <a:avLst/>
          </a:prstGeom>
          <a:solidFill>
            <a:srgbClr val="EEF0FF"/>
          </a:solidFill>
          <a:ln w="12700">
            <a:solidFill>
              <a:srgbClr val="C5C6E8"/>
            </a:solidFill>
            <a:prstDash val="solid"/>
          </a:ln>
        </p:spPr>
        <p:txBody>
          <a:bodyPr/>
          <a:lstStyle/>
          <a:p>
            <a:endParaRPr lang="en-US" dirty="0"/>
          </a:p>
        </p:txBody>
      </p:sp>
      <p:sp>
        <p:nvSpPr>
          <p:cNvPr id="3" name="Shape 0"/>
          <p:cNvSpPr/>
          <p:nvPr/>
        </p:nvSpPr>
        <p:spPr>
          <a:xfrm>
            <a:off x="-822960" y="-822960"/>
            <a:ext cx="2560320" cy="2560320"/>
          </a:xfrm>
          <a:prstGeom prst="ellipse">
            <a:avLst/>
          </a:prstGeom>
          <a:solidFill>
            <a:srgbClr val="EEF0FF"/>
          </a:solidFill>
          <a:ln w="12700">
            <a:solidFill>
              <a:srgbClr val="C5C6E8"/>
            </a:solidFill>
            <a:prstDash val="solid"/>
          </a:ln>
        </p:spPr>
        <p:txBody>
          <a:bodyPr/>
          <a:lstStyle/>
          <a:p>
            <a:endParaRPr lang="en-US"/>
          </a:p>
        </p:txBody>
      </p:sp>
      <p:sp>
        <p:nvSpPr>
          <p:cNvPr id="4" name="Shape 1"/>
          <p:cNvSpPr/>
          <p:nvPr/>
        </p:nvSpPr>
        <p:spPr>
          <a:xfrm>
            <a:off x="-1188720" y="-1188720"/>
            <a:ext cx="2560320" cy="2560320"/>
          </a:xfrm>
          <a:prstGeom prst="ellipse">
            <a:avLst/>
          </a:prstGeom>
          <a:solidFill>
            <a:srgbClr val="C5C6E8">
              <a:alpha val="40000"/>
            </a:srgbClr>
          </a:solidFill>
          <a:ln w="12700">
            <a:solidFill>
              <a:srgbClr val="000000"/>
            </a:solidFill>
            <a:prstDash val="solid"/>
          </a:ln>
        </p:spPr>
        <p:txBody>
          <a:bodyPr/>
          <a:lstStyle/>
          <a:p>
            <a:endParaRPr lang="en-US"/>
          </a:p>
        </p:txBody>
      </p:sp>
      <p:sp>
        <p:nvSpPr>
          <p:cNvPr id="6" name="Text 3"/>
          <p:cNvSpPr/>
          <p:nvPr/>
        </p:nvSpPr>
        <p:spPr>
          <a:xfrm>
            <a:off x="502920" y="1005840"/>
            <a:ext cx="6858000" cy="1783080"/>
          </a:xfrm>
          <a:prstGeom prst="rect">
            <a:avLst/>
          </a:prstGeom>
          <a:noFill/>
          <a:ln/>
        </p:spPr>
        <p:txBody>
          <a:bodyPr wrap="square" lIns="0" tIns="0" rIns="0" bIns="0" rtlCol="0" anchor="ctr"/>
          <a:lstStyle/>
          <a:p>
            <a:pPr marL="0" indent="0">
              <a:buNone/>
            </a:pPr>
            <a:r>
              <a:rPr lang="en-US" sz="3400" b="1" dirty="0">
                <a:solidFill>
                  <a:srgbClr val="0C0A9E"/>
                </a:solidFill>
                <a:latin typeface="Poppins" pitchFamily="34" charset="0"/>
                <a:ea typeface="Poppins" pitchFamily="34" charset="-122"/>
                <a:cs typeface="Poppins" pitchFamily="34" charset="-120"/>
              </a:rPr>
              <a:t>Automated Code Documentation</a:t>
            </a:r>
            <a:endParaRPr lang="en-US" sz="3400" dirty="0"/>
          </a:p>
          <a:p>
            <a:pPr marL="0" indent="0">
              <a:buNone/>
            </a:pPr>
            <a:r>
              <a:rPr lang="en-US" sz="3400" b="1" dirty="0">
                <a:solidFill>
                  <a:srgbClr val="0C0A9E"/>
                </a:solidFill>
                <a:latin typeface="Poppins" pitchFamily="34" charset="0"/>
                <a:ea typeface="Poppins" pitchFamily="34" charset="-122"/>
                <a:cs typeface="Poppins" pitchFamily="34" charset="-120"/>
              </a:rPr>
              <a:t>&amp; Bug Report Analysis</a:t>
            </a:r>
            <a:endParaRPr lang="en-US" sz="3400" dirty="0"/>
          </a:p>
        </p:txBody>
      </p:sp>
      <p:sp>
        <p:nvSpPr>
          <p:cNvPr id="7" name="Shape 4"/>
          <p:cNvSpPr/>
          <p:nvPr/>
        </p:nvSpPr>
        <p:spPr>
          <a:xfrm>
            <a:off x="502920" y="2852928"/>
            <a:ext cx="2011680" cy="64008"/>
          </a:xfrm>
          <a:prstGeom prst="rect">
            <a:avLst/>
          </a:prstGeom>
          <a:solidFill>
            <a:srgbClr val="FF9900"/>
          </a:solidFill>
          <a:ln/>
        </p:spPr>
        <p:txBody>
          <a:bodyPr/>
          <a:lstStyle/>
          <a:p>
            <a:endParaRPr lang="en-US"/>
          </a:p>
        </p:txBody>
      </p:sp>
      <p:sp>
        <p:nvSpPr>
          <p:cNvPr id="9" name="Text 6"/>
          <p:cNvSpPr/>
          <p:nvPr/>
        </p:nvSpPr>
        <p:spPr>
          <a:xfrm>
            <a:off x="502920" y="3346704"/>
            <a:ext cx="7772400" cy="1261872"/>
          </a:xfrm>
          <a:prstGeom prst="rect">
            <a:avLst/>
          </a:prstGeom>
          <a:noFill/>
          <a:ln/>
        </p:spPr>
        <p:txBody>
          <a:bodyPr wrap="square" rtlCol="0" anchor="ctr"/>
          <a:lstStyle/>
          <a:p>
            <a:pPr marL="0" indent="0">
              <a:buNone/>
            </a:pPr>
            <a:r>
              <a:rPr lang="en-US" sz="1200" dirty="0">
                <a:solidFill>
                  <a:srgbClr val="7B7B9D"/>
                </a:solidFill>
                <a:latin typeface="Poppins" pitchFamily="34" charset="0"/>
                <a:ea typeface="Poppins" pitchFamily="34" charset="-122"/>
                <a:cs typeface="Poppins" pitchFamily="34" charset="-120"/>
              </a:rPr>
              <a:t>Name: Jernai Bennett  </a:t>
            </a:r>
          </a:p>
          <a:p>
            <a:pPr marL="0" indent="0">
              <a:buNone/>
            </a:pPr>
            <a:r>
              <a:rPr lang="en-US" sz="1200" dirty="0">
                <a:solidFill>
                  <a:srgbClr val="7B7B9D"/>
                </a:solidFill>
                <a:latin typeface="Poppins" pitchFamily="34" charset="0"/>
                <a:ea typeface="Poppins" pitchFamily="34" charset="-122"/>
                <a:cs typeface="Poppins" pitchFamily="34" charset="-120"/>
              </a:rPr>
              <a:t>Major: Data Science and Ai – Computational Data Analytics Track</a:t>
            </a:r>
          </a:p>
          <a:p>
            <a:pPr marL="0" indent="0">
              <a:buNone/>
            </a:pPr>
            <a:r>
              <a:rPr lang="en-US" sz="1200" dirty="0">
                <a:solidFill>
                  <a:srgbClr val="7B7B9D"/>
                </a:solidFill>
                <a:latin typeface="Poppins" pitchFamily="34" charset="0"/>
                <a:ea typeface="Poppins" pitchFamily="34" charset="-122"/>
                <a:cs typeface="Poppins" pitchFamily="34" charset="-120"/>
              </a:rPr>
              <a:t>Mentor: </a:t>
            </a:r>
            <a:r>
              <a:rPr lang="en-US" sz="1200" dirty="0" err="1">
                <a:solidFill>
                  <a:srgbClr val="7B7B9D"/>
                </a:solidFill>
                <a:latin typeface="Poppins" pitchFamily="34" charset="0"/>
                <a:ea typeface="Poppins" pitchFamily="34" charset="-122"/>
                <a:cs typeface="Poppins" pitchFamily="34" charset="-120"/>
              </a:rPr>
              <a:t>Olualowa</a:t>
            </a:r>
            <a:r>
              <a:rPr lang="en-US" sz="1200" dirty="0">
                <a:solidFill>
                  <a:srgbClr val="7B7B9D"/>
                </a:solidFill>
                <a:latin typeface="Poppins" pitchFamily="34" charset="0"/>
                <a:ea typeface="Poppins" pitchFamily="34" charset="-122"/>
                <a:cs typeface="Poppins" pitchFamily="34" charset="-120"/>
              </a:rPr>
              <a:t> </a:t>
            </a:r>
            <a:r>
              <a:rPr lang="en-US" sz="1200" dirty="0" err="1">
                <a:solidFill>
                  <a:srgbClr val="7B7B9D"/>
                </a:solidFill>
                <a:latin typeface="Poppins" pitchFamily="34" charset="0"/>
                <a:ea typeface="Poppins" pitchFamily="34" charset="-122"/>
                <a:cs typeface="Poppins" pitchFamily="34" charset="-120"/>
              </a:rPr>
              <a:t>Odigun</a:t>
            </a:r>
            <a:endParaRPr lang="en-US" sz="1200" dirty="0">
              <a:solidFill>
                <a:srgbClr val="7B7B9D"/>
              </a:solidFill>
              <a:latin typeface="Poppins" pitchFamily="34" charset="0"/>
              <a:ea typeface="Poppins" pitchFamily="34" charset="-122"/>
              <a:cs typeface="Poppins" pitchFamily="34" charset="-120"/>
            </a:endParaRPr>
          </a:p>
          <a:p>
            <a:pPr marL="0" indent="0">
              <a:buNone/>
            </a:pPr>
            <a:r>
              <a:rPr lang="en-US" sz="1200" dirty="0">
                <a:solidFill>
                  <a:srgbClr val="7B7B9D"/>
                </a:solidFill>
                <a:latin typeface="Poppins" pitchFamily="34" charset="0"/>
                <a:ea typeface="Poppins" pitchFamily="34" charset="-122"/>
                <a:cs typeface="Poppins" pitchFamily="34" charset="-120"/>
              </a:rPr>
              <a:t>Class: Capstone in Data Science </a:t>
            </a:r>
          </a:p>
          <a:p>
            <a:pPr marL="0" indent="0">
              <a:buNone/>
            </a:pPr>
            <a:r>
              <a:rPr lang="en-US" sz="1200" dirty="0">
                <a:solidFill>
                  <a:srgbClr val="7B7B9D"/>
                </a:solidFill>
                <a:latin typeface="Poppins" pitchFamily="34" charset="0"/>
                <a:ea typeface="Poppins" pitchFamily="34" charset="-122"/>
                <a:cs typeface="Poppins" pitchFamily="34" charset="-120"/>
              </a:rPr>
              <a:t>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217920" y="2926080"/>
            <a:ext cx="2926080" cy="2194560"/>
          </a:xfrm>
          <a:prstGeom prst="rect">
            <a:avLst/>
          </a:prstGeom>
        </p:spPr>
      </p:pic>
      <p:sp>
        <p:nvSpPr>
          <p:cNvPr id="3" name="Text 0"/>
          <p:cNvSpPr/>
          <p:nvPr/>
        </p:nvSpPr>
        <p:spPr>
          <a:xfrm>
            <a:off x="365760" y="137160"/>
            <a:ext cx="8412480" cy="475488"/>
          </a:xfrm>
          <a:prstGeom prst="rect">
            <a:avLst/>
          </a:prstGeom>
          <a:noFill/>
          <a:ln/>
        </p:spPr>
        <p:txBody>
          <a:bodyPr wrap="square" lIns="0" tIns="0" rIns="0" bIns="0" rtlCol="0" anchor="ctr"/>
          <a:lstStyle/>
          <a:p>
            <a:pPr marL="0" indent="0">
              <a:buNone/>
            </a:pPr>
            <a:r>
              <a:rPr lang="en-US" sz="2000" b="1" dirty="0">
                <a:solidFill>
                  <a:srgbClr val="0C0A9E"/>
                </a:solidFill>
                <a:latin typeface="Poppins" pitchFamily="34" charset="0"/>
                <a:ea typeface="Poppins" pitchFamily="34" charset="-122"/>
                <a:cs typeface="Poppins" pitchFamily="34" charset="-120"/>
              </a:rPr>
              <a:t>Project Overview &amp; Motivation</a:t>
            </a:r>
            <a:endParaRPr lang="en-US" sz="2000" dirty="0"/>
          </a:p>
        </p:txBody>
      </p:sp>
      <p:sp>
        <p:nvSpPr>
          <p:cNvPr id="4" name="Shape 1"/>
          <p:cNvSpPr/>
          <p:nvPr/>
        </p:nvSpPr>
        <p:spPr>
          <a:xfrm>
            <a:off x="365760" y="621792"/>
            <a:ext cx="1280160" cy="50292"/>
          </a:xfrm>
          <a:prstGeom prst="rect">
            <a:avLst/>
          </a:prstGeom>
          <a:solidFill>
            <a:srgbClr val="FF9900"/>
          </a:solidFill>
          <a:ln/>
        </p:spPr>
        <p:txBody>
          <a:bodyPr/>
          <a:lstStyle/>
          <a:p>
            <a:endParaRPr lang="en-US"/>
          </a:p>
        </p:txBody>
      </p:sp>
      <p:sp>
        <p:nvSpPr>
          <p:cNvPr id="6" name="Text 3"/>
          <p:cNvSpPr/>
          <p:nvPr/>
        </p:nvSpPr>
        <p:spPr>
          <a:xfrm>
            <a:off x="365760" y="804672"/>
            <a:ext cx="4114800" cy="256032"/>
          </a:xfrm>
          <a:prstGeom prst="rect">
            <a:avLst/>
          </a:prstGeom>
          <a:noFill/>
          <a:ln/>
        </p:spPr>
        <p:txBody>
          <a:bodyPr wrap="square" lIns="0" tIns="0" rIns="0" bIns="0" rtlCol="0" anchor="ctr"/>
          <a:lstStyle/>
          <a:p>
            <a:pPr marL="0" indent="0">
              <a:buNone/>
            </a:pPr>
            <a:r>
              <a:rPr lang="en-US" sz="1300" b="1" dirty="0">
                <a:solidFill>
                  <a:srgbClr val="0C0A9E"/>
                </a:solidFill>
                <a:latin typeface="Poppins" pitchFamily="34" charset="0"/>
                <a:ea typeface="Poppins" pitchFamily="34" charset="-122"/>
                <a:cs typeface="Poppins" pitchFamily="34" charset="-120"/>
              </a:rPr>
              <a:t>Problem Statement</a:t>
            </a:r>
            <a:endParaRPr lang="en-US" sz="1300" dirty="0"/>
          </a:p>
        </p:txBody>
      </p:sp>
      <p:sp>
        <p:nvSpPr>
          <p:cNvPr id="7" name="Text 4"/>
          <p:cNvSpPr/>
          <p:nvPr/>
        </p:nvSpPr>
        <p:spPr>
          <a:xfrm>
            <a:off x="365759" y="1078992"/>
            <a:ext cx="7385375" cy="877824"/>
          </a:xfrm>
          <a:prstGeom prst="rect">
            <a:avLst/>
          </a:prstGeom>
          <a:noFill/>
          <a:ln/>
        </p:spPr>
        <p:txBody>
          <a:bodyPr wrap="square" rtlCol="0" anchor="ctr"/>
          <a:lstStyle/>
          <a:p>
            <a:pPr marL="342900" indent="-342900">
              <a:spcAft>
                <a:spcPts val="300"/>
              </a:spcAft>
              <a:buSzPct val="100000"/>
              <a:buChar char="•"/>
            </a:pPr>
            <a:r>
              <a:rPr lang="en-US" sz="1200" dirty="0">
                <a:solidFill>
                  <a:srgbClr val="191919"/>
                </a:solidFill>
                <a:latin typeface="Poppins" pitchFamily="34" charset="0"/>
                <a:ea typeface="Poppins" pitchFamily="34" charset="-122"/>
                <a:cs typeface="Poppins" pitchFamily="34" charset="-120"/>
              </a:rPr>
              <a:t>Software documentation is time-consuming and error-prone when written manually</a:t>
            </a:r>
            <a:endParaRPr lang="en-US" sz="1200" dirty="0"/>
          </a:p>
          <a:p>
            <a:pPr marL="342900" indent="-342900">
              <a:spcAft>
                <a:spcPts val="300"/>
              </a:spcAft>
              <a:buSzPct val="100000"/>
              <a:buChar char="•"/>
            </a:pPr>
            <a:r>
              <a:rPr lang="en-US" sz="1200" dirty="0">
                <a:solidFill>
                  <a:srgbClr val="191919"/>
                </a:solidFill>
                <a:latin typeface="Poppins" pitchFamily="34" charset="0"/>
                <a:ea typeface="Poppins" pitchFamily="34" charset="-122"/>
                <a:cs typeface="Poppins" pitchFamily="34" charset="-120"/>
              </a:rPr>
              <a:t>Bug reports are verbose; engineers spend significant time parsing them</a:t>
            </a:r>
            <a:endParaRPr lang="en-US" sz="1200" dirty="0"/>
          </a:p>
          <a:p>
            <a:pPr marL="342900" indent="-342900">
              <a:spcAft>
                <a:spcPts val="300"/>
              </a:spcAft>
              <a:buSzPct val="100000"/>
              <a:buChar char="•"/>
            </a:pPr>
            <a:r>
              <a:rPr lang="en-US" sz="1200" dirty="0">
                <a:solidFill>
                  <a:srgbClr val="191919"/>
                </a:solidFill>
                <a:latin typeface="Poppins" pitchFamily="34" charset="0"/>
                <a:ea typeface="Poppins" pitchFamily="34" charset="-122"/>
                <a:cs typeface="Poppins" pitchFamily="34" charset="-120"/>
              </a:rPr>
              <a:t>LLMs offer a path to automated, context-aware code summarization</a:t>
            </a:r>
            <a:endParaRPr lang="en-US" sz="1200" dirty="0"/>
          </a:p>
        </p:txBody>
      </p:sp>
      <p:sp>
        <p:nvSpPr>
          <p:cNvPr id="9" name="Text 6"/>
          <p:cNvSpPr/>
          <p:nvPr/>
        </p:nvSpPr>
        <p:spPr>
          <a:xfrm>
            <a:off x="365759" y="2331720"/>
            <a:ext cx="7247153" cy="1188720"/>
          </a:xfrm>
          <a:prstGeom prst="rect">
            <a:avLst/>
          </a:prstGeom>
          <a:noFill/>
          <a:ln/>
        </p:spPr>
        <p:txBody>
          <a:bodyPr wrap="square" rtlCol="0" anchor="ctr"/>
          <a:lstStyle/>
          <a:p>
            <a:pPr marL="342900" indent="-342900">
              <a:spcAft>
                <a:spcPts val="300"/>
              </a:spcAft>
              <a:buSzPct val="100000"/>
              <a:buChar char="•"/>
            </a:pPr>
            <a:endParaRPr lang="en-US" sz="1250" dirty="0"/>
          </a:p>
        </p:txBody>
      </p:sp>
      <p:sp>
        <p:nvSpPr>
          <p:cNvPr id="15" name="TextBox 14">
            <a:extLst>
              <a:ext uri="{FF2B5EF4-FFF2-40B4-BE49-F238E27FC236}">
                <a16:creationId xmlns:a16="http://schemas.microsoft.com/office/drawing/2014/main" id="{83DCBE76-19D2-B705-006F-7DD5D72959B2}"/>
              </a:ext>
            </a:extLst>
          </p:cNvPr>
          <p:cNvSpPr txBox="1"/>
          <p:nvPr/>
        </p:nvSpPr>
        <p:spPr>
          <a:xfrm>
            <a:off x="365760" y="2551176"/>
            <a:ext cx="6908146" cy="1754326"/>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Software documentation is one of the most neglected parts of development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Writing documentation manually is inconsistent, error-prone, and rarely prioritized under tight deadlines.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Bug reports on platforms like GitHub are verbose and unstructured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Poppins" panose="00000500000000000000" pitchFamily="2" charset="0"/>
                <a:ea typeface="+mn-ea"/>
                <a:cs typeface="Poppins" panose="00000500000000000000" pitchFamily="2" charset="0"/>
              </a:rPr>
              <a:t>Existing NLP models trained on general text struggle with code-specific vocabulary, syntax, and logic structures</a:t>
            </a:r>
          </a:p>
        </p:txBody>
      </p:sp>
      <p:sp>
        <p:nvSpPr>
          <p:cNvPr id="16" name="Text 3">
            <a:extLst>
              <a:ext uri="{FF2B5EF4-FFF2-40B4-BE49-F238E27FC236}">
                <a16:creationId xmlns:a16="http://schemas.microsoft.com/office/drawing/2014/main" id="{F91C5E38-69CF-5B6B-63E1-12775CC7911B}"/>
              </a:ext>
            </a:extLst>
          </p:cNvPr>
          <p:cNvSpPr/>
          <p:nvPr/>
        </p:nvSpPr>
        <p:spPr>
          <a:xfrm>
            <a:off x="346585" y="2108282"/>
            <a:ext cx="4114800" cy="256032"/>
          </a:xfrm>
          <a:prstGeom prst="rect">
            <a:avLst/>
          </a:prstGeom>
          <a:noFill/>
          <a:ln/>
        </p:spPr>
        <p:txBody>
          <a:bodyPr wrap="square" lIns="0" tIns="0" rIns="0" bIns="0" rtlCol="0" anchor="ctr"/>
          <a:lstStyle/>
          <a:p>
            <a:pPr marL="0" indent="0">
              <a:buNone/>
            </a:pPr>
            <a:r>
              <a:rPr lang="en-US" sz="1300" b="1" dirty="0">
                <a:solidFill>
                  <a:srgbClr val="0C0A9E"/>
                </a:solidFill>
                <a:latin typeface="Poppins" pitchFamily="34" charset="0"/>
                <a:ea typeface="Poppins" pitchFamily="34" charset="-122"/>
                <a:cs typeface="Poppins" pitchFamily="34" charset="-120"/>
              </a:rPr>
              <a:t>Motivation</a:t>
            </a:r>
            <a:endParaRPr lang="en-US" sz="1300" dirty="0"/>
          </a:p>
        </p:txBody>
      </p:sp>
      <p:sp>
        <p:nvSpPr>
          <p:cNvPr id="17" name="TextBox 16"/>
          <p:cNvSpPr txBox="1"/>
          <p:nvPr/>
        </p:nvSpPr>
        <p:spPr>
          <a:xfrm>
            <a:off x="8412480" y="4750308"/>
            <a:ext cx="320040" cy="228600"/>
          </a:xfrm>
          <a:prstGeom prst="rect">
            <a:avLst/>
          </a:prstGeom>
          <a:noFill/>
        </p:spPr>
        <p:txBody>
          <a:bodyPr wrap="none">
            <a:spAutoFit/>
          </a:bodyPr>
          <a:lstStyle/>
          <a:p>
            <a:pPr algn="r"/>
            <a:r>
              <a:rPr sz="1100" b="0">
                <a:solidFill>
                  <a:srgbClr val="0C0A9E"/>
                </a:solidFil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B4FBA85-D1F4-2AB1-7F33-C43A69FDFB0A}"/>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2C1F306-0EBD-427A-4C3B-14E4B8D5AF18}"/>
              </a:ext>
            </a:extLst>
          </p:cNvPr>
          <p:cNvPicPr>
            <a:picLocks noChangeAspect="1"/>
          </p:cNvPicPr>
          <p:nvPr/>
        </p:nvPicPr>
        <p:blipFill>
          <a:blip r:embed="rId3">
            <a:alphaModFix amt="80000"/>
          </a:blip>
          <a:stretch>
            <a:fillRect/>
          </a:stretch>
        </p:blipFill>
        <p:spPr>
          <a:xfrm>
            <a:off x="6217920" y="2926080"/>
            <a:ext cx="2926080" cy="2194560"/>
          </a:xfrm>
          <a:prstGeom prst="rect">
            <a:avLst/>
          </a:prstGeom>
        </p:spPr>
      </p:pic>
      <p:sp>
        <p:nvSpPr>
          <p:cNvPr id="3" name="Text 0">
            <a:extLst>
              <a:ext uri="{FF2B5EF4-FFF2-40B4-BE49-F238E27FC236}">
                <a16:creationId xmlns:a16="http://schemas.microsoft.com/office/drawing/2014/main" id="{8C20B694-D725-7C95-0F86-59B90FC09F64}"/>
              </a:ext>
            </a:extLst>
          </p:cNvPr>
          <p:cNvSpPr/>
          <p:nvPr/>
        </p:nvSpPr>
        <p:spPr>
          <a:xfrm>
            <a:off x="365760" y="137160"/>
            <a:ext cx="8412480" cy="475488"/>
          </a:xfrm>
          <a:prstGeom prst="rect">
            <a:avLst/>
          </a:prstGeom>
          <a:noFill/>
          <a:ln/>
        </p:spPr>
        <p:txBody>
          <a:bodyPr wrap="square" lIns="0" tIns="0" rIns="0" bIns="0" rtlCol="0" anchor="ctr"/>
          <a:lstStyle/>
          <a:p>
            <a:pPr marL="0" indent="0">
              <a:buNone/>
            </a:pPr>
            <a:r>
              <a:rPr lang="en-US" sz="2000" b="1" dirty="0">
                <a:solidFill>
                  <a:srgbClr val="0C0A9E"/>
                </a:solidFill>
                <a:latin typeface="Poppins" pitchFamily="34" charset="0"/>
                <a:ea typeface="Poppins" pitchFamily="34" charset="-122"/>
                <a:cs typeface="Poppins" pitchFamily="34" charset="-120"/>
              </a:rPr>
              <a:t>Goals</a:t>
            </a:r>
            <a:endParaRPr lang="en-US" sz="2000" dirty="0"/>
          </a:p>
        </p:txBody>
      </p:sp>
      <p:sp>
        <p:nvSpPr>
          <p:cNvPr id="4" name="Shape 1">
            <a:extLst>
              <a:ext uri="{FF2B5EF4-FFF2-40B4-BE49-F238E27FC236}">
                <a16:creationId xmlns:a16="http://schemas.microsoft.com/office/drawing/2014/main" id="{40B789D0-488C-4EDF-AE5F-0D8DC052C9D0}"/>
              </a:ext>
            </a:extLst>
          </p:cNvPr>
          <p:cNvSpPr/>
          <p:nvPr/>
        </p:nvSpPr>
        <p:spPr>
          <a:xfrm>
            <a:off x="365760" y="621792"/>
            <a:ext cx="1280160" cy="50292"/>
          </a:xfrm>
          <a:prstGeom prst="rect">
            <a:avLst/>
          </a:prstGeom>
          <a:solidFill>
            <a:srgbClr val="FF9900"/>
          </a:solidFill>
          <a:ln/>
        </p:spPr>
        <p:txBody>
          <a:bodyPr/>
          <a:lstStyle/>
          <a:p>
            <a:endParaRPr lang="en-US"/>
          </a:p>
        </p:txBody>
      </p:sp>
      <p:sp>
        <p:nvSpPr>
          <p:cNvPr id="7" name="Text 4">
            <a:extLst>
              <a:ext uri="{FF2B5EF4-FFF2-40B4-BE49-F238E27FC236}">
                <a16:creationId xmlns:a16="http://schemas.microsoft.com/office/drawing/2014/main" id="{AD34D914-50E0-20FB-E1D7-31960B66D35E}"/>
              </a:ext>
            </a:extLst>
          </p:cNvPr>
          <p:cNvSpPr/>
          <p:nvPr/>
        </p:nvSpPr>
        <p:spPr>
          <a:xfrm>
            <a:off x="365759" y="1078992"/>
            <a:ext cx="7385375" cy="877824"/>
          </a:xfrm>
          <a:prstGeom prst="rect">
            <a:avLst/>
          </a:prstGeom>
          <a:noFill/>
          <a:ln/>
        </p:spPr>
        <p:txBody>
          <a:bodyPr wrap="square" rtlCol="0" anchor="ctr"/>
          <a:lstStyle/>
          <a:p>
            <a:pPr marL="342900" indent="-342900">
              <a:spcAft>
                <a:spcPts val="300"/>
              </a:spcAft>
              <a:buSzPct val="100000"/>
              <a:buChar char="•"/>
            </a:pPr>
            <a:endParaRPr lang="en-US" sz="1250" dirty="0"/>
          </a:p>
        </p:txBody>
      </p:sp>
      <p:sp>
        <p:nvSpPr>
          <p:cNvPr id="9" name="Text 6">
            <a:extLst>
              <a:ext uri="{FF2B5EF4-FFF2-40B4-BE49-F238E27FC236}">
                <a16:creationId xmlns:a16="http://schemas.microsoft.com/office/drawing/2014/main" id="{C5364DF1-3A25-1525-850E-BDE82751B6B0}"/>
              </a:ext>
            </a:extLst>
          </p:cNvPr>
          <p:cNvSpPr/>
          <p:nvPr/>
        </p:nvSpPr>
        <p:spPr>
          <a:xfrm>
            <a:off x="365759" y="2331720"/>
            <a:ext cx="7247153" cy="1188720"/>
          </a:xfrm>
          <a:prstGeom prst="rect">
            <a:avLst/>
          </a:prstGeom>
          <a:noFill/>
          <a:ln/>
        </p:spPr>
        <p:txBody>
          <a:bodyPr wrap="square" rtlCol="0" anchor="ctr"/>
          <a:lstStyle/>
          <a:p>
            <a:pPr marL="342900" indent="-342900">
              <a:spcAft>
                <a:spcPts val="300"/>
              </a:spcAft>
              <a:buSzPct val="100000"/>
              <a:buChar char="•"/>
            </a:pPr>
            <a:endParaRPr lang="en-US" sz="1250" dirty="0"/>
          </a:p>
        </p:txBody>
      </p:sp>
      <p:sp>
        <p:nvSpPr>
          <p:cNvPr id="20" name="TextBox 19">
            <a:extLst>
              <a:ext uri="{FF2B5EF4-FFF2-40B4-BE49-F238E27FC236}">
                <a16:creationId xmlns:a16="http://schemas.microsoft.com/office/drawing/2014/main" id="{21533697-463A-9920-A614-AE132B8026EB}"/>
              </a:ext>
            </a:extLst>
          </p:cNvPr>
          <p:cNvSpPr txBox="1"/>
          <p:nvPr/>
        </p:nvSpPr>
        <p:spPr>
          <a:xfrm>
            <a:off x="203528" y="871788"/>
            <a:ext cx="6129430" cy="1569660"/>
          </a:xfrm>
          <a:prstGeom prst="rect">
            <a:avLst/>
          </a:prstGeom>
          <a:noFill/>
        </p:spPr>
        <p:txBody>
          <a:bodyPr wrap="square">
            <a:spAutoFit/>
          </a:bodyPr>
          <a:lstStyle/>
          <a:p>
            <a:endParaRPr lang="en-US" sz="1200"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Automate code documentation and bug report summarization using fine-tuned encoder-decoder models </a:t>
            </a:r>
          </a:p>
          <a:p>
            <a:endParaRPr lang="en-US" sz="1200"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Compare full fine-tuning vs. parameter-efficient adaptation (</a:t>
            </a:r>
            <a:r>
              <a:rPr lang="en-US" sz="1200" dirty="0" err="1">
                <a:latin typeface="Poppins" panose="00000500000000000000" pitchFamily="2" charset="0"/>
                <a:cs typeface="Poppins" panose="00000500000000000000" pitchFamily="2" charset="0"/>
              </a:rPr>
              <a:t>LoRA</a:t>
            </a:r>
            <a:r>
              <a:rPr lang="en-US" sz="1200" dirty="0">
                <a:latin typeface="Poppins" panose="00000500000000000000" pitchFamily="2" charset="0"/>
                <a:cs typeface="Poppins" panose="00000500000000000000" pitchFamily="2" charset="0"/>
              </a:rPr>
              <a:t>) to identify the best approach for resource-constrained deployment </a:t>
            </a:r>
          </a:p>
          <a:p>
            <a:endParaRPr lang="en-US" sz="1200"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Build a reproducible evaluation pipeline applicable to future code NLP tasks </a:t>
            </a:r>
          </a:p>
        </p:txBody>
      </p:sp>
      <p:sp>
        <p:nvSpPr>
          <p:cNvPr id="21" name="TextBox 20"/>
          <p:cNvSpPr txBox="1"/>
          <p:nvPr/>
        </p:nvSpPr>
        <p:spPr>
          <a:xfrm>
            <a:off x="8412480" y="4750308"/>
            <a:ext cx="320040" cy="228600"/>
          </a:xfrm>
          <a:prstGeom prst="rect">
            <a:avLst/>
          </a:prstGeom>
          <a:noFill/>
        </p:spPr>
        <p:txBody>
          <a:bodyPr wrap="none">
            <a:spAutoFit/>
          </a:bodyPr>
          <a:lstStyle/>
          <a:p>
            <a:pPr algn="r"/>
            <a:r>
              <a:rPr sz="1100" b="0">
                <a:solidFill>
                  <a:srgbClr val="0C0A9E"/>
                </a:solidFill>
              </a:rPr>
              <a:t>3</a:t>
            </a:r>
          </a:p>
        </p:txBody>
      </p:sp>
    </p:spTree>
    <p:extLst>
      <p:ext uri="{BB962C8B-B14F-4D97-AF65-F5344CB8AC3E}">
        <p14:creationId xmlns:p14="http://schemas.microsoft.com/office/powerpoint/2010/main" val="736116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069BE4F-12CD-E393-0E07-76264C7C838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9869D8A-0ED7-5567-C9B0-35E1BFD1BE52}"/>
              </a:ext>
            </a:extLst>
          </p:cNvPr>
          <p:cNvPicPr>
            <a:picLocks noChangeAspect="1"/>
          </p:cNvPicPr>
          <p:nvPr/>
        </p:nvPicPr>
        <p:blipFill>
          <a:blip r:embed="rId3">
            <a:alphaModFix amt="80000"/>
          </a:blip>
          <a:stretch>
            <a:fillRect/>
          </a:stretch>
        </p:blipFill>
        <p:spPr>
          <a:xfrm>
            <a:off x="6217920" y="2926080"/>
            <a:ext cx="2926080" cy="2194560"/>
          </a:xfrm>
          <a:prstGeom prst="rect">
            <a:avLst/>
          </a:prstGeom>
        </p:spPr>
      </p:pic>
      <p:sp>
        <p:nvSpPr>
          <p:cNvPr id="3" name="Text 0">
            <a:extLst>
              <a:ext uri="{FF2B5EF4-FFF2-40B4-BE49-F238E27FC236}">
                <a16:creationId xmlns:a16="http://schemas.microsoft.com/office/drawing/2014/main" id="{CF00BEAF-14FE-301A-CFE8-F1E7945AE18B}"/>
              </a:ext>
            </a:extLst>
          </p:cNvPr>
          <p:cNvSpPr/>
          <p:nvPr/>
        </p:nvSpPr>
        <p:spPr>
          <a:xfrm>
            <a:off x="365760" y="137160"/>
            <a:ext cx="8412480" cy="475488"/>
          </a:xfrm>
          <a:prstGeom prst="rect">
            <a:avLst/>
          </a:prstGeom>
          <a:noFill/>
          <a:ln/>
        </p:spPr>
        <p:txBody>
          <a:bodyPr wrap="square" lIns="0" tIns="0" rIns="0" bIns="0" rtlCol="0" anchor="ctr"/>
          <a:lstStyle/>
          <a:p>
            <a:pPr marL="0" indent="0">
              <a:buNone/>
            </a:pPr>
            <a:r>
              <a:rPr lang="en-US" sz="2000" b="1" dirty="0">
                <a:solidFill>
                  <a:srgbClr val="0C0A9E"/>
                </a:solidFill>
                <a:latin typeface="Poppins" pitchFamily="34" charset="0"/>
                <a:ea typeface="Poppins" pitchFamily="34" charset="-122"/>
                <a:cs typeface="Poppins" pitchFamily="34" charset="-120"/>
              </a:rPr>
              <a:t>Objectives</a:t>
            </a:r>
            <a:endParaRPr lang="en-US" sz="2000" dirty="0"/>
          </a:p>
        </p:txBody>
      </p:sp>
      <p:sp>
        <p:nvSpPr>
          <p:cNvPr id="4" name="Shape 1">
            <a:extLst>
              <a:ext uri="{FF2B5EF4-FFF2-40B4-BE49-F238E27FC236}">
                <a16:creationId xmlns:a16="http://schemas.microsoft.com/office/drawing/2014/main" id="{689E8843-1921-BDB9-A736-5A318615D449}"/>
              </a:ext>
            </a:extLst>
          </p:cNvPr>
          <p:cNvSpPr/>
          <p:nvPr/>
        </p:nvSpPr>
        <p:spPr>
          <a:xfrm>
            <a:off x="365760" y="621792"/>
            <a:ext cx="1280160" cy="50292"/>
          </a:xfrm>
          <a:prstGeom prst="rect">
            <a:avLst/>
          </a:prstGeom>
          <a:solidFill>
            <a:srgbClr val="FF9900"/>
          </a:solidFill>
          <a:ln/>
        </p:spPr>
        <p:txBody>
          <a:bodyPr/>
          <a:lstStyle/>
          <a:p>
            <a:endParaRPr lang="en-US"/>
          </a:p>
        </p:txBody>
      </p:sp>
      <p:sp>
        <p:nvSpPr>
          <p:cNvPr id="7" name="Text 4">
            <a:extLst>
              <a:ext uri="{FF2B5EF4-FFF2-40B4-BE49-F238E27FC236}">
                <a16:creationId xmlns:a16="http://schemas.microsoft.com/office/drawing/2014/main" id="{99F332FE-F2B3-CA86-28A8-668A95CFA82C}"/>
              </a:ext>
            </a:extLst>
          </p:cNvPr>
          <p:cNvSpPr/>
          <p:nvPr/>
        </p:nvSpPr>
        <p:spPr>
          <a:xfrm>
            <a:off x="365759" y="1078992"/>
            <a:ext cx="7385375" cy="877824"/>
          </a:xfrm>
          <a:prstGeom prst="rect">
            <a:avLst/>
          </a:prstGeom>
          <a:noFill/>
          <a:ln/>
        </p:spPr>
        <p:txBody>
          <a:bodyPr wrap="square" rtlCol="0" anchor="ctr"/>
          <a:lstStyle/>
          <a:p>
            <a:pPr marL="342900" indent="-342900">
              <a:spcAft>
                <a:spcPts val="300"/>
              </a:spcAft>
              <a:buSzPct val="100000"/>
              <a:buChar char="•"/>
            </a:pPr>
            <a:endParaRPr lang="en-US" sz="1250" dirty="0"/>
          </a:p>
        </p:txBody>
      </p:sp>
      <p:sp>
        <p:nvSpPr>
          <p:cNvPr id="9" name="Text 6">
            <a:extLst>
              <a:ext uri="{FF2B5EF4-FFF2-40B4-BE49-F238E27FC236}">
                <a16:creationId xmlns:a16="http://schemas.microsoft.com/office/drawing/2014/main" id="{0DC722F9-C44E-E045-B98F-7FFE6D33556F}"/>
              </a:ext>
            </a:extLst>
          </p:cNvPr>
          <p:cNvSpPr/>
          <p:nvPr/>
        </p:nvSpPr>
        <p:spPr>
          <a:xfrm>
            <a:off x="365759" y="2331720"/>
            <a:ext cx="7247153" cy="1188720"/>
          </a:xfrm>
          <a:prstGeom prst="rect">
            <a:avLst/>
          </a:prstGeom>
          <a:noFill/>
          <a:ln/>
        </p:spPr>
        <p:txBody>
          <a:bodyPr wrap="square" rtlCol="0" anchor="ctr"/>
          <a:lstStyle/>
          <a:p>
            <a:pPr marL="342900" indent="-342900">
              <a:spcAft>
                <a:spcPts val="300"/>
              </a:spcAft>
              <a:buSzPct val="100000"/>
              <a:buChar char="•"/>
            </a:pPr>
            <a:endParaRPr lang="en-US" sz="1250" dirty="0"/>
          </a:p>
        </p:txBody>
      </p:sp>
      <p:sp>
        <p:nvSpPr>
          <p:cNvPr id="11" name="TextBox 10">
            <a:extLst>
              <a:ext uri="{FF2B5EF4-FFF2-40B4-BE49-F238E27FC236}">
                <a16:creationId xmlns:a16="http://schemas.microsoft.com/office/drawing/2014/main" id="{85A892F8-644B-A850-ED9F-6022E9DF0682}"/>
              </a:ext>
            </a:extLst>
          </p:cNvPr>
          <p:cNvSpPr txBox="1"/>
          <p:nvPr/>
        </p:nvSpPr>
        <p:spPr>
          <a:xfrm>
            <a:off x="365758" y="906930"/>
            <a:ext cx="7121321" cy="2308324"/>
          </a:xfrm>
          <a:prstGeom prst="rect">
            <a:avLst/>
          </a:prstGeom>
          <a:noFill/>
        </p:spPr>
        <p:txBody>
          <a:bodyPr wrap="square">
            <a:spAutoFit/>
          </a:bodyPr>
          <a:lstStyle/>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Train and compare CodeT5-small, CodeT5+ 220M, and CodeT5+ 220M + </a:t>
            </a:r>
            <a:r>
              <a:rPr lang="en-US" sz="1200" dirty="0" err="1">
                <a:latin typeface="Poppins" panose="00000500000000000000" pitchFamily="2" charset="0"/>
                <a:cs typeface="Poppins" panose="00000500000000000000" pitchFamily="2" charset="0"/>
              </a:rPr>
              <a:t>LoRA</a:t>
            </a:r>
            <a:r>
              <a:rPr lang="en-US" sz="1200" dirty="0">
                <a:latin typeface="Poppins" panose="00000500000000000000" pitchFamily="2" charset="0"/>
                <a:cs typeface="Poppins" panose="00000500000000000000" pitchFamily="2" charset="0"/>
              </a:rPr>
              <a:t> on a combined Python documentation and bug report dataset</a:t>
            </a:r>
          </a:p>
          <a:p>
            <a:pPr marL="171450" indent="-171450">
              <a:buFont typeface="Arial" panose="020B0604020202020204" pitchFamily="34" charset="0"/>
              <a:buChar char="•"/>
            </a:pPr>
            <a:endParaRPr lang="en-US" sz="1200"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Implement a 4-metric evaluation suite (BLEU-4, ROUGE-L, METEOR, </a:t>
            </a:r>
            <a:r>
              <a:rPr lang="en-US" sz="1200" dirty="0" err="1">
                <a:latin typeface="Poppins" panose="00000500000000000000" pitchFamily="2" charset="0"/>
                <a:cs typeface="Poppins" panose="00000500000000000000" pitchFamily="2" charset="0"/>
              </a:rPr>
              <a:t>CodeBLEU</a:t>
            </a:r>
            <a:r>
              <a:rPr lang="en-US" sz="1200" dirty="0">
                <a:latin typeface="Poppins" panose="00000500000000000000" pitchFamily="2" charset="0"/>
                <a:cs typeface="Poppins" panose="00000500000000000000" pitchFamily="2" charset="0"/>
              </a:rPr>
              <a:t>) to measure both surface-level and semantic output quality</a:t>
            </a:r>
          </a:p>
          <a:p>
            <a:pPr marL="171450" indent="-171450">
              <a:buFont typeface="Arial" panose="020B0604020202020204" pitchFamily="34" charset="0"/>
              <a:buChar char="•"/>
            </a:pPr>
            <a:endParaRPr lang="en-US" sz="1200"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Apply </a:t>
            </a:r>
            <a:r>
              <a:rPr lang="en-US" sz="1200" dirty="0" err="1">
                <a:latin typeface="Poppins" panose="00000500000000000000" pitchFamily="2" charset="0"/>
                <a:cs typeface="Poppins" panose="00000500000000000000" pitchFamily="2" charset="0"/>
              </a:rPr>
              <a:t>PyPlus</a:t>
            </a:r>
            <a:r>
              <a:rPr lang="en-US" sz="1200" dirty="0">
                <a:latin typeface="Poppins" panose="00000500000000000000" pitchFamily="2" charset="0"/>
                <a:cs typeface="Poppins" panose="00000500000000000000" pitchFamily="2" charset="0"/>
              </a:rPr>
              <a:t>-style target enrichment to improve supervision signal during training</a:t>
            </a:r>
          </a:p>
          <a:p>
            <a:pPr marL="171450" indent="-171450">
              <a:buFont typeface="Arial" panose="020B0604020202020204" pitchFamily="34" charset="0"/>
              <a:buChar char="•"/>
            </a:pPr>
            <a:endParaRPr lang="en-US" sz="1200"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Select the best-performing model and run full fine-tuning on the combined dataset</a:t>
            </a:r>
          </a:p>
          <a:p>
            <a:pPr marL="171450" indent="-171450">
              <a:buFont typeface="Arial" panose="020B0604020202020204" pitchFamily="34" charset="0"/>
              <a:buChar char="•"/>
            </a:pPr>
            <a:endParaRPr lang="en-US" sz="1200"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Evaluate generalization across two task domains: structured docstring generation and unstructured bug report summarization</a:t>
            </a:r>
          </a:p>
        </p:txBody>
      </p:sp>
      <p:sp>
        <p:nvSpPr>
          <p:cNvPr id="12" name="TextBox 11"/>
          <p:cNvSpPr txBox="1"/>
          <p:nvPr/>
        </p:nvSpPr>
        <p:spPr>
          <a:xfrm>
            <a:off x="8412480" y="4750308"/>
            <a:ext cx="320040" cy="228600"/>
          </a:xfrm>
          <a:prstGeom prst="rect">
            <a:avLst/>
          </a:prstGeom>
          <a:noFill/>
        </p:spPr>
        <p:txBody>
          <a:bodyPr wrap="none">
            <a:spAutoFit/>
          </a:bodyPr>
          <a:lstStyle/>
          <a:p>
            <a:pPr algn="r"/>
            <a:r>
              <a:rPr sz="1100" b="0">
                <a:solidFill>
                  <a:srgbClr val="0C0A9E"/>
                </a:solidFill>
              </a:rPr>
              <a:t>4</a:t>
            </a:r>
          </a:p>
        </p:txBody>
      </p:sp>
    </p:spTree>
    <p:extLst>
      <p:ext uri="{BB962C8B-B14F-4D97-AF65-F5344CB8AC3E}">
        <p14:creationId xmlns:p14="http://schemas.microsoft.com/office/powerpoint/2010/main" val="665117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1778462-7940-09C8-100A-715FC041B484}"/>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F6473A7-74FB-2887-F052-AE1D9F81A692}"/>
              </a:ext>
            </a:extLst>
          </p:cNvPr>
          <p:cNvPicPr>
            <a:picLocks noChangeAspect="1"/>
          </p:cNvPicPr>
          <p:nvPr/>
        </p:nvPicPr>
        <p:blipFill>
          <a:blip r:embed="rId3">
            <a:alphaModFix amt="80000"/>
          </a:blip>
          <a:stretch>
            <a:fillRect/>
          </a:stretch>
        </p:blipFill>
        <p:spPr>
          <a:xfrm>
            <a:off x="6217920" y="2926080"/>
            <a:ext cx="2926080" cy="2194560"/>
          </a:xfrm>
          <a:prstGeom prst="rect">
            <a:avLst/>
          </a:prstGeom>
        </p:spPr>
      </p:pic>
      <p:sp>
        <p:nvSpPr>
          <p:cNvPr id="3" name="Text 0">
            <a:extLst>
              <a:ext uri="{FF2B5EF4-FFF2-40B4-BE49-F238E27FC236}">
                <a16:creationId xmlns:a16="http://schemas.microsoft.com/office/drawing/2014/main" id="{D121B047-7845-33DE-E6B9-E92909C0D156}"/>
              </a:ext>
            </a:extLst>
          </p:cNvPr>
          <p:cNvSpPr/>
          <p:nvPr/>
        </p:nvSpPr>
        <p:spPr>
          <a:xfrm>
            <a:off x="365760" y="137160"/>
            <a:ext cx="8412480" cy="475488"/>
          </a:xfrm>
          <a:prstGeom prst="rect">
            <a:avLst/>
          </a:prstGeom>
          <a:noFill/>
          <a:ln/>
        </p:spPr>
        <p:txBody>
          <a:bodyPr wrap="square" lIns="0" tIns="0" rIns="0" bIns="0" rtlCol="0" anchor="ctr"/>
          <a:lstStyle/>
          <a:p>
            <a:r>
              <a:rPr lang="en-US" sz="2000" b="1" dirty="0">
                <a:solidFill>
                  <a:srgbClr val="0C0A9E"/>
                </a:solidFill>
                <a:latin typeface="Poppins" pitchFamily="34" charset="0"/>
                <a:ea typeface="Poppins" pitchFamily="34" charset="-122"/>
                <a:cs typeface="Poppins" pitchFamily="34" charset="-120"/>
              </a:rPr>
              <a:t>Prior Art &amp; Anticipated Challenges</a:t>
            </a:r>
            <a:endParaRPr lang="en-US" sz="2000" dirty="0"/>
          </a:p>
        </p:txBody>
      </p:sp>
      <p:sp>
        <p:nvSpPr>
          <p:cNvPr id="4" name="Shape 1">
            <a:extLst>
              <a:ext uri="{FF2B5EF4-FFF2-40B4-BE49-F238E27FC236}">
                <a16:creationId xmlns:a16="http://schemas.microsoft.com/office/drawing/2014/main" id="{503B2C1F-1C29-4357-DBA7-9A3771E0DB11}"/>
              </a:ext>
            </a:extLst>
          </p:cNvPr>
          <p:cNvSpPr/>
          <p:nvPr/>
        </p:nvSpPr>
        <p:spPr>
          <a:xfrm>
            <a:off x="365760" y="621792"/>
            <a:ext cx="1280160" cy="50292"/>
          </a:xfrm>
          <a:prstGeom prst="rect">
            <a:avLst/>
          </a:prstGeom>
          <a:solidFill>
            <a:srgbClr val="FF9900"/>
          </a:solidFill>
          <a:ln/>
        </p:spPr>
        <p:txBody>
          <a:bodyPr/>
          <a:lstStyle/>
          <a:p>
            <a:endParaRPr lang="en-US"/>
          </a:p>
        </p:txBody>
      </p:sp>
      <p:sp>
        <p:nvSpPr>
          <p:cNvPr id="7" name="Text 4">
            <a:extLst>
              <a:ext uri="{FF2B5EF4-FFF2-40B4-BE49-F238E27FC236}">
                <a16:creationId xmlns:a16="http://schemas.microsoft.com/office/drawing/2014/main" id="{3AEBC112-2F69-AF71-62A6-AAB7EDCC7A70}"/>
              </a:ext>
            </a:extLst>
          </p:cNvPr>
          <p:cNvSpPr/>
          <p:nvPr/>
        </p:nvSpPr>
        <p:spPr>
          <a:xfrm>
            <a:off x="365759" y="1078992"/>
            <a:ext cx="7385375" cy="877824"/>
          </a:xfrm>
          <a:prstGeom prst="rect">
            <a:avLst/>
          </a:prstGeom>
          <a:noFill/>
          <a:ln/>
        </p:spPr>
        <p:txBody>
          <a:bodyPr wrap="square" rtlCol="0" anchor="ctr"/>
          <a:lstStyle/>
          <a:p>
            <a:pPr marL="342900" indent="-342900">
              <a:spcAft>
                <a:spcPts val="300"/>
              </a:spcAft>
              <a:buSzPct val="100000"/>
              <a:buChar char="•"/>
            </a:pPr>
            <a:endParaRPr lang="en-US" sz="1250" dirty="0"/>
          </a:p>
        </p:txBody>
      </p:sp>
      <p:sp>
        <p:nvSpPr>
          <p:cNvPr id="9" name="Text 6">
            <a:extLst>
              <a:ext uri="{FF2B5EF4-FFF2-40B4-BE49-F238E27FC236}">
                <a16:creationId xmlns:a16="http://schemas.microsoft.com/office/drawing/2014/main" id="{01D6A608-07B3-B47E-BA23-06D2580E980A}"/>
              </a:ext>
            </a:extLst>
          </p:cNvPr>
          <p:cNvSpPr/>
          <p:nvPr/>
        </p:nvSpPr>
        <p:spPr>
          <a:xfrm>
            <a:off x="365759" y="2331720"/>
            <a:ext cx="7247153" cy="1188720"/>
          </a:xfrm>
          <a:prstGeom prst="rect">
            <a:avLst/>
          </a:prstGeom>
          <a:noFill/>
          <a:ln/>
        </p:spPr>
        <p:txBody>
          <a:bodyPr wrap="square" rtlCol="0" anchor="ctr"/>
          <a:lstStyle/>
          <a:p>
            <a:pPr marL="342900" indent="-342900">
              <a:spcAft>
                <a:spcPts val="300"/>
              </a:spcAft>
              <a:buSzPct val="100000"/>
              <a:buChar char="•"/>
            </a:pPr>
            <a:endParaRPr lang="en-US" sz="1250" dirty="0"/>
          </a:p>
        </p:txBody>
      </p:sp>
      <p:sp>
        <p:nvSpPr>
          <p:cNvPr id="11" name="TextBox 10">
            <a:extLst>
              <a:ext uri="{FF2B5EF4-FFF2-40B4-BE49-F238E27FC236}">
                <a16:creationId xmlns:a16="http://schemas.microsoft.com/office/drawing/2014/main" id="{E7574B97-EB8E-FD8F-8083-118638EC2B32}"/>
              </a:ext>
            </a:extLst>
          </p:cNvPr>
          <p:cNvSpPr txBox="1"/>
          <p:nvPr/>
        </p:nvSpPr>
        <p:spPr>
          <a:xfrm>
            <a:off x="365759" y="906930"/>
            <a:ext cx="6228290" cy="1938992"/>
          </a:xfrm>
          <a:prstGeom prst="rect">
            <a:avLst/>
          </a:prstGeom>
          <a:noFill/>
        </p:spPr>
        <p:txBody>
          <a:bodyPr wrap="square">
            <a:spAutoFit/>
          </a:bodyPr>
          <a:lstStyle/>
          <a:p>
            <a:r>
              <a:rPr lang="en-US" sz="1200" b="1" dirty="0">
                <a:solidFill>
                  <a:srgbClr val="0C0A9E"/>
                </a:solidFill>
                <a:latin typeface="Poppins" panose="00000500000000000000" pitchFamily="2" charset="0"/>
                <a:cs typeface="Poppins" panose="00000500000000000000" pitchFamily="2" charset="0"/>
              </a:rPr>
              <a:t>Shaalan &amp; Zakaria 2023 (</a:t>
            </a:r>
            <a:r>
              <a:rPr lang="en-US" sz="1200" b="1" dirty="0" err="1">
                <a:solidFill>
                  <a:srgbClr val="0C0A9E"/>
                </a:solidFill>
                <a:latin typeface="Poppins" panose="00000500000000000000" pitchFamily="2" charset="0"/>
                <a:cs typeface="Poppins" panose="00000500000000000000" pitchFamily="2" charset="0"/>
              </a:rPr>
              <a:t>ConcodePlus</a:t>
            </a:r>
            <a:r>
              <a:rPr lang="en-US" sz="1200" b="1" dirty="0">
                <a:solidFill>
                  <a:srgbClr val="0C0A9E"/>
                </a:solidFill>
                <a:latin typeface="Poppins" panose="00000500000000000000" pitchFamily="2" charset="0"/>
                <a:cs typeface="Poppins" panose="00000500000000000000" pitchFamily="2" charset="0"/>
              </a:rPr>
              <a:t>)</a:t>
            </a:r>
          </a:p>
          <a:p>
            <a:endParaRPr lang="en-US" sz="1200" b="1"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Fine-tuned CodeT5-small specifically on the Python subset of </a:t>
            </a:r>
            <a:r>
              <a:rPr lang="en-US" sz="1200" dirty="0" err="1">
                <a:latin typeface="Poppins" panose="00000500000000000000" pitchFamily="2" charset="0"/>
                <a:cs typeface="Poppins" panose="00000500000000000000" pitchFamily="2" charset="0"/>
              </a:rPr>
              <a:t>CodeSearchNet</a:t>
            </a:r>
            <a:r>
              <a:rPr lang="en-US" sz="1200" dirty="0">
                <a:latin typeface="Poppins" panose="00000500000000000000" pitchFamily="2" charset="0"/>
                <a:cs typeface="Poppins" panose="00000500000000000000" pitchFamily="2" charset="0"/>
              </a:rPr>
              <a:t> for automated code documentation</a:t>
            </a:r>
          </a:p>
          <a:p>
            <a:endParaRPr lang="en-US" sz="1200"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demonstrated that a lightweight 60M parameter model could generate meaningful docstrings when trained on high-quality, filtered pairs</a:t>
            </a:r>
          </a:p>
          <a:p>
            <a:endParaRPr lang="en-US" sz="1200"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introduced logic-enriched target summaries (</a:t>
            </a:r>
            <a:r>
              <a:rPr lang="en-US" sz="1200" dirty="0" err="1">
                <a:latin typeface="Poppins" panose="00000500000000000000" pitchFamily="2" charset="0"/>
                <a:cs typeface="Poppins" panose="00000500000000000000" pitchFamily="2" charset="0"/>
              </a:rPr>
              <a:t>PyPlus</a:t>
            </a:r>
            <a:r>
              <a:rPr lang="en-US" sz="1200" dirty="0">
                <a:latin typeface="Poppins" panose="00000500000000000000" pitchFamily="2" charset="0"/>
                <a:cs typeface="Poppins" panose="00000500000000000000" pitchFamily="2" charset="0"/>
              </a:rPr>
              <a:t>) that append block-level descriptions derived from the AST to the docstring</a:t>
            </a:r>
          </a:p>
        </p:txBody>
      </p:sp>
      <p:sp>
        <p:nvSpPr>
          <p:cNvPr id="6" name="Shape 23">
            <a:extLst>
              <a:ext uri="{FF2B5EF4-FFF2-40B4-BE49-F238E27FC236}">
                <a16:creationId xmlns:a16="http://schemas.microsoft.com/office/drawing/2014/main" id="{DA55B2EE-B3D4-5FFE-C5A0-358374E9322C}"/>
              </a:ext>
            </a:extLst>
          </p:cNvPr>
          <p:cNvSpPr/>
          <p:nvPr/>
        </p:nvSpPr>
        <p:spPr>
          <a:xfrm>
            <a:off x="365760" y="4736592"/>
            <a:ext cx="8412480" cy="0"/>
          </a:xfrm>
          <a:prstGeom prst="line">
            <a:avLst/>
          </a:prstGeom>
          <a:noFill/>
          <a:ln w="8890">
            <a:solidFill>
              <a:srgbClr val="C5C6E8"/>
            </a:solidFill>
            <a:prstDash val="solid"/>
          </a:ln>
        </p:spPr>
        <p:txBody>
          <a:bodyPr/>
          <a:lstStyle/>
          <a:p>
            <a:endParaRPr lang="en-US"/>
          </a:p>
        </p:txBody>
      </p:sp>
      <p:sp>
        <p:nvSpPr>
          <p:cNvPr id="8" name="Text 24">
            <a:extLst>
              <a:ext uri="{FF2B5EF4-FFF2-40B4-BE49-F238E27FC236}">
                <a16:creationId xmlns:a16="http://schemas.microsoft.com/office/drawing/2014/main" id="{3DC4A090-4AAD-8677-C049-F1D6E811C07E}"/>
              </a:ext>
            </a:extLst>
          </p:cNvPr>
          <p:cNvSpPr/>
          <p:nvPr/>
        </p:nvSpPr>
        <p:spPr>
          <a:xfrm>
            <a:off x="365760" y="4773168"/>
            <a:ext cx="7772400" cy="201168"/>
          </a:xfrm>
          <a:prstGeom prst="rect">
            <a:avLst/>
          </a:prstGeom>
          <a:noFill/>
          <a:ln/>
        </p:spPr>
        <p:txBody>
          <a:bodyPr wrap="square" rtlCol="0" anchor="ctr"/>
          <a:lstStyle/>
          <a:p>
            <a:r>
              <a:rPr lang="en-US" sz="800" i="1" dirty="0">
                <a:latin typeface="Poppins" panose="00000500000000000000" pitchFamily="2" charset="0"/>
                <a:cs typeface="Poppins" panose="00000500000000000000" pitchFamily="2" charset="0"/>
              </a:rPr>
              <a:t>Wang et al. (2021). CodeT5: Identifier-aware Unified Pre-trained Encoder-Decoder Models for Code Understanding and Generation. EMNLP 2021. </a:t>
            </a:r>
            <a:endParaRPr lang="en-US" sz="750" i="1" dirty="0">
              <a:solidFill>
                <a:schemeClr val="tx2"/>
              </a:solidFill>
              <a:latin typeface="Poppins" panose="00000500000000000000" pitchFamily="2" charset="0"/>
              <a:cs typeface="Poppins" panose="00000500000000000000" pitchFamily="2" charset="0"/>
            </a:endParaRPr>
          </a:p>
        </p:txBody>
      </p:sp>
      <p:sp>
        <p:nvSpPr>
          <p:cNvPr id="13" name="TextBox 12">
            <a:extLst>
              <a:ext uri="{FF2B5EF4-FFF2-40B4-BE49-F238E27FC236}">
                <a16:creationId xmlns:a16="http://schemas.microsoft.com/office/drawing/2014/main" id="{F4434757-5D46-DC1A-3A09-A892493C5267}"/>
              </a:ext>
            </a:extLst>
          </p:cNvPr>
          <p:cNvSpPr txBox="1"/>
          <p:nvPr/>
        </p:nvSpPr>
        <p:spPr>
          <a:xfrm>
            <a:off x="365761" y="3342543"/>
            <a:ext cx="7772399" cy="1015663"/>
          </a:xfrm>
          <a:prstGeom prst="rect">
            <a:avLst/>
          </a:prstGeom>
          <a:noFill/>
        </p:spPr>
        <p:txBody>
          <a:bodyPr wrap="square">
            <a:spAutoFit/>
          </a:bodyPr>
          <a:lstStyle/>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GPU memory and compute budget may not be sufficient for task</a:t>
            </a:r>
          </a:p>
          <a:p>
            <a:endParaRPr lang="en-US" sz="1200"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Dataset scale is extensive with over 2 million samples in 6 languages, requires reduction</a:t>
            </a:r>
          </a:p>
          <a:p>
            <a:endParaRPr lang="en-US" sz="1200"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Filters selected must capture high quality data and remove noise </a:t>
            </a:r>
          </a:p>
        </p:txBody>
      </p:sp>
      <p:sp>
        <p:nvSpPr>
          <p:cNvPr id="15" name="TextBox 14">
            <a:extLst>
              <a:ext uri="{FF2B5EF4-FFF2-40B4-BE49-F238E27FC236}">
                <a16:creationId xmlns:a16="http://schemas.microsoft.com/office/drawing/2014/main" id="{0AD7BBFD-D724-1EAA-0383-2CD871E5D7C4}"/>
              </a:ext>
            </a:extLst>
          </p:cNvPr>
          <p:cNvSpPr txBox="1"/>
          <p:nvPr/>
        </p:nvSpPr>
        <p:spPr>
          <a:xfrm>
            <a:off x="365760" y="3009016"/>
            <a:ext cx="4572000" cy="276999"/>
          </a:xfrm>
          <a:prstGeom prst="rect">
            <a:avLst/>
          </a:prstGeom>
          <a:noFill/>
        </p:spPr>
        <p:txBody>
          <a:bodyPr wrap="square">
            <a:spAutoFit/>
          </a:bodyPr>
          <a:lstStyle/>
          <a:p>
            <a:r>
              <a:rPr lang="en-US" sz="1200" b="1" dirty="0">
                <a:solidFill>
                  <a:srgbClr val="0C0A9E"/>
                </a:solidFill>
                <a:latin typeface="Poppins" panose="00000500000000000000" pitchFamily="2" charset="0"/>
                <a:cs typeface="Poppins" panose="00000500000000000000" pitchFamily="2" charset="0"/>
              </a:rPr>
              <a:t>Challenges</a:t>
            </a:r>
          </a:p>
        </p:txBody>
      </p:sp>
      <p:sp>
        <p:nvSpPr>
          <p:cNvPr id="16" name="TextBox 15"/>
          <p:cNvSpPr txBox="1"/>
          <p:nvPr/>
        </p:nvSpPr>
        <p:spPr>
          <a:xfrm>
            <a:off x="8412480" y="4750308"/>
            <a:ext cx="320040" cy="228600"/>
          </a:xfrm>
          <a:prstGeom prst="rect">
            <a:avLst/>
          </a:prstGeom>
          <a:noFill/>
        </p:spPr>
        <p:txBody>
          <a:bodyPr wrap="none">
            <a:spAutoFit/>
          </a:bodyPr>
          <a:lstStyle/>
          <a:p>
            <a:pPr algn="r"/>
            <a:r>
              <a:rPr sz="1100" b="0">
                <a:solidFill>
                  <a:srgbClr val="0C0A9E"/>
                </a:solidFill>
              </a:rPr>
              <a:t>5</a:t>
            </a:r>
          </a:p>
        </p:txBody>
      </p:sp>
    </p:spTree>
    <p:extLst>
      <p:ext uri="{BB962C8B-B14F-4D97-AF65-F5344CB8AC3E}">
        <p14:creationId xmlns:p14="http://schemas.microsoft.com/office/powerpoint/2010/main" val="877813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EE1CCDD-BF90-7FC5-4880-865E70E5F997}"/>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7CB7D92-C0A6-FD2C-1525-EE106303FA42}"/>
              </a:ext>
            </a:extLst>
          </p:cNvPr>
          <p:cNvPicPr>
            <a:picLocks noChangeAspect="1"/>
          </p:cNvPicPr>
          <p:nvPr/>
        </p:nvPicPr>
        <p:blipFill>
          <a:blip r:embed="rId3">
            <a:alphaModFix amt="80000"/>
          </a:blip>
          <a:stretch>
            <a:fillRect/>
          </a:stretch>
        </p:blipFill>
        <p:spPr>
          <a:xfrm>
            <a:off x="6217920" y="2926080"/>
            <a:ext cx="2926080" cy="2194560"/>
          </a:xfrm>
          <a:prstGeom prst="rect">
            <a:avLst/>
          </a:prstGeom>
        </p:spPr>
      </p:pic>
      <p:sp>
        <p:nvSpPr>
          <p:cNvPr id="3" name="Text 0">
            <a:extLst>
              <a:ext uri="{FF2B5EF4-FFF2-40B4-BE49-F238E27FC236}">
                <a16:creationId xmlns:a16="http://schemas.microsoft.com/office/drawing/2014/main" id="{F2DC0E07-2574-A431-16FC-3A8ADAE6A600}"/>
              </a:ext>
            </a:extLst>
          </p:cNvPr>
          <p:cNvSpPr/>
          <p:nvPr/>
        </p:nvSpPr>
        <p:spPr>
          <a:xfrm>
            <a:off x="365760" y="137160"/>
            <a:ext cx="8412480" cy="475488"/>
          </a:xfrm>
          <a:prstGeom prst="rect">
            <a:avLst/>
          </a:prstGeom>
          <a:noFill/>
          <a:ln/>
        </p:spPr>
        <p:txBody>
          <a:bodyPr wrap="square" lIns="0" tIns="0" rIns="0" bIns="0" rtlCol="0" anchor="ctr"/>
          <a:lstStyle/>
          <a:p>
            <a:pPr marL="0" indent="0">
              <a:buNone/>
            </a:pPr>
            <a:r>
              <a:rPr lang="en-US" sz="2000" b="1" dirty="0">
                <a:solidFill>
                  <a:srgbClr val="0C0A9E"/>
                </a:solidFill>
                <a:latin typeface="Poppins" pitchFamily="34" charset="0"/>
                <a:ea typeface="Poppins" pitchFamily="34" charset="-122"/>
                <a:cs typeface="Poppins" pitchFamily="34" charset="-120"/>
              </a:rPr>
              <a:t>Data Sources &amp; Description</a:t>
            </a:r>
            <a:endParaRPr lang="en-US" sz="2000" dirty="0"/>
          </a:p>
        </p:txBody>
      </p:sp>
      <p:sp>
        <p:nvSpPr>
          <p:cNvPr id="4" name="Shape 1">
            <a:extLst>
              <a:ext uri="{FF2B5EF4-FFF2-40B4-BE49-F238E27FC236}">
                <a16:creationId xmlns:a16="http://schemas.microsoft.com/office/drawing/2014/main" id="{9BF97100-0BBF-F63C-75D5-AB43AB5A929E}"/>
              </a:ext>
            </a:extLst>
          </p:cNvPr>
          <p:cNvSpPr/>
          <p:nvPr/>
        </p:nvSpPr>
        <p:spPr>
          <a:xfrm>
            <a:off x="365760" y="621792"/>
            <a:ext cx="1280160" cy="50292"/>
          </a:xfrm>
          <a:prstGeom prst="rect">
            <a:avLst/>
          </a:prstGeom>
          <a:solidFill>
            <a:srgbClr val="FF9900"/>
          </a:solidFill>
          <a:ln/>
        </p:spPr>
        <p:txBody>
          <a:bodyPr/>
          <a:lstStyle/>
          <a:p>
            <a:endParaRPr lang="en-US"/>
          </a:p>
        </p:txBody>
      </p:sp>
      <p:sp>
        <p:nvSpPr>
          <p:cNvPr id="22" name="Text 19">
            <a:extLst>
              <a:ext uri="{FF2B5EF4-FFF2-40B4-BE49-F238E27FC236}">
                <a16:creationId xmlns:a16="http://schemas.microsoft.com/office/drawing/2014/main" id="{F57384D1-3FB3-A7C6-B117-A13FACF55396}"/>
              </a:ext>
            </a:extLst>
          </p:cNvPr>
          <p:cNvSpPr/>
          <p:nvPr/>
        </p:nvSpPr>
        <p:spPr>
          <a:xfrm>
            <a:off x="365760" y="831360"/>
            <a:ext cx="4114800" cy="256032"/>
          </a:xfrm>
          <a:prstGeom prst="rect">
            <a:avLst/>
          </a:prstGeom>
          <a:noFill/>
          <a:ln/>
        </p:spPr>
        <p:txBody>
          <a:bodyPr wrap="square" lIns="0" tIns="0" rIns="0" bIns="0" rtlCol="0" anchor="ctr"/>
          <a:lstStyle/>
          <a:p>
            <a:pPr marL="0" indent="0">
              <a:buNone/>
            </a:pPr>
            <a:r>
              <a:rPr lang="en-US" sz="1300" b="1" dirty="0">
                <a:solidFill>
                  <a:srgbClr val="0C0A9E"/>
                </a:solidFill>
                <a:latin typeface="Poppins" pitchFamily="34" charset="0"/>
                <a:ea typeface="Poppins" pitchFamily="34" charset="-122"/>
                <a:cs typeface="Poppins" pitchFamily="34" charset="-120"/>
              </a:rPr>
              <a:t>CodeSearchNet — Python</a:t>
            </a:r>
            <a:endParaRPr lang="en-US" sz="1300" dirty="0"/>
          </a:p>
        </p:txBody>
      </p:sp>
      <p:sp>
        <p:nvSpPr>
          <p:cNvPr id="23" name="Text 20">
            <a:extLst>
              <a:ext uri="{FF2B5EF4-FFF2-40B4-BE49-F238E27FC236}">
                <a16:creationId xmlns:a16="http://schemas.microsoft.com/office/drawing/2014/main" id="{5FA9D98C-C202-B081-E084-4DDB7363F090}"/>
              </a:ext>
            </a:extLst>
          </p:cNvPr>
          <p:cNvSpPr/>
          <p:nvPr/>
        </p:nvSpPr>
        <p:spPr>
          <a:xfrm>
            <a:off x="307281" y="976281"/>
            <a:ext cx="4114800" cy="2286000"/>
          </a:xfrm>
          <a:prstGeom prst="rect">
            <a:avLst/>
          </a:prstGeom>
          <a:noFill/>
          <a:ln/>
        </p:spPr>
        <p:txBody>
          <a:bodyPr wrap="square" rtlCol="0" anchor="ctr"/>
          <a:lstStyle/>
          <a:p>
            <a:pPr marL="342900" indent="-342900">
              <a:spcAft>
                <a:spcPts val="300"/>
              </a:spcAft>
              <a:buSzPct val="100000"/>
              <a:buChar char="•"/>
            </a:pPr>
            <a:endParaRPr lang="en-US" sz="1200" dirty="0"/>
          </a:p>
        </p:txBody>
      </p:sp>
      <p:sp>
        <p:nvSpPr>
          <p:cNvPr id="25" name="Text 22">
            <a:extLst>
              <a:ext uri="{FF2B5EF4-FFF2-40B4-BE49-F238E27FC236}">
                <a16:creationId xmlns:a16="http://schemas.microsoft.com/office/drawing/2014/main" id="{F5FD71C4-FEFF-D460-921A-3FD7CE42D25E}"/>
              </a:ext>
            </a:extLst>
          </p:cNvPr>
          <p:cNvSpPr/>
          <p:nvPr/>
        </p:nvSpPr>
        <p:spPr>
          <a:xfrm>
            <a:off x="4663440" y="2103120"/>
            <a:ext cx="4114800" cy="2286000"/>
          </a:xfrm>
          <a:prstGeom prst="rect">
            <a:avLst/>
          </a:prstGeom>
          <a:noFill/>
          <a:ln/>
        </p:spPr>
        <p:txBody>
          <a:bodyPr wrap="square" rtlCol="0" anchor="ctr"/>
          <a:lstStyle/>
          <a:p>
            <a:pPr marL="342900" indent="-342900">
              <a:spcAft>
                <a:spcPts val="300"/>
              </a:spcAft>
              <a:buSzPct val="100000"/>
              <a:buChar char="•"/>
            </a:pPr>
            <a:endParaRPr lang="en-US" sz="1200" dirty="0"/>
          </a:p>
        </p:txBody>
      </p:sp>
      <p:sp>
        <p:nvSpPr>
          <p:cNvPr id="26" name="Shape 23">
            <a:extLst>
              <a:ext uri="{FF2B5EF4-FFF2-40B4-BE49-F238E27FC236}">
                <a16:creationId xmlns:a16="http://schemas.microsoft.com/office/drawing/2014/main" id="{8273A58C-0F02-EB50-9429-CD6B03B8E5E2}"/>
              </a:ext>
            </a:extLst>
          </p:cNvPr>
          <p:cNvSpPr/>
          <p:nvPr/>
        </p:nvSpPr>
        <p:spPr>
          <a:xfrm>
            <a:off x="365760" y="4507217"/>
            <a:ext cx="8412480" cy="0"/>
          </a:xfrm>
          <a:prstGeom prst="line">
            <a:avLst/>
          </a:prstGeom>
          <a:noFill/>
          <a:ln w="8890">
            <a:solidFill>
              <a:srgbClr val="C5C6E8"/>
            </a:solidFill>
            <a:prstDash val="solid"/>
          </a:ln>
        </p:spPr>
        <p:txBody>
          <a:bodyPr/>
          <a:lstStyle/>
          <a:p>
            <a:endParaRPr lang="en-US"/>
          </a:p>
        </p:txBody>
      </p:sp>
      <p:sp>
        <p:nvSpPr>
          <p:cNvPr id="11" name="TextBox 10">
            <a:extLst>
              <a:ext uri="{FF2B5EF4-FFF2-40B4-BE49-F238E27FC236}">
                <a16:creationId xmlns:a16="http://schemas.microsoft.com/office/drawing/2014/main" id="{8ED55DF2-FF24-23D5-363C-9E13E79D8863}"/>
              </a:ext>
            </a:extLst>
          </p:cNvPr>
          <p:cNvSpPr txBox="1"/>
          <p:nvPr/>
        </p:nvSpPr>
        <p:spPr>
          <a:xfrm>
            <a:off x="307281" y="1145015"/>
            <a:ext cx="5287528" cy="3231654"/>
          </a:xfrm>
          <a:prstGeom prst="rect">
            <a:avLst/>
          </a:prstGeom>
          <a:noFill/>
        </p:spPr>
        <p:txBody>
          <a:bodyPr wrap="square">
            <a:spAutoFit/>
          </a:bodyPr>
          <a:lstStyle/>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Source: Hugging Face, contains 412,178 Python functions</a:t>
            </a:r>
          </a:p>
          <a:p>
            <a:pPr marL="171450" indent="-171450">
              <a:buFont typeface="Arial" panose="020B0604020202020204" pitchFamily="34" charset="0"/>
              <a:buChar char="•"/>
            </a:pPr>
            <a:endParaRPr lang="en-US" sz="1200"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Fields: </a:t>
            </a:r>
          </a:p>
          <a:p>
            <a:pPr marL="628650" lvl="1"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full function code</a:t>
            </a:r>
          </a:p>
          <a:p>
            <a:pPr marL="628650" lvl="1"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Docstring</a:t>
            </a:r>
          </a:p>
          <a:p>
            <a:pPr marL="628650" lvl="1"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tokenized representations</a:t>
            </a:r>
          </a:p>
          <a:p>
            <a:pPr marL="628650" lvl="1"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repository metadata</a:t>
            </a:r>
          </a:p>
          <a:p>
            <a:pPr marL="171450" indent="-171450">
              <a:buFont typeface="Arial" panose="020B0604020202020204" pitchFamily="34" charset="0"/>
              <a:buChar char="•"/>
            </a:pPr>
            <a:endParaRPr lang="en-US" sz="1200"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~30% of raw samples contained noise: </a:t>
            </a:r>
          </a:p>
          <a:p>
            <a:pPr marL="628650" lvl="1"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placeholder docstrings, </a:t>
            </a:r>
          </a:p>
          <a:p>
            <a:pPr marL="628650" lvl="1"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single-word comments</a:t>
            </a:r>
          </a:p>
          <a:p>
            <a:pPr marL="628650" lvl="1"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near-empty bodies</a:t>
            </a:r>
          </a:p>
          <a:p>
            <a:pPr marL="171450" indent="-171450">
              <a:buFont typeface="Arial" panose="020B0604020202020204" pitchFamily="34" charset="0"/>
              <a:buChar char="•"/>
            </a:pPr>
            <a:endParaRPr lang="en-US" sz="1200"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Quality filter: </a:t>
            </a:r>
          </a:p>
          <a:p>
            <a:pPr marL="628650" lvl="1"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10–200 doc words</a:t>
            </a:r>
          </a:p>
          <a:p>
            <a:pPr marL="628650" lvl="1"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50–8,000 code chars, ≥3 identifiers</a:t>
            </a:r>
          </a:p>
          <a:p>
            <a:pPr marL="628650" lvl="1"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286K pairs retained (69.4%)</a:t>
            </a:r>
          </a:p>
        </p:txBody>
      </p:sp>
      <p:sp>
        <p:nvSpPr>
          <p:cNvPr id="12" name="TextBox 11">
            <a:extLst>
              <a:ext uri="{FF2B5EF4-FFF2-40B4-BE49-F238E27FC236}">
                <a16:creationId xmlns:a16="http://schemas.microsoft.com/office/drawing/2014/main" id="{442811BC-CF94-7D8C-E9EF-FE14CCF65E02}"/>
              </a:ext>
            </a:extLst>
          </p:cNvPr>
          <p:cNvSpPr txBox="1"/>
          <p:nvPr/>
        </p:nvSpPr>
        <p:spPr>
          <a:xfrm>
            <a:off x="365760" y="4521708"/>
            <a:ext cx="8019382" cy="323165"/>
          </a:xfrm>
          <a:prstGeom prst="rect">
            <a:avLst/>
          </a:prstGeom>
          <a:noFill/>
        </p:spPr>
        <p:txBody>
          <a:bodyPr wrap="square">
            <a:spAutoFit/>
          </a:bodyPr>
          <a:lstStyle/>
          <a:p>
            <a:r>
              <a:rPr lang="en-US" sz="750" dirty="0">
                <a:solidFill>
                  <a:schemeClr val="tx2"/>
                </a:solidFill>
                <a:latin typeface="Poppins" panose="00000500000000000000" pitchFamily="2" charset="0"/>
                <a:cs typeface="Poppins" panose="00000500000000000000" pitchFamily="2" charset="0"/>
              </a:rPr>
              <a:t>Husain, H., Wu, H., Gazit, T., Allamanis, M., &amp; Brockschmidt, M. (2019). </a:t>
            </a:r>
            <a:r>
              <a:rPr lang="en-US" sz="750" dirty="0" err="1">
                <a:solidFill>
                  <a:schemeClr val="tx2"/>
                </a:solidFill>
                <a:latin typeface="Poppins" panose="00000500000000000000" pitchFamily="2" charset="0"/>
                <a:cs typeface="Poppins" panose="00000500000000000000" pitchFamily="2" charset="0"/>
              </a:rPr>
              <a:t>CodeSearchNet</a:t>
            </a:r>
            <a:r>
              <a:rPr lang="en-US" sz="750" dirty="0">
                <a:solidFill>
                  <a:schemeClr val="tx2"/>
                </a:solidFill>
                <a:latin typeface="Poppins" panose="00000500000000000000" pitchFamily="2" charset="0"/>
                <a:cs typeface="Poppins" panose="00000500000000000000" pitchFamily="2" charset="0"/>
              </a:rPr>
              <a:t> Challenge: Evaluating the State of Semantic Code Search. Retrieved from: https://huggingface.co/datasets/code-search-net/code_search_net</a:t>
            </a:r>
          </a:p>
        </p:txBody>
      </p:sp>
      <p:sp>
        <p:nvSpPr>
          <p:cNvPr id="27" name="TextBox 26"/>
          <p:cNvSpPr txBox="1"/>
          <p:nvPr/>
        </p:nvSpPr>
        <p:spPr>
          <a:xfrm>
            <a:off x="8412480" y="4750308"/>
            <a:ext cx="320040" cy="228600"/>
          </a:xfrm>
          <a:prstGeom prst="rect">
            <a:avLst/>
          </a:prstGeom>
          <a:noFill/>
        </p:spPr>
        <p:txBody>
          <a:bodyPr wrap="none">
            <a:spAutoFit/>
          </a:bodyPr>
          <a:lstStyle/>
          <a:p>
            <a:pPr algn="r"/>
            <a:r>
              <a:rPr sz="1100" b="0">
                <a:solidFill>
                  <a:srgbClr val="0C0A9E"/>
                </a:solidFill>
              </a:rPr>
              <a:t>6</a:t>
            </a:r>
          </a:p>
        </p:txBody>
      </p:sp>
    </p:spTree>
    <p:extLst>
      <p:ext uri="{BB962C8B-B14F-4D97-AF65-F5344CB8AC3E}">
        <p14:creationId xmlns:p14="http://schemas.microsoft.com/office/powerpoint/2010/main" val="330636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365760" y="137160"/>
            <a:ext cx="8412480" cy="475488"/>
          </a:xfrm>
          <a:prstGeom prst="rect">
            <a:avLst/>
          </a:prstGeom>
          <a:noFill/>
          <a:ln/>
        </p:spPr>
        <p:txBody>
          <a:bodyPr wrap="square" lIns="0" tIns="0" rIns="0" bIns="0" rtlCol="0" anchor="ctr"/>
          <a:lstStyle/>
          <a:p>
            <a:pPr marL="0" indent="0">
              <a:buNone/>
            </a:pPr>
            <a:r>
              <a:rPr lang="en-US" sz="2000" b="1" dirty="0">
                <a:solidFill>
                  <a:srgbClr val="0C0A9E"/>
                </a:solidFill>
                <a:latin typeface="Poppins" pitchFamily="34" charset="0"/>
                <a:ea typeface="Poppins" pitchFamily="34" charset="-122"/>
                <a:cs typeface="Poppins" pitchFamily="34" charset="-120"/>
              </a:rPr>
              <a:t>Data Sources &amp; Description</a:t>
            </a:r>
            <a:endParaRPr lang="en-US" sz="2000" dirty="0"/>
          </a:p>
        </p:txBody>
      </p:sp>
      <p:sp>
        <p:nvSpPr>
          <p:cNvPr id="4" name="Shape 1"/>
          <p:cNvSpPr/>
          <p:nvPr/>
        </p:nvSpPr>
        <p:spPr>
          <a:xfrm>
            <a:off x="365760" y="621792"/>
            <a:ext cx="1280160" cy="50292"/>
          </a:xfrm>
          <a:prstGeom prst="rect">
            <a:avLst/>
          </a:prstGeom>
          <a:solidFill>
            <a:srgbClr val="FF9900"/>
          </a:solidFill>
          <a:ln/>
        </p:spPr>
        <p:txBody>
          <a:bodyPr/>
          <a:lstStyle/>
          <a:p>
            <a:endParaRPr lang="en-US"/>
          </a:p>
        </p:txBody>
      </p:sp>
      <p:sp>
        <p:nvSpPr>
          <p:cNvPr id="22" name="Text 19"/>
          <p:cNvSpPr/>
          <p:nvPr/>
        </p:nvSpPr>
        <p:spPr>
          <a:xfrm>
            <a:off x="365760" y="831360"/>
            <a:ext cx="4114800" cy="256032"/>
          </a:xfrm>
          <a:prstGeom prst="rect">
            <a:avLst/>
          </a:prstGeom>
          <a:noFill/>
          <a:ln/>
        </p:spPr>
        <p:txBody>
          <a:bodyPr wrap="square" lIns="0" tIns="0" rIns="0" bIns="0" rtlCol="0" anchor="ctr"/>
          <a:lstStyle/>
          <a:p>
            <a:r>
              <a:rPr lang="en-US" sz="1300" b="1" dirty="0">
                <a:solidFill>
                  <a:srgbClr val="0C0A9E"/>
                </a:solidFill>
                <a:latin typeface="Poppins" pitchFamily="34" charset="0"/>
                <a:ea typeface="Poppins" pitchFamily="34" charset="-122"/>
                <a:cs typeface="Poppins" pitchFamily="34" charset="-120"/>
              </a:rPr>
              <a:t>GitHub Issues Dataset</a:t>
            </a:r>
            <a:endParaRPr lang="en-US" sz="1300" dirty="0"/>
          </a:p>
        </p:txBody>
      </p:sp>
      <p:sp>
        <p:nvSpPr>
          <p:cNvPr id="23" name="Text 20"/>
          <p:cNvSpPr/>
          <p:nvPr/>
        </p:nvSpPr>
        <p:spPr>
          <a:xfrm>
            <a:off x="365760" y="1197441"/>
            <a:ext cx="4114800" cy="2286000"/>
          </a:xfrm>
          <a:prstGeom prst="rect">
            <a:avLst/>
          </a:prstGeom>
          <a:noFill/>
          <a:ln/>
        </p:spPr>
        <p:txBody>
          <a:bodyPr wrap="square" rtlCol="0" anchor="ctr"/>
          <a:lstStyle/>
          <a:p>
            <a:pPr marL="342900" indent="-342900">
              <a:spcAft>
                <a:spcPts val="300"/>
              </a:spcAft>
              <a:buSzPct val="100000"/>
              <a:buChar char="•"/>
            </a:pPr>
            <a:endParaRPr lang="en-US" sz="1200" dirty="0"/>
          </a:p>
        </p:txBody>
      </p:sp>
      <p:sp>
        <p:nvSpPr>
          <p:cNvPr id="26" name="Shape 23"/>
          <p:cNvSpPr/>
          <p:nvPr/>
        </p:nvSpPr>
        <p:spPr>
          <a:xfrm>
            <a:off x="422321" y="4467928"/>
            <a:ext cx="8412480" cy="0"/>
          </a:xfrm>
          <a:prstGeom prst="line">
            <a:avLst/>
          </a:prstGeom>
          <a:noFill/>
          <a:ln w="8890">
            <a:solidFill>
              <a:srgbClr val="C5C6E8"/>
            </a:solidFill>
            <a:prstDash val="solid"/>
          </a:ln>
        </p:spPr>
        <p:txBody>
          <a:bodyPr/>
          <a:lstStyle/>
          <a:p>
            <a:endParaRPr lang="en-US"/>
          </a:p>
        </p:txBody>
      </p:sp>
      <p:sp>
        <p:nvSpPr>
          <p:cNvPr id="9" name="TextBox 8">
            <a:extLst>
              <a:ext uri="{FF2B5EF4-FFF2-40B4-BE49-F238E27FC236}">
                <a16:creationId xmlns:a16="http://schemas.microsoft.com/office/drawing/2014/main" id="{06DDC076-4CA1-6A48-5AA4-62BFEDE59739}"/>
              </a:ext>
            </a:extLst>
          </p:cNvPr>
          <p:cNvSpPr txBox="1"/>
          <p:nvPr/>
        </p:nvSpPr>
        <p:spPr>
          <a:xfrm>
            <a:off x="365760" y="1202549"/>
            <a:ext cx="5163061" cy="2308324"/>
          </a:xfrm>
          <a:prstGeom prst="rect">
            <a:avLst/>
          </a:prstGeom>
          <a:noFill/>
        </p:spPr>
        <p:txBody>
          <a:bodyPr wrap="square">
            <a:spAutoFit/>
          </a:bodyPr>
          <a:lstStyle/>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Source: </a:t>
            </a:r>
            <a:r>
              <a:rPr lang="en-US" sz="1200" dirty="0" err="1">
                <a:latin typeface="Poppins" panose="00000500000000000000" pitchFamily="2" charset="0"/>
                <a:cs typeface="Poppins" panose="00000500000000000000" pitchFamily="2" charset="0"/>
              </a:rPr>
              <a:t>HuggingFace</a:t>
            </a:r>
            <a:r>
              <a:rPr lang="en-US" sz="1200" dirty="0">
                <a:latin typeface="Poppins" panose="00000500000000000000" pitchFamily="2" charset="0"/>
                <a:cs typeface="Poppins" panose="00000500000000000000" pitchFamily="2" charset="0"/>
              </a:rPr>
              <a:t>, contains 114,073 real-world issues</a:t>
            </a:r>
          </a:p>
          <a:p>
            <a:pPr marL="171450" indent="-171450">
              <a:buFont typeface="Arial" panose="020B0604020202020204" pitchFamily="34" charset="0"/>
              <a:buChar char="•"/>
            </a:pPr>
            <a:endParaRPr lang="en-US" sz="1200"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Fields: title, body, labels, priority, severity</a:t>
            </a:r>
          </a:p>
          <a:p>
            <a:pPr marL="171450" indent="-171450">
              <a:buFont typeface="Arial" panose="020B0604020202020204" pitchFamily="34" charset="0"/>
              <a:buChar char="•"/>
            </a:pPr>
            <a:endParaRPr lang="en-US" sz="1200"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Body length highly variable, ranged from one-liners to full incident reports</a:t>
            </a:r>
          </a:p>
          <a:p>
            <a:pPr marL="171450" indent="-171450">
              <a:buFont typeface="Arial" panose="020B0604020202020204" pitchFamily="34" charset="0"/>
              <a:buChar char="•"/>
            </a:pPr>
            <a:endParaRPr lang="en-US" sz="1200"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48.3% contain embedded code blocks</a:t>
            </a:r>
          </a:p>
          <a:p>
            <a:pPr marL="171450" indent="-171450">
              <a:buFont typeface="Arial" panose="020B0604020202020204" pitchFamily="34" charset="0"/>
              <a:buChar char="•"/>
            </a:pPr>
            <a:endParaRPr lang="en-US" sz="1200"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Quality filter: title ≥3 words, body 20–600 words, no generic titles ("bug", "fix") → 100,947 retained (88.5%)</a:t>
            </a:r>
          </a:p>
          <a:p>
            <a:pPr marL="171450" indent="-171450">
              <a:buFont typeface="Arial" panose="020B0604020202020204" pitchFamily="34" charset="0"/>
              <a:buChar char="•"/>
            </a:pPr>
            <a:endParaRPr lang="en-US" sz="1200" dirty="0">
              <a:latin typeface="Poppins" panose="00000500000000000000" pitchFamily="2" charset="0"/>
              <a:cs typeface="Poppins" panose="00000500000000000000" pitchFamily="2" charset="0"/>
            </a:endParaRPr>
          </a:p>
        </p:txBody>
      </p:sp>
      <p:sp>
        <p:nvSpPr>
          <p:cNvPr id="11" name="TextBox 10">
            <a:extLst>
              <a:ext uri="{FF2B5EF4-FFF2-40B4-BE49-F238E27FC236}">
                <a16:creationId xmlns:a16="http://schemas.microsoft.com/office/drawing/2014/main" id="{3C201574-2B31-DF3E-1269-0BE65199D7F7}"/>
              </a:ext>
            </a:extLst>
          </p:cNvPr>
          <p:cNvSpPr txBox="1"/>
          <p:nvPr/>
        </p:nvSpPr>
        <p:spPr>
          <a:xfrm>
            <a:off x="365760" y="4558546"/>
            <a:ext cx="7220931" cy="215444"/>
          </a:xfrm>
          <a:prstGeom prst="rect">
            <a:avLst/>
          </a:prstGeom>
          <a:noFill/>
        </p:spPr>
        <p:txBody>
          <a:bodyPr wrap="square">
            <a:spAutoFit/>
          </a:bodyPr>
          <a:lstStyle/>
          <a:p>
            <a:r>
              <a:rPr lang="en-US" sz="750" i="1" dirty="0" err="1">
                <a:solidFill>
                  <a:schemeClr val="tx1">
                    <a:lumMod val="75000"/>
                    <a:lumOff val="25000"/>
                  </a:schemeClr>
                </a:solidFill>
                <a:latin typeface="Poppins" panose="00000500000000000000" pitchFamily="2" charset="0"/>
                <a:cs typeface="Poppins" panose="00000500000000000000" pitchFamily="2" charset="0"/>
              </a:rPr>
              <a:t>sharjeelyunus</a:t>
            </a:r>
            <a:r>
              <a:rPr lang="en-US" sz="750" i="1" dirty="0">
                <a:solidFill>
                  <a:schemeClr val="tx1">
                    <a:lumMod val="75000"/>
                    <a:lumOff val="25000"/>
                  </a:schemeClr>
                </a:solidFill>
                <a:latin typeface="Poppins" panose="00000500000000000000" pitchFamily="2" charset="0"/>
                <a:cs typeface="Poppins" panose="00000500000000000000" pitchFamily="2" charset="0"/>
              </a:rPr>
              <a:t> (2023). GitHub Issues Dataset. Retrieved from: https://huggingface.co/datasets/sharjeelyunus/github-issues-dataset</a:t>
            </a:r>
          </a:p>
        </p:txBody>
      </p:sp>
      <p:sp>
        <p:nvSpPr>
          <p:cNvPr id="27" name="TextBox 26"/>
          <p:cNvSpPr txBox="1"/>
          <p:nvPr/>
        </p:nvSpPr>
        <p:spPr>
          <a:xfrm>
            <a:off x="8412480" y="4750308"/>
            <a:ext cx="320040" cy="228600"/>
          </a:xfrm>
          <a:prstGeom prst="rect">
            <a:avLst/>
          </a:prstGeom>
          <a:noFill/>
        </p:spPr>
        <p:txBody>
          <a:bodyPr wrap="none">
            <a:spAutoFit/>
          </a:bodyPr>
          <a:lstStyle/>
          <a:p>
            <a:pPr algn="r"/>
            <a:r>
              <a:rPr sz="1100" b="0">
                <a:solidFill>
                  <a:srgbClr val="0C0A9E"/>
                </a:solidFil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217920" y="2948940"/>
            <a:ext cx="2926080" cy="2194560"/>
          </a:xfrm>
          <a:prstGeom prst="rect">
            <a:avLst/>
          </a:prstGeom>
        </p:spPr>
      </p:pic>
      <p:sp>
        <p:nvSpPr>
          <p:cNvPr id="3" name="Text 0"/>
          <p:cNvSpPr/>
          <p:nvPr/>
        </p:nvSpPr>
        <p:spPr>
          <a:xfrm>
            <a:off x="365760" y="137160"/>
            <a:ext cx="8412480" cy="475488"/>
          </a:xfrm>
          <a:prstGeom prst="rect">
            <a:avLst/>
          </a:prstGeom>
          <a:noFill/>
          <a:ln/>
        </p:spPr>
        <p:txBody>
          <a:bodyPr wrap="square" lIns="0" tIns="0" rIns="0" bIns="0" rtlCol="0" anchor="ctr"/>
          <a:lstStyle/>
          <a:p>
            <a:pPr marL="0" indent="0">
              <a:buNone/>
            </a:pPr>
            <a:r>
              <a:rPr lang="en-US" sz="2000" b="1" dirty="0">
                <a:solidFill>
                  <a:srgbClr val="0C0A9E"/>
                </a:solidFill>
                <a:latin typeface="Poppins" pitchFamily="34" charset="0"/>
                <a:ea typeface="Poppins" pitchFamily="34" charset="-122"/>
                <a:cs typeface="Poppins" pitchFamily="34" charset="-120"/>
              </a:rPr>
              <a:t>Methods &amp; Tools</a:t>
            </a:r>
            <a:endParaRPr lang="en-US" sz="2000" dirty="0"/>
          </a:p>
        </p:txBody>
      </p:sp>
      <p:sp>
        <p:nvSpPr>
          <p:cNvPr id="4" name="Shape 1"/>
          <p:cNvSpPr/>
          <p:nvPr/>
        </p:nvSpPr>
        <p:spPr>
          <a:xfrm>
            <a:off x="365760" y="621792"/>
            <a:ext cx="1280160" cy="50292"/>
          </a:xfrm>
          <a:prstGeom prst="rect">
            <a:avLst/>
          </a:prstGeom>
          <a:solidFill>
            <a:srgbClr val="FF9900"/>
          </a:solidFill>
          <a:ln/>
        </p:spPr>
        <p:txBody>
          <a:bodyPr/>
          <a:lstStyle/>
          <a:p>
            <a:endParaRPr lang="en-US"/>
          </a:p>
        </p:txBody>
      </p:sp>
      <p:sp>
        <p:nvSpPr>
          <p:cNvPr id="67" name="TextBox 66">
            <a:extLst>
              <a:ext uri="{FF2B5EF4-FFF2-40B4-BE49-F238E27FC236}">
                <a16:creationId xmlns:a16="http://schemas.microsoft.com/office/drawing/2014/main" id="{D647B8F1-FEFE-24FD-ED7E-CCE09FFB463D}"/>
              </a:ext>
            </a:extLst>
          </p:cNvPr>
          <p:cNvSpPr txBox="1"/>
          <p:nvPr/>
        </p:nvSpPr>
        <p:spPr>
          <a:xfrm>
            <a:off x="430653" y="908501"/>
            <a:ext cx="8105713" cy="3944157"/>
          </a:xfrm>
          <a:prstGeom prst="rect">
            <a:avLst/>
          </a:prstGeom>
          <a:noFill/>
        </p:spPr>
        <p:txBody>
          <a:bodyPr wrap="square" rtlCol="0">
            <a:spAutoFit/>
          </a:bodyPr>
          <a:lstStyle/>
          <a:p>
            <a:pPr marL="171450" lvl="0" indent="-171450" eaLnBrk="0" fontAlgn="base" hangingPunct="0">
              <a:lnSpc>
                <a:spcPct val="150000"/>
              </a:lnSpc>
              <a:spcBef>
                <a:spcPct val="0"/>
              </a:spcBef>
              <a:spcAft>
                <a:spcPct val="0"/>
              </a:spcAft>
              <a:buFont typeface="Arial" panose="020B0604020202020204" pitchFamily="34" charset="0"/>
              <a:buChar char="•"/>
            </a:pPr>
            <a:r>
              <a:rPr lang="en-US" altLang="en-US" sz="1200" b="1" dirty="0">
                <a:solidFill>
                  <a:srgbClr val="0C0A9E"/>
                </a:solidFill>
                <a:latin typeface="Poppins" panose="00000500000000000000" pitchFamily="2" charset="0"/>
                <a:cs typeface="Poppins" panose="00000500000000000000" pitchFamily="2" charset="0"/>
              </a:rPr>
              <a:t>Google </a:t>
            </a:r>
            <a:r>
              <a:rPr lang="en-US" altLang="en-US" sz="1200" b="1" dirty="0" err="1">
                <a:solidFill>
                  <a:srgbClr val="0C0A9E"/>
                </a:solidFill>
                <a:latin typeface="Poppins" panose="00000500000000000000" pitchFamily="2" charset="0"/>
                <a:cs typeface="Poppins" panose="00000500000000000000" pitchFamily="2" charset="0"/>
              </a:rPr>
              <a:t>Colab</a:t>
            </a:r>
            <a:r>
              <a:rPr lang="en-US" altLang="en-US" sz="1200" b="1" dirty="0">
                <a:solidFill>
                  <a:srgbClr val="0C0A9E"/>
                </a:solidFill>
                <a:latin typeface="Poppins" panose="00000500000000000000" pitchFamily="2" charset="0"/>
                <a:cs typeface="Poppins" panose="00000500000000000000" pitchFamily="2" charset="0"/>
              </a:rPr>
              <a:t> Pro </a:t>
            </a:r>
            <a:r>
              <a:rPr lang="en-US" altLang="en-US" sz="1200" dirty="0">
                <a:latin typeface="Poppins" panose="00000500000000000000" pitchFamily="2" charset="0"/>
                <a:cs typeface="Poppins" panose="00000500000000000000" pitchFamily="2" charset="0"/>
              </a:rPr>
              <a:t>: </a:t>
            </a:r>
          </a:p>
          <a:p>
            <a:pPr marL="628650" lvl="1" indent="-171450" eaLnBrk="0" fontAlgn="base" hangingPunct="0">
              <a:lnSpc>
                <a:spcPct val="150000"/>
              </a:lnSpc>
              <a:spcBef>
                <a:spcPct val="0"/>
              </a:spcBef>
              <a:spcAft>
                <a:spcPct val="0"/>
              </a:spcAft>
              <a:buFont typeface="Arial" panose="020B0604020202020204" pitchFamily="34" charset="0"/>
              <a:buChar char="•"/>
            </a:pPr>
            <a:r>
              <a:rPr lang="en-US" altLang="en-US" sz="1200" dirty="0">
                <a:latin typeface="Poppins" panose="00000500000000000000" pitchFamily="2" charset="0"/>
                <a:cs typeface="Poppins" panose="00000500000000000000" pitchFamily="2" charset="0"/>
              </a:rPr>
              <a:t>initial development and prototyping; T4 GPU (15GB VRAM) </a:t>
            </a:r>
          </a:p>
          <a:p>
            <a:pPr marL="171450" lvl="0" indent="-171450" eaLnBrk="0" fontAlgn="base" hangingPunct="0">
              <a:lnSpc>
                <a:spcPct val="150000"/>
              </a:lnSpc>
              <a:spcBef>
                <a:spcPct val="0"/>
              </a:spcBef>
              <a:spcAft>
                <a:spcPct val="0"/>
              </a:spcAft>
              <a:buFont typeface="Arial" panose="020B0604020202020204" pitchFamily="34" charset="0"/>
              <a:buChar char="•"/>
            </a:pPr>
            <a:r>
              <a:rPr lang="en-US" altLang="en-US" sz="1200" b="1" dirty="0">
                <a:solidFill>
                  <a:srgbClr val="0C0A9E"/>
                </a:solidFill>
                <a:latin typeface="Poppins" panose="00000500000000000000" pitchFamily="2" charset="0"/>
                <a:cs typeface="Poppins" panose="00000500000000000000" pitchFamily="2" charset="0"/>
              </a:rPr>
              <a:t>Google Cloud Platform (GCP)</a:t>
            </a:r>
            <a:r>
              <a:rPr lang="en-US" altLang="en-US" sz="1200" dirty="0">
                <a:solidFill>
                  <a:srgbClr val="0C0A9E"/>
                </a:solidFill>
                <a:latin typeface="Poppins" panose="00000500000000000000" pitchFamily="2" charset="0"/>
                <a:cs typeface="Poppins" panose="00000500000000000000" pitchFamily="2" charset="0"/>
              </a:rPr>
              <a:t> </a:t>
            </a:r>
            <a:r>
              <a:rPr lang="en-US" altLang="en-US" sz="1200" dirty="0">
                <a:latin typeface="Poppins" panose="00000500000000000000" pitchFamily="2" charset="0"/>
                <a:cs typeface="Poppins" panose="00000500000000000000" pitchFamily="2" charset="0"/>
              </a:rPr>
              <a:t>: </a:t>
            </a:r>
          </a:p>
          <a:p>
            <a:pPr marL="628650" lvl="1" indent="-171450" eaLnBrk="0" fontAlgn="base" hangingPunct="0">
              <a:lnSpc>
                <a:spcPct val="150000"/>
              </a:lnSpc>
              <a:spcBef>
                <a:spcPct val="0"/>
              </a:spcBef>
              <a:spcAft>
                <a:spcPct val="0"/>
              </a:spcAft>
              <a:buFont typeface="Arial" panose="020B0604020202020204" pitchFamily="34" charset="0"/>
              <a:buChar char="•"/>
            </a:pPr>
            <a:r>
              <a:rPr lang="en-US" altLang="en-US" sz="1200" dirty="0">
                <a:latin typeface="Poppins" panose="00000500000000000000" pitchFamily="2" charset="0"/>
                <a:cs typeface="Poppins" panose="00000500000000000000" pitchFamily="2" charset="0"/>
              </a:rPr>
              <a:t>production training environment; A100 40GB GPU </a:t>
            </a:r>
          </a:p>
          <a:p>
            <a:pPr marL="171450" lvl="0" indent="-171450" eaLnBrk="0" fontAlgn="base" hangingPunct="0">
              <a:lnSpc>
                <a:spcPct val="150000"/>
              </a:lnSpc>
              <a:spcBef>
                <a:spcPct val="0"/>
              </a:spcBef>
              <a:spcAft>
                <a:spcPct val="0"/>
              </a:spcAft>
              <a:buFont typeface="Arial" panose="020B0604020202020204" pitchFamily="34" charset="0"/>
              <a:buChar char="•"/>
            </a:pPr>
            <a:r>
              <a:rPr lang="en-US" altLang="en-US" sz="1200" b="1" dirty="0">
                <a:solidFill>
                  <a:srgbClr val="0C0A9E"/>
                </a:solidFill>
                <a:latin typeface="Poppins" panose="00000500000000000000" pitchFamily="2" charset="0"/>
                <a:cs typeface="Poppins" panose="00000500000000000000" pitchFamily="2" charset="0"/>
              </a:rPr>
              <a:t>Hugging </a:t>
            </a:r>
            <a:r>
              <a:rPr lang="en-US" altLang="en-US" sz="1200" b="1" dirty="0" err="1">
                <a:solidFill>
                  <a:srgbClr val="0C0A9E"/>
                </a:solidFill>
                <a:latin typeface="Poppins" panose="00000500000000000000" pitchFamily="2" charset="0"/>
                <a:cs typeface="Poppins" panose="00000500000000000000" pitchFamily="2" charset="0"/>
              </a:rPr>
              <a:t>FaceTransformers</a:t>
            </a:r>
            <a:r>
              <a:rPr lang="en-US" altLang="en-US" sz="1200" dirty="0">
                <a:latin typeface="Poppins" panose="00000500000000000000" pitchFamily="2" charset="0"/>
                <a:cs typeface="Poppins" panose="00000500000000000000" pitchFamily="2" charset="0"/>
              </a:rPr>
              <a:t>:</a:t>
            </a:r>
            <a:r>
              <a:rPr lang="en-US" altLang="en-US" sz="1200" b="1" dirty="0">
                <a:latin typeface="Poppins" panose="00000500000000000000" pitchFamily="2" charset="0"/>
                <a:cs typeface="Poppins" panose="00000500000000000000" pitchFamily="2" charset="0"/>
              </a:rPr>
              <a:t> </a:t>
            </a:r>
          </a:p>
          <a:p>
            <a:pPr marL="628650" lvl="1" indent="-171450" eaLnBrk="0" fontAlgn="base" hangingPunct="0">
              <a:lnSpc>
                <a:spcPct val="150000"/>
              </a:lnSpc>
              <a:spcBef>
                <a:spcPct val="0"/>
              </a:spcBef>
              <a:spcAft>
                <a:spcPct val="0"/>
              </a:spcAft>
              <a:buFont typeface="Arial" panose="020B0604020202020204" pitchFamily="34" charset="0"/>
              <a:buChar char="•"/>
            </a:pPr>
            <a:r>
              <a:rPr lang="en-US" altLang="en-US" sz="1200" dirty="0" err="1">
                <a:latin typeface="Poppins" panose="00000500000000000000" pitchFamily="2" charset="0"/>
                <a:cs typeface="Poppins" panose="00000500000000000000" pitchFamily="2" charset="0"/>
              </a:rPr>
              <a:t>AutoTokenizer</a:t>
            </a:r>
            <a:r>
              <a:rPr lang="en-US" altLang="en-US" sz="1200" dirty="0">
                <a:latin typeface="Poppins" panose="00000500000000000000" pitchFamily="2" charset="0"/>
                <a:cs typeface="Poppins" panose="00000500000000000000" pitchFamily="2" charset="0"/>
              </a:rPr>
              <a:t>, </a:t>
            </a:r>
            <a:r>
              <a:rPr lang="en-US" altLang="en-US" sz="1200" dirty="0" err="1">
                <a:latin typeface="Poppins" panose="00000500000000000000" pitchFamily="2" charset="0"/>
                <a:cs typeface="Poppins" panose="00000500000000000000" pitchFamily="2" charset="0"/>
              </a:rPr>
              <a:t>RobertaTokenizer</a:t>
            </a:r>
            <a:r>
              <a:rPr lang="en-US" altLang="en-US" sz="1200" dirty="0">
                <a:latin typeface="Poppins" panose="00000500000000000000" pitchFamily="2" charset="0"/>
                <a:cs typeface="Poppins" panose="00000500000000000000" pitchFamily="2" charset="0"/>
              </a:rPr>
              <a:t> for tokenization</a:t>
            </a:r>
          </a:p>
          <a:p>
            <a:pPr marL="171450" lvl="0" indent="-171450" eaLnBrk="0" fontAlgn="base" hangingPunct="0">
              <a:lnSpc>
                <a:spcPct val="150000"/>
              </a:lnSpc>
              <a:spcBef>
                <a:spcPct val="0"/>
              </a:spcBef>
              <a:spcAft>
                <a:spcPct val="0"/>
              </a:spcAft>
              <a:buFont typeface="Arial" panose="020B0604020202020204" pitchFamily="34" charset="0"/>
              <a:buChar char="•"/>
            </a:pPr>
            <a:r>
              <a:rPr lang="en-US" altLang="en-US" sz="1200" b="1" dirty="0">
                <a:solidFill>
                  <a:srgbClr val="0C0A9E"/>
                </a:solidFill>
                <a:latin typeface="Poppins" panose="00000500000000000000" pitchFamily="2" charset="0"/>
                <a:cs typeface="Poppins" panose="00000500000000000000" pitchFamily="2" charset="0"/>
              </a:rPr>
              <a:t>Python AST module</a:t>
            </a:r>
            <a:r>
              <a:rPr lang="en-US" altLang="en-US" sz="1200" dirty="0">
                <a:latin typeface="Poppins" panose="00000500000000000000" pitchFamily="2" charset="0"/>
                <a:cs typeface="Poppins" panose="00000500000000000000" pitchFamily="2" charset="0"/>
              </a:rPr>
              <a:t>: </a:t>
            </a:r>
          </a:p>
          <a:p>
            <a:pPr marL="628650" lvl="1" indent="-171450" eaLnBrk="0" fontAlgn="base" hangingPunct="0">
              <a:lnSpc>
                <a:spcPct val="150000"/>
              </a:lnSpc>
              <a:spcBef>
                <a:spcPct val="0"/>
              </a:spcBef>
              <a:spcAft>
                <a:spcPct val="0"/>
              </a:spcAft>
              <a:buFont typeface="Arial" panose="020B0604020202020204" pitchFamily="34" charset="0"/>
              <a:buChar char="•"/>
            </a:pPr>
            <a:r>
              <a:rPr lang="en-US" altLang="en-US" sz="1200" dirty="0">
                <a:latin typeface="Poppins" panose="00000500000000000000" pitchFamily="2" charset="0"/>
                <a:cs typeface="Poppins" panose="00000500000000000000" pitchFamily="2" charset="0"/>
              </a:rPr>
              <a:t>identifier extraction, logic summary generation and quality filtering</a:t>
            </a:r>
          </a:p>
          <a:p>
            <a:pPr marL="171450" lvl="0" indent="-171450" eaLnBrk="0" fontAlgn="base" hangingPunct="0">
              <a:lnSpc>
                <a:spcPct val="150000"/>
              </a:lnSpc>
              <a:spcBef>
                <a:spcPct val="0"/>
              </a:spcBef>
              <a:spcAft>
                <a:spcPct val="0"/>
              </a:spcAft>
              <a:buFont typeface="Arial" panose="020B0604020202020204" pitchFamily="34" charset="0"/>
              <a:buChar char="•"/>
            </a:pPr>
            <a:r>
              <a:rPr lang="en-US" altLang="en-US" sz="1200" b="1" dirty="0">
                <a:solidFill>
                  <a:srgbClr val="0C0A9E"/>
                </a:solidFill>
                <a:latin typeface="Poppins" panose="00000500000000000000" pitchFamily="2" charset="0"/>
                <a:cs typeface="Poppins" panose="00000500000000000000" pitchFamily="2" charset="0"/>
              </a:rPr>
              <a:t>Pandas and NumPy</a:t>
            </a:r>
            <a:r>
              <a:rPr lang="en-US" altLang="en-US" sz="1200" dirty="0">
                <a:latin typeface="Poppins" panose="00000500000000000000" pitchFamily="2" charset="0"/>
                <a:cs typeface="Poppins" panose="00000500000000000000" pitchFamily="2" charset="0"/>
              </a:rPr>
              <a:t>: </a:t>
            </a:r>
          </a:p>
          <a:p>
            <a:pPr marL="628650" lvl="1" indent="-171450" eaLnBrk="0" fontAlgn="base" hangingPunct="0">
              <a:lnSpc>
                <a:spcPct val="150000"/>
              </a:lnSpc>
              <a:spcBef>
                <a:spcPct val="0"/>
              </a:spcBef>
              <a:spcAft>
                <a:spcPct val="0"/>
              </a:spcAft>
              <a:buFont typeface="Arial" panose="020B0604020202020204" pitchFamily="34" charset="0"/>
              <a:buChar char="•"/>
            </a:pPr>
            <a:r>
              <a:rPr lang="en-US" altLang="en-US" sz="1200" dirty="0">
                <a:latin typeface="Poppins" panose="00000500000000000000" pitchFamily="2" charset="0"/>
                <a:cs typeface="Poppins" panose="00000500000000000000" pitchFamily="2" charset="0"/>
              </a:rPr>
              <a:t>EDA summary statistics </a:t>
            </a:r>
          </a:p>
          <a:p>
            <a:pPr marL="171450" lvl="0" indent="-171450" eaLnBrk="0" fontAlgn="base" hangingPunct="0">
              <a:lnSpc>
                <a:spcPct val="150000"/>
              </a:lnSpc>
              <a:spcBef>
                <a:spcPct val="0"/>
              </a:spcBef>
              <a:spcAft>
                <a:spcPct val="0"/>
              </a:spcAft>
              <a:buFont typeface="Arial" panose="020B0604020202020204" pitchFamily="34" charset="0"/>
              <a:buChar char="•"/>
            </a:pPr>
            <a:r>
              <a:rPr lang="en-US" altLang="en-US" sz="1200" b="1" dirty="0">
                <a:solidFill>
                  <a:srgbClr val="0C0A9E"/>
                </a:solidFill>
                <a:latin typeface="Poppins" panose="00000500000000000000" pitchFamily="2" charset="0"/>
                <a:cs typeface="Poppins" panose="00000500000000000000" pitchFamily="2" charset="0"/>
              </a:rPr>
              <a:t>Matplotlib and Seaborn</a:t>
            </a:r>
            <a:r>
              <a:rPr lang="en-US" altLang="en-US" sz="1200" dirty="0">
                <a:latin typeface="Poppins" panose="00000500000000000000" pitchFamily="2" charset="0"/>
                <a:cs typeface="Poppins" panose="00000500000000000000" pitchFamily="2" charset="0"/>
              </a:rPr>
              <a:t>: </a:t>
            </a:r>
          </a:p>
          <a:p>
            <a:pPr marL="628650" lvl="1" indent="-171450" eaLnBrk="0" fontAlgn="base" hangingPunct="0">
              <a:lnSpc>
                <a:spcPct val="150000"/>
              </a:lnSpc>
              <a:spcBef>
                <a:spcPct val="0"/>
              </a:spcBef>
              <a:spcAft>
                <a:spcPct val="0"/>
              </a:spcAft>
              <a:buFont typeface="Arial" panose="020B0604020202020204" pitchFamily="34" charset="0"/>
              <a:buChar char="•"/>
            </a:pPr>
            <a:r>
              <a:rPr lang="en-US" altLang="en-US" sz="1200" dirty="0">
                <a:latin typeface="Poppins" panose="00000500000000000000" pitchFamily="2" charset="0"/>
                <a:cs typeface="Poppins" panose="00000500000000000000" pitchFamily="2" charset="0"/>
              </a:rPr>
              <a:t>EDA visualizations</a:t>
            </a:r>
          </a:p>
          <a:p>
            <a:pPr marL="171450" lvl="0" indent="-171450" eaLnBrk="0" fontAlgn="base" hangingPunct="0">
              <a:lnSpc>
                <a:spcPct val="150000"/>
              </a:lnSpc>
              <a:spcBef>
                <a:spcPct val="0"/>
              </a:spcBef>
              <a:spcAft>
                <a:spcPct val="0"/>
              </a:spcAft>
              <a:buFont typeface="Arial" panose="020B0604020202020204" pitchFamily="34" charset="0"/>
              <a:buChar char="•"/>
            </a:pPr>
            <a:r>
              <a:rPr lang="en-US" altLang="en-US" sz="1200" b="1" dirty="0" err="1">
                <a:solidFill>
                  <a:srgbClr val="0C0A9E"/>
                </a:solidFill>
                <a:latin typeface="Poppins" panose="00000500000000000000" pitchFamily="2" charset="0"/>
                <a:cs typeface="Poppins" panose="00000500000000000000" pitchFamily="2" charset="0"/>
              </a:rPr>
              <a:t>HuggingFace</a:t>
            </a:r>
            <a:r>
              <a:rPr lang="en-US" altLang="en-US" sz="1200" b="1" dirty="0">
                <a:solidFill>
                  <a:srgbClr val="0C0A9E"/>
                </a:solidFill>
                <a:latin typeface="Poppins" panose="00000500000000000000" pitchFamily="2" charset="0"/>
                <a:cs typeface="Poppins" panose="00000500000000000000" pitchFamily="2" charset="0"/>
              </a:rPr>
              <a:t> evaluate</a:t>
            </a:r>
            <a:r>
              <a:rPr lang="en-US" altLang="en-US" sz="1200" dirty="0">
                <a:latin typeface="Poppins" panose="00000500000000000000" pitchFamily="2" charset="0"/>
                <a:cs typeface="Poppins" panose="00000500000000000000" pitchFamily="2" charset="0"/>
              </a:rPr>
              <a:t>: </a:t>
            </a:r>
          </a:p>
          <a:p>
            <a:pPr marL="628650" lvl="1" indent="-171450" eaLnBrk="0" fontAlgn="base" hangingPunct="0">
              <a:lnSpc>
                <a:spcPct val="150000"/>
              </a:lnSpc>
              <a:spcBef>
                <a:spcPct val="0"/>
              </a:spcBef>
              <a:spcAft>
                <a:spcPct val="0"/>
              </a:spcAft>
              <a:buFont typeface="Arial" panose="020B0604020202020204" pitchFamily="34" charset="0"/>
              <a:buChar char="•"/>
            </a:pPr>
            <a:r>
              <a:rPr lang="en-US" altLang="en-US" sz="1200" dirty="0">
                <a:latin typeface="Poppins" panose="00000500000000000000" pitchFamily="2" charset="0"/>
                <a:cs typeface="Poppins" panose="00000500000000000000" pitchFamily="2" charset="0"/>
              </a:rPr>
              <a:t>CODEBLEU, BLEU-4, ROUGE-L, METEOR</a:t>
            </a:r>
          </a:p>
        </p:txBody>
      </p:sp>
      <p:sp>
        <p:nvSpPr>
          <p:cNvPr id="68" name="TextBox 67"/>
          <p:cNvSpPr txBox="1"/>
          <p:nvPr/>
        </p:nvSpPr>
        <p:spPr>
          <a:xfrm>
            <a:off x="8412480" y="4750308"/>
            <a:ext cx="320040" cy="228600"/>
          </a:xfrm>
          <a:prstGeom prst="rect">
            <a:avLst/>
          </a:prstGeom>
          <a:noFill/>
        </p:spPr>
        <p:txBody>
          <a:bodyPr wrap="none">
            <a:spAutoFit/>
          </a:bodyPr>
          <a:lstStyle/>
          <a:p>
            <a:pPr algn="r"/>
            <a:r>
              <a:rPr sz="1100" b="0">
                <a:solidFill>
                  <a:srgbClr val="0C0A9E"/>
                </a:solidFil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217920" y="2926080"/>
            <a:ext cx="2926080" cy="2194560"/>
          </a:xfrm>
          <a:prstGeom prst="rect">
            <a:avLst/>
          </a:prstGeom>
        </p:spPr>
      </p:pic>
      <p:sp>
        <p:nvSpPr>
          <p:cNvPr id="3" name="Text 0"/>
          <p:cNvSpPr/>
          <p:nvPr/>
        </p:nvSpPr>
        <p:spPr>
          <a:xfrm>
            <a:off x="365760" y="137160"/>
            <a:ext cx="8412480" cy="475488"/>
          </a:xfrm>
          <a:prstGeom prst="rect">
            <a:avLst/>
          </a:prstGeom>
          <a:noFill/>
          <a:ln/>
        </p:spPr>
        <p:txBody>
          <a:bodyPr wrap="square" lIns="0" tIns="0" rIns="0" bIns="0" rtlCol="0" anchor="ctr"/>
          <a:lstStyle/>
          <a:p>
            <a:pPr marL="0" indent="0">
              <a:buNone/>
            </a:pPr>
            <a:r>
              <a:rPr lang="en-US" sz="2000" b="1" dirty="0">
                <a:solidFill>
                  <a:srgbClr val="0C0A9E"/>
                </a:solidFill>
                <a:latin typeface="Poppins" pitchFamily="34" charset="0"/>
                <a:ea typeface="Poppins" pitchFamily="34" charset="-122"/>
                <a:cs typeface="Poppins" pitchFamily="34" charset="-120"/>
              </a:rPr>
              <a:t>EDA Results: </a:t>
            </a:r>
            <a:r>
              <a:rPr lang="en-US" sz="2000" b="1" dirty="0" err="1">
                <a:solidFill>
                  <a:srgbClr val="0C0A9E"/>
                </a:solidFill>
                <a:latin typeface="Poppins" pitchFamily="34" charset="0"/>
                <a:ea typeface="Poppins" pitchFamily="34" charset="-122"/>
                <a:cs typeface="Poppins" pitchFamily="34" charset="-120"/>
              </a:rPr>
              <a:t>CodeSearhNet</a:t>
            </a:r>
            <a:endParaRPr lang="en-US" sz="2000" dirty="0"/>
          </a:p>
        </p:txBody>
      </p:sp>
      <p:sp>
        <p:nvSpPr>
          <p:cNvPr id="4" name="Shape 1"/>
          <p:cNvSpPr/>
          <p:nvPr/>
        </p:nvSpPr>
        <p:spPr>
          <a:xfrm>
            <a:off x="365760" y="621792"/>
            <a:ext cx="1280160" cy="50292"/>
          </a:xfrm>
          <a:prstGeom prst="rect">
            <a:avLst/>
          </a:prstGeom>
          <a:solidFill>
            <a:srgbClr val="FF9900"/>
          </a:solidFill>
          <a:ln/>
        </p:spPr>
        <p:txBody>
          <a:bodyPr/>
          <a:lstStyle/>
          <a:p>
            <a:endParaRPr lang="en-US"/>
          </a:p>
        </p:txBody>
      </p:sp>
      <p:sp>
        <p:nvSpPr>
          <p:cNvPr id="6" name="Text 3"/>
          <p:cNvSpPr/>
          <p:nvPr/>
        </p:nvSpPr>
        <p:spPr>
          <a:xfrm>
            <a:off x="365761" y="754192"/>
            <a:ext cx="4023360" cy="237744"/>
          </a:xfrm>
          <a:prstGeom prst="rect">
            <a:avLst/>
          </a:prstGeom>
          <a:noFill/>
          <a:ln/>
        </p:spPr>
        <p:txBody>
          <a:bodyPr wrap="square" lIns="0" tIns="0" rIns="0" bIns="0" rtlCol="0" anchor="ctr"/>
          <a:lstStyle/>
          <a:p>
            <a:pPr marL="0" indent="0">
              <a:buNone/>
            </a:pPr>
            <a:r>
              <a:rPr lang="en-US" sz="1200" b="1" dirty="0">
                <a:solidFill>
                  <a:srgbClr val="0C0A9E"/>
                </a:solidFill>
                <a:latin typeface="Poppins" pitchFamily="34" charset="0"/>
                <a:ea typeface="Poppins" pitchFamily="34" charset="-122"/>
                <a:cs typeface="Poppins" pitchFamily="34" charset="-120"/>
              </a:rPr>
              <a:t>Descriptive Statistics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090041616"/>
              </p:ext>
            </p:extLst>
          </p:nvPr>
        </p:nvGraphicFramePr>
        <p:xfrm>
          <a:off x="365759" y="1055143"/>
          <a:ext cx="5761664" cy="1462778"/>
        </p:xfrm>
        <a:graphic>
          <a:graphicData uri="http://schemas.openxmlformats.org/drawingml/2006/table">
            <a:tbl>
              <a:tblPr/>
              <a:tblGrid>
                <a:gridCol w="1440416">
                  <a:extLst>
                    <a:ext uri="{9D8B030D-6E8A-4147-A177-3AD203B41FA5}">
                      <a16:colId xmlns:a16="http://schemas.microsoft.com/office/drawing/2014/main" val="20000"/>
                    </a:ext>
                  </a:extLst>
                </a:gridCol>
                <a:gridCol w="1440416">
                  <a:extLst>
                    <a:ext uri="{9D8B030D-6E8A-4147-A177-3AD203B41FA5}">
                      <a16:colId xmlns:a16="http://schemas.microsoft.com/office/drawing/2014/main" val="20001"/>
                    </a:ext>
                  </a:extLst>
                </a:gridCol>
                <a:gridCol w="1440416">
                  <a:extLst>
                    <a:ext uri="{9D8B030D-6E8A-4147-A177-3AD203B41FA5}">
                      <a16:colId xmlns:a16="http://schemas.microsoft.com/office/drawing/2014/main" val="20002"/>
                    </a:ext>
                  </a:extLst>
                </a:gridCol>
                <a:gridCol w="1440416">
                  <a:extLst>
                    <a:ext uri="{9D8B030D-6E8A-4147-A177-3AD203B41FA5}">
                      <a16:colId xmlns:a16="http://schemas.microsoft.com/office/drawing/2014/main" val="20003"/>
                    </a:ext>
                  </a:extLst>
                </a:gridCol>
              </a:tblGrid>
              <a:tr h="238952">
                <a:tc>
                  <a:txBody>
                    <a:bodyPr/>
                    <a:lstStyle/>
                    <a:p>
                      <a:pPr marL="0" indent="0">
                        <a:buNone/>
                      </a:pPr>
                      <a:r>
                        <a:rPr lang="en-US" sz="1150" b="1" dirty="0">
                          <a:solidFill>
                            <a:srgbClr val="FFFFFF"/>
                          </a:solidFill>
                          <a:latin typeface="Poppins" pitchFamily="34" charset="0"/>
                          <a:ea typeface="Poppins" pitchFamily="34" charset="-122"/>
                          <a:cs typeface="Poppins" pitchFamily="34" charset="-120"/>
                        </a:rPr>
                        <a:t>Metric</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0C0A9E"/>
                    </a:solidFill>
                  </a:tcPr>
                </a:tc>
                <a:tc>
                  <a:txBody>
                    <a:bodyPr/>
                    <a:lstStyle/>
                    <a:p>
                      <a:pPr marL="0" indent="0">
                        <a:buNone/>
                      </a:pPr>
                      <a:r>
                        <a:rPr lang="en-US" sz="1150" b="1" dirty="0">
                          <a:solidFill>
                            <a:srgbClr val="FFFFFF"/>
                          </a:solidFill>
                          <a:latin typeface="Poppins" pitchFamily="34" charset="0"/>
                          <a:ea typeface="Poppins" pitchFamily="34" charset="-122"/>
                          <a:cs typeface="Poppins" pitchFamily="34" charset="-120"/>
                        </a:rPr>
                        <a:t>Mean</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0C0A9E"/>
                    </a:solidFill>
                  </a:tcPr>
                </a:tc>
                <a:tc>
                  <a:txBody>
                    <a:bodyPr/>
                    <a:lstStyle/>
                    <a:p>
                      <a:pPr marL="0" indent="0">
                        <a:buNone/>
                      </a:pPr>
                      <a:r>
                        <a:rPr lang="en-US" sz="1150" b="1" dirty="0">
                          <a:solidFill>
                            <a:srgbClr val="FFFFFF"/>
                          </a:solidFill>
                          <a:latin typeface="Poppins" pitchFamily="34" charset="0"/>
                          <a:ea typeface="Poppins" pitchFamily="34" charset="-122"/>
                          <a:cs typeface="Poppins" pitchFamily="34" charset="-120"/>
                        </a:rPr>
                        <a:t>Median</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0C0A9E"/>
                    </a:solidFill>
                  </a:tcPr>
                </a:tc>
                <a:tc>
                  <a:txBody>
                    <a:bodyPr/>
                    <a:lstStyle/>
                    <a:p>
                      <a:pPr marL="0" indent="0">
                        <a:buNone/>
                      </a:pPr>
                      <a:r>
                        <a:rPr lang="en-US" sz="1150" b="1" dirty="0">
                          <a:solidFill>
                            <a:srgbClr val="FFFFFF"/>
                          </a:solidFill>
                          <a:latin typeface="Poppins" pitchFamily="34" charset="0"/>
                          <a:ea typeface="Poppins" pitchFamily="34" charset="-122"/>
                          <a:cs typeface="Poppins" pitchFamily="34" charset="-120"/>
                        </a:rPr>
                        <a:t>Std</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0C0A9E"/>
                    </a:solidFill>
                  </a:tcPr>
                </a:tc>
                <a:extLst>
                  <a:ext uri="{0D108BD9-81ED-4DB2-BD59-A6C34878D82A}">
                    <a16:rowId xmlns:a16="http://schemas.microsoft.com/office/drawing/2014/main" val="10000"/>
                  </a:ext>
                </a:extLst>
              </a:tr>
              <a:tr h="395978">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Code chars</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981</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615</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1,315</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8952">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Code lines</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24.5</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17</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28.1</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38952">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Doc words</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34.2</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19</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52.6</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8952">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Identifiers</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23.8</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14</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33.0</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Text 21"/>
          <p:cNvSpPr/>
          <p:nvPr/>
        </p:nvSpPr>
        <p:spPr>
          <a:xfrm>
            <a:off x="347850" y="2823688"/>
            <a:ext cx="8412480" cy="237744"/>
          </a:xfrm>
          <a:prstGeom prst="rect">
            <a:avLst/>
          </a:prstGeom>
          <a:noFill/>
          <a:ln/>
        </p:spPr>
        <p:txBody>
          <a:bodyPr wrap="square" lIns="0" tIns="0" rIns="0" bIns="0" rtlCol="0" anchor="ctr"/>
          <a:lstStyle/>
          <a:p>
            <a:pPr marL="0" indent="0">
              <a:buNone/>
            </a:pPr>
            <a:r>
              <a:rPr lang="en-US" sz="1200" b="1" dirty="0">
                <a:solidFill>
                  <a:srgbClr val="0C0A9E"/>
                </a:solidFill>
                <a:latin typeface="Poppins" pitchFamily="34" charset="0"/>
                <a:ea typeface="Poppins" pitchFamily="34" charset="-122"/>
                <a:cs typeface="Poppins" pitchFamily="34" charset="-120"/>
              </a:rPr>
              <a:t>Key Findings</a:t>
            </a:r>
            <a:endParaRPr lang="en-US" sz="1200" dirty="0"/>
          </a:p>
        </p:txBody>
      </p:sp>
      <p:sp>
        <p:nvSpPr>
          <p:cNvPr id="26" name="Text 22"/>
          <p:cNvSpPr/>
          <p:nvPr/>
        </p:nvSpPr>
        <p:spPr>
          <a:xfrm>
            <a:off x="365760" y="3157979"/>
            <a:ext cx="6572368" cy="1450597"/>
          </a:xfrm>
          <a:prstGeom prst="rect">
            <a:avLst/>
          </a:prstGeom>
          <a:noFill/>
          <a:ln/>
        </p:spPr>
        <p:txBody>
          <a:bodyPr wrap="square" rtlCol="0" anchor="ctr"/>
          <a:lstStyle/>
          <a:p>
            <a:pPr marL="342900" indent="-342900">
              <a:spcAft>
                <a:spcPts val="300"/>
              </a:spcAft>
              <a:buSzPct val="100000"/>
              <a:buChar char="•"/>
            </a:pPr>
            <a:r>
              <a:rPr lang="en-US" sz="1200" dirty="0">
                <a:solidFill>
                  <a:srgbClr val="191919"/>
                </a:solidFill>
                <a:latin typeface="Poppins" pitchFamily="34" charset="0"/>
                <a:ea typeface="Poppins" pitchFamily="34" charset="-122"/>
                <a:cs typeface="Poppins" pitchFamily="34" charset="-120"/>
              </a:rPr>
              <a:t>High docstring coverage (99.7%) makes CSN ideal for supervised doc generation training.</a:t>
            </a:r>
            <a:endParaRPr lang="en-US" sz="1200" dirty="0"/>
          </a:p>
          <a:p>
            <a:pPr marL="342900" indent="-342900">
              <a:spcAft>
                <a:spcPts val="300"/>
              </a:spcAft>
              <a:buSzPct val="100000"/>
              <a:buChar char="•"/>
            </a:pPr>
            <a:r>
              <a:rPr lang="en-US" sz="1200" dirty="0">
                <a:solidFill>
                  <a:srgbClr val="191919"/>
                </a:solidFill>
                <a:latin typeface="Poppins" pitchFamily="34" charset="0"/>
                <a:ea typeface="Poppins" pitchFamily="34" charset="-122"/>
                <a:cs typeface="Poppins" pitchFamily="34" charset="-120"/>
              </a:rPr>
              <a:t>Only ~32% of functions have structured param docs.</a:t>
            </a:r>
            <a:endParaRPr lang="en-US" sz="1200" dirty="0"/>
          </a:p>
          <a:p>
            <a:pPr marL="342900" indent="-342900">
              <a:spcAft>
                <a:spcPts val="300"/>
              </a:spcAft>
              <a:buSzPct val="100000"/>
              <a:buChar char="•"/>
            </a:pPr>
            <a:r>
              <a:rPr lang="en-US" sz="1200" dirty="0">
                <a:solidFill>
                  <a:srgbClr val="191919"/>
                </a:solidFill>
                <a:latin typeface="Poppins" pitchFamily="34" charset="0"/>
                <a:ea typeface="Poppins" pitchFamily="34" charset="-122"/>
                <a:cs typeface="Poppins" pitchFamily="34" charset="-120"/>
              </a:rPr>
              <a:t>Wide variance in code length (std 1,315 chars) motivates the 50–8,000 char quality filter.</a:t>
            </a:r>
            <a:endParaRPr lang="en-US" sz="1200" dirty="0"/>
          </a:p>
          <a:p>
            <a:pPr marL="342900" indent="-342900">
              <a:spcAft>
                <a:spcPts val="300"/>
              </a:spcAft>
              <a:buSzPct val="100000"/>
              <a:buChar char="•"/>
            </a:pPr>
            <a:r>
              <a:rPr lang="en-US" sz="1200" dirty="0">
                <a:solidFill>
                  <a:srgbClr val="191919"/>
                </a:solidFill>
                <a:latin typeface="Poppins" pitchFamily="34" charset="0"/>
                <a:ea typeface="Poppins" pitchFamily="34" charset="-122"/>
                <a:cs typeface="Poppins" pitchFamily="34" charset="-120"/>
              </a:rPr>
              <a:t>Identifier-aware tokenization (CodeT5 feature) well-suited: avg. 23.8 identifiers per function.</a:t>
            </a:r>
            <a:endParaRPr lang="en-US" sz="1200" dirty="0"/>
          </a:p>
        </p:txBody>
      </p:sp>
      <p:sp>
        <p:nvSpPr>
          <p:cNvPr id="27" name="Shape 23"/>
          <p:cNvSpPr/>
          <p:nvPr/>
        </p:nvSpPr>
        <p:spPr>
          <a:xfrm>
            <a:off x="365760" y="4736592"/>
            <a:ext cx="8412480" cy="0"/>
          </a:xfrm>
          <a:prstGeom prst="line">
            <a:avLst/>
          </a:prstGeom>
          <a:noFill/>
          <a:ln w="8890">
            <a:solidFill>
              <a:srgbClr val="C5C6E8"/>
            </a:solidFill>
            <a:prstDash val="solid"/>
          </a:ln>
        </p:spPr>
        <p:txBody>
          <a:bodyPr/>
          <a:lstStyle/>
          <a:p>
            <a:endParaRPr lang="en-US"/>
          </a:p>
        </p:txBody>
      </p:sp>
      <p:sp>
        <p:nvSpPr>
          <p:cNvPr id="28" name="Text 24"/>
          <p:cNvSpPr/>
          <p:nvPr/>
        </p:nvSpPr>
        <p:spPr>
          <a:xfrm>
            <a:off x="365760" y="4773168"/>
            <a:ext cx="7772400" cy="201168"/>
          </a:xfrm>
          <a:prstGeom prst="rect">
            <a:avLst/>
          </a:prstGeom>
          <a:noFill/>
          <a:ln/>
        </p:spPr>
        <p:txBody>
          <a:bodyPr wrap="square" rtlCol="0" anchor="ctr"/>
          <a:lstStyle/>
          <a:p>
            <a:pPr marL="0" indent="0">
              <a:buNone/>
            </a:pPr>
            <a:r>
              <a:rPr lang="en-US" sz="750" i="1" dirty="0">
                <a:solidFill>
                  <a:srgbClr val="7B7B9D"/>
                </a:solidFill>
                <a:latin typeface="Poppins" pitchFamily="34" charset="0"/>
                <a:ea typeface="Poppins" pitchFamily="34" charset="-122"/>
                <a:cs typeface="Poppins" pitchFamily="34" charset="-120"/>
              </a:rPr>
              <a:t>EDA on 8,000 randomly sampled training examples. CodeT5 identifier-aware pretraining: Wang et al. 2021 (EMNLP). </a:t>
            </a:r>
            <a:endParaRPr lang="en-US" sz="750" dirty="0"/>
          </a:p>
        </p:txBody>
      </p:sp>
      <p:sp>
        <p:nvSpPr>
          <p:cNvPr id="29" name="TextBox 28"/>
          <p:cNvSpPr txBox="1"/>
          <p:nvPr/>
        </p:nvSpPr>
        <p:spPr>
          <a:xfrm>
            <a:off x="8412480" y="4750308"/>
            <a:ext cx="320040" cy="228600"/>
          </a:xfrm>
          <a:prstGeom prst="rect">
            <a:avLst/>
          </a:prstGeom>
          <a:noFill/>
        </p:spPr>
        <p:txBody>
          <a:bodyPr wrap="none">
            <a:spAutoFit/>
          </a:bodyPr>
          <a:lstStyle/>
          <a:p>
            <a:pPr algn="r"/>
            <a:r>
              <a:rPr sz="1100" b="0">
                <a:solidFill>
                  <a:srgbClr val="0C0A9E"/>
                </a:solidFil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217920" y="2926080"/>
            <a:ext cx="2926080" cy="2194560"/>
          </a:xfrm>
          <a:prstGeom prst="rect">
            <a:avLst/>
          </a:prstGeom>
        </p:spPr>
      </p:pic>
      <p:sp>
        <p:nvSpPr>
          <p:cNvPr id="3" name="Text 0"/>
          <p:cNvSpPr/>
          <p:nvPr/>
        </p:nvSpPr>
        <p:spPr>
          <a:xfrm>
            <a:off x="365760" y="137160"/>
            <a:ext cx="8412480" cy="475488"/>
          </a:xfrm>
          <a:prstGeom prst="rect">
            <a:avLst/>
          </a:prstGeom>
          <a:noFill/>
          <a:ln/>
        </p:spPr>
        <p:txBody>
          <a:bodyPr wrap="square" lIns="0" tIns="0" rIns="0" bIns="0" rtlCol="0" anchor="ctr"/>
          <a:lstStyle/>
          <a:p>
            <a:pPr marL="0" indent="0">
              <a:buNone/>
            </a:pPr>
            <a:r>
              <a:rPr lang="en-US" sz="2000" b="1" dirty="0">
                <a:solidFill>
                  <a:srgbClr val="0C0A9E"/>
                </a:solidFill>
                <a:latin typeface="Poppins" pitchFamily="34" charset="0"/>
                <a:cs typeface="Poppins" pitchFamily="34" charset="-120"/>
              </a:rPr>
              <a:t>EDA Results: </a:t>
            </a:r>
            <a:r>
              <a:rPr lang="en-US" sz="2000" b="1" dirty="0" err="1">
                <a:solidFill>
                  <a:srgbClr val="0C0A9E"/>
                </a:solidFill>
                <a:latin typeface="Poppins" pitchFamily="34" charset="0"/>
                <a:cs typeface="Poppins" pitchFamily="34" charset="-120"/>
              </a:rPr>
              <a:t>CodeSearchNet</a:t>
            </a:r>
            <a:endParaRPr lang="en-US" sz="2000" dirty="0"/>
          </a:p>
        </p:txBody>
      </p:sp>
      <p:sp>
        <p:nvSpPr>
          <p:cNvPr id="4" name="Shape 1"/>
          <p:cNvSpPr/>
          <p:nvPr/>
        </p:nvSpPr>
        <p:spPr>
          <a:xfrm>
            <a:off x="365760" y="621792"/>
            <a:ext cx="1280160" cy="50292"/>
          </a:xfrm>
          <a:prstGeom prst="rect">
            <a:avLst/>
          </a:prstGeom>
          <a:solidFill>
            <a:srgbClr val="FF9900"/>
          </a:solidFill>
          <a:ln/>
        </p:spPr>
        <p:txBody>
          <a:bodyPr/>
          <a:lstStyle/>
          <a:p>
            <a:endParaRPr lang="en-US"/>
          </a:p>
        </p:txBody>
      </p:sp>
      <p:sp>
        <p:nvSpPr>
          <p:cNvPr id="7" name="Shape 3"/>
          <p:cNvSpPr/>
          <p:nvPr/>
        </p:nvSpPr>
        <p:spPr>
          <a:xfrm>
            <a:off x="365760" y="4736592"/>
            <a:ext cx="8412480" cy="0"/>
          </a:xfrm>
          <a:prstGeom prst="line">
            <a:avLst/>
          </a:prstGeom>
          <a:noFill/>
          <a:ln w="8890">
            <a:solidFill>
              <a:srgbClr val="C5C6E8"/>
            </a:solidFill>
            <a:prstDash val="solid"/>
          </a:ln>
        </p:spPr>
        <p:txBody>
          <a:bodyPr/>
          <a:lstStyle/>
          <a:p>
            <a:endParaRPr lang="en-US"/>
          </a:p>
        </p:txBody>
      </p:sp>
      <p:sp>
        <p:nvSpPr>
          <p:cNvPr id="8" name="Text 4"/>
          <p:cNvSpPr/>
          <p:nvPr/>
        </p:nvSpPr>
        <p:spPr>
          <a:xfrm>
            <a:off x="365760" y="4773168"/>
            <a:ext cx="7772400" cy="201168"/>
          </a:xfrm>
          <a:prstGeom prst="rect">
            <a:avLst/>
          </a:prstGeom>
          <a:noFill/>
          <a:ln/>
        </p:spPr>
        <p:txBody>
          <a:bodyPr wrap="square" rtlCol="0" anchor="ctr"/>
          <a:lstStyle/>
          <a:p>
            <a:pPr marL="0" indent="0">
              <a:buNone/>
            </a:pPr>
            <a:r>
              <a:rPr lang="en-US" sz="750" i="1" dirty="0">
                <a:solidFill>
                  <a:srgbClr val="7B7B9D"/>
                </a:solidFill>
                <a:latin typeface="Poppins" pitchFamily="34" charset="0"/>
                <a:ea typeface="Poppins" pitchFamily="34" charset="-122"/>
                <a:cs typeface="Poppins" pitchFamily="34" charset="-120"/>
              </a:rPr>
              <a:t>Red dashed lines = quality filter thresholds. Documentation Coverage (bottom-left): Has Doc 100%, Inline Comments 31%, Structured Param Doc 32%, Return Doc 19%.</a:t>
            </a:r>
            <a:endParaRPr lang="en-US" sz="750" dirty="0"/>
          </a:p>
        </p:txBody>
      </p:sp>
      <p:pic>
        <p:nvPicPr>
          <p:cNvPr id="10" name="Picture 9">
            <a:extLst>
              <a:ext uri="{FF2B5EF4-FFF2-40B4-BE49-F238E27FC236}">
                <a16:creationId xmlns:a16="http://schemas.microsoft.com/office/drawing/2014/main" id="{6778D8F8-07C5-62D4-EF1C-FDE38CFFA583}"/>
              </a:ext>
            </a:extLst>
          </p:cNvPr>
          <p:cNvPicPr>
            <a:picLocks noChangeAspect="1"/>
          </p:cNvPicPr>
          <p:nvPr/>
        </p:nvPicPr>
        <p:blipFill>
          <a:blip r:embed="rId4"/>
          <a:srcRect t="10028"/>
          <a:stretch>
            <a:fillRect/>
          </a:stretch>
        </p:blipFill>
        <p:spPr>
          <a:xfrm>
            <a:off x="633579" y="1350301"/>
            <a:ext cx="3699986" cy="2769212"/>
          </a:xfrm>
          <a:prstGeom prst="rect">
            <a:avLst/>
          </a:prstGeom>
        </p:spPr>
      </p:pic>
      <p:pic>
        <p:nvPicPr>
          <p:cNvPr id="12" name="Picture 11">
            <a:extLst>
              <a:ext uri="{FF2B5EF4-FFF2-40B4-BE49-F238E27FC236}">
                <a16:creationId xmlns:a16="http://schemas.microsoft.com/office/drawing/2014/main" id="{C2D21611-2A58-E9FA-2D25-1259106CC17C}"/>
              </a:ext>
            </a:extLst>
          </p:cNvPr>
          <p:cNvPicPr>
            <a:picLocks noChangeAspect="1"/>
          </p:cNvPicPr>
          <p:nvPr/>
        </p:nvPicPr>
        <p:blipFill>
          <a:blip r:embed="rId5"/>
          <a:stretch>
            <a:fillRect/>
          </a:stretch>
        </p:blipFill>
        <p:spPr>
          <a:xfrm>
            <a:off x="4572000" y="1415289"/>
            <a:ext cx="3474720" cy="2794883"/>
          </a:xfrm>
          <a:prstGeom prst="rect">
            <a:avLst/>
          </a:prstGeom>
        </p:spPr>
      </p:pic>
      <p:sp>
        <p:nvSpPr>
          <p:cNvPr id="13" name="TextBox 12"/>
          <p:cNvSpPr txBox="1"/>
          <p:nvPr/>
        </p:nvSpPr>
        <p:spPr>
          <a:xfrm>
            <a:off x="8412480" y="4750308"/>
            <a:ext cx="320040" cy="228600"/>
          </a:xfrm>
          <a:prstGeom prst="rect">
            <a:avLst/>
          </a:prstGeom>
          <a:noFill/>
        </p:spPr>
        <p:txBody>
          <a:bodyPr wrap="none">
            <a:spAutoFit/>
          </a:bodyPr>
          <a:lstStyle/>
          <a:p>
            <a:pPr algn="r"/>
            <a:r>
              <a:rPr sz="1100" b="0">
                <a:solidFill>
                  <a:srgbClr val="0C0A9E"/>
                </a:solidFil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C622E44-8D3E-F043-2A29-58039ED3B99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C9D9366-D302-C7F1-7168-882097C3868A}"/>
              </a:ext>
            </a:extLst>
          </p:cNvPr>
          <p:cNvPicPr>
            <a:picLocks noChangeAspect="1"/>
          </p:cNvPicPr>
          <p:nvPr/>
        </p:nvPicPr>
        <p:blipFill>
          <a:blip r:embed="rId3">
            <a:alphaModFix amt="80000"/>
          </a:blip>
          <a:stretch>
            <a:fillRect/>
          </a:stretch>
        </p:blipFill>
        <p:spPr>
          <a:xfrm>
            <a:off x="6217920" y="2926080"/>
            <a:ext cx="2926080" cy="2194560"/>
          </a:xfrm>
          <a:prstGeom prst="rect">
            <a:avLst/>
          </a:prstGeom>
        </p:spPr>
      </p:pic>
      <p:sp>
        <p:nvSpPr>
          <p:cNvPr id="3" name="Text 0">
            <a:extLst>
              <a:ext uri="{FF2B5EF4-FFF2-40B4-BE49-F238E27FC236}">
                <a16:creationId xmlns:a16="http://schemas.microsoft.com/office/drawing/2014/main" id="{FA3D135D-9168-5390-ED32-23B6AA793170}"/>
              </a:ext>
            </a:extLst>
          </p:cNvPr>
          <p:cNvSpPr/>
          <p:nvPr/>
        </p:nvSpPr>
        <p:spPr>
          <a:xfrm>
            <a:off x="365760" y="137160"/>
            <a:ext cx="8412480" cy="475488"/>
          </a:xfrm>
          <a:prstGeom prst="rect">
            <a:avLst/>
          </a:prstGeom>
          <a:noFill/>
          <a:ln/>
        </p:spPr>
        <p:txBody>
          <a:bodyPr wrap="square" lIns="0" tIns="0" rIns="0" bIns="0" rtlCol="0" anchor="ctr"/>
          <a:lstStyle/>
          <a:p>
            <a:pPr marL="0" indent="0">
              <a:buNone/>
            </a:pPr>
            <a:r>
              <a:rPr lang="en-US" sz="2000" b="1" dirty="0">
                <a:solidFill>
                  <a:srgbClr val="0C0A9E"/>
                </a:solidFill>
                <a:latin typeface="Poppins" pitchFamily="34" charset="0"/>
                <a:cs typeface="Poppins" pitchFamily="34" charset="-120"/>
              </a:rPr>
              <a:t>EDA Results: </a:t>
            </a:r>
            <a:r>
              <a:rPr lang="en-US" sz="2000" b="1" dirty="0" err="1">
                <a:solidFill>
                  <a:srgbClr val="0C0A9E"/>
                </a:solidFill>
                <a:latin typeface="Poppins" pitchFamily="34" charset="0"/>
                <a:cs typeface="Poppins" pitchFamily="34" charset="-120"/>
              </a:rPr>
              <a:t>CodeSearchNet</a:t>
            </a:r>
            <a:endParaRPr lang="en-US" sz="2000" dirty="0"/>
          </a:p>
        </p:txBody>
      </p:sp>
      <p:sp>
        <p:nvSpPr>
          <p:cNvPr id="4" name="Shape 1">
            <a:extLst>
              <a:ext uri="{FF2B5EF4-FFF2-40B4-BE49-F238E27FC236}">
                <a16:creationId xmlns:a16="http://schemas.microsoft.com/office/drawing/2014/main" id="{F17D460C-6E6A-22C6-5BF1-2F9B5AC7CB71}"/>
              </a:ext>
            </a:extLst>
          </p:cNvPr>
          <p:cNvSpPr/>
          <p:nvPr/>
        </p:nvSpPr>
        <p:spPr>
          <a:xfrm>
            <a:off x="365760" y="621792"/>
            <a:ext cx="1280160" cy="50292"/>
          </a:xfrm>
          <a:prstGeom prst="rect">
            <a:avLst/>
          </a:prstGeom>
          <a:solidFill>
            <a:srgbClr val="FF9900"/>
          </a:solidFill>
          <a:ln/>
        </p:spPr>
        <p:txBody>
          <a:bodyPr/>
          <a:lstStyle/>
          <a:p>
            <a:endParaRPr lang="en-US"/>
          </a:p>
        </p:txBody>
      </p:sp>
      <p:sp>
        <p:nvSpPr>
          <p:cNvPr id="7" name="Shape 3">
            <a:extLst>
              <a:ext uri="{FF2B5EF4-FFF2-40B4-BE49-F238E27FC236}">
                <a16:creationId xmlns:a16="http://schemas.microsoft.com/office/drawing/2014/main" id="{CA62D11C-DDDA-C9BA-2E3A-5F489B9DE263}"/>
              </a:ext>
            </a:extLst>
          </p:cNvPr>
          <p:cNvSpPr/>
          <p:nvPr/>
        </p:nvSpPr>
        <p:spPr>
          <a:xfrm>
            <a:off x="365760" y="4736592"/>
            <a:ext cx="8412480" cy="0"/>
          </a:xfrm>
          <a:prstGeom prst="line">
            <a:avLst/>
          </a:prstGeom>
          <a:noFill/>
          <a:ln w="8890">
            <a:solidFill>
              <a:srgbClr val="C5C6E8"/>
            </a:solidFill>
            <a:prstDash val="solid"/>
          </a:ln>
        </p:spPr>
        <p:txBody>
          <a:bodyPr/>
          <a:lstStyle/>
          <a:p>
            <a:endParaRPr lang="en-US"/>
          </a:p>
        </p:txBody>
      </p:sp>
      <p:sp>
        <p:nvSpPr>
          <p:cNvPr id="8" name="Text 4">
            <a:extLst>
              <a:ext uri="{FF2B5EF4-FFF2-40B4-BE49-F238E27FC236}">
                <a16:creationId xmlns:a16="http://schemas.microsoft.com/office/drawing/2014/main" id="{D5D3B49C-D9E8-2A54-2E1E-F84904EBADE0}"/>
              </a:ext>
            </a:extLst>
          </p:cNvPr>
          <p:cNvSpPr/>
          <p:nvPr/>
        </p:nvSpPr>
        <p:spPr>
          <a:xfrm>
            <a:off x="365760" y="4773168"/>
            <a:ext cx="7772400" cy="201168"/>
          </a:xfrm>
          <a:prstGeom prst="rect">
            <a:avLst/>
          </a:prstGeom>
          <a:noFill/>
          <a:ln/>
        </p:spPr>
        <p:txBody>
          <a:bodyPr wrap="square" rtlCol="0" anchor="ctr"/>
          <a:lstStyle/>
          <a:p>
            <a:pPr marL="0" indent="0">
              <a:buNone/>
            </a:pPr>
            <a:r>
              <a:rPr lang="en-US" sz="750" i="1" dirty="0">
                <a:solidFill>
                  <a:srgbClr val="7B7B9D"/>
                </a:solidFill>
                <a:latin typeface="Poppins" pitchFamily="34" charset="0"/>
                <a:ea typeface="Poppins" pitchFamily="34" charset="-122"/>
                <a:cs typeface="Poppins" pitchFamily="34" charset="-120"/>
              </a:rPr>
              <a:t>Red dashed lines = quality filter thresholds. Documentation Coverage (bottom-left): Has Doc 100%, Inline Comments 31%, Structured Param Doc 32%, Return Doc 19%.</a:t>
            </a:r>
            <a:endParaRPr lang="en-US" sz="750" dirty="0"/>
          </a:p>
        </p:txBody>
      </p:sp>
      <p:pic>
        <p:nvPicPr>
          <p:cNvPr id="13" name="Picture 12">
            <a:extLst>
              <a:ext uri="{FF2B5EF4-FFF2-40B4-BE49-F238E27FC236}">
                <a16:creationId xmlns:a16="http://schemas.microsoft.com/office/drawing/2014/main" id="{3D7B03B7-B113-F611-A14D-6F878840B305}"/>
              </a:ext>
            </a:extLst>
          </p:cNvPr>
          <p:cNvPicPr>
            <a:picLocks noChangeAspect="1"/>
          </p:cNvPicPr>
          <p:nvPr/>
        </p:nvPicPr>
        <p:blipFill>
          <a:blip r:embed="rId4"/>
          <a:srcRect l="33131" t="6506" r="33232" b="47535"/>
          <a:stretch>
            <a:fillRect/>
          </a:stretch>
        </p:blipFill>
        <p:spPr>
          <a:xfrm>
            <a:off x="365760" y="1252385"/>
            <a:ext cx="3533653" cy="3065089"/>
          </a:xfrm>
          <a:prstGeom prst="rect">
            <a:avLst/>
          </a:prstGeom>
        </p:spPr>
      </p:pic>
      <p:pic>
        <p:nvPicPr>
          <p:cNvPr id="15" name="Picture 14">
            <a:extLst>
              <a:ext uri="{FF2B5EF4-FFF2-40B4-BE49-F238E27FC236}">
                <a16:creationId xmlns:a16="http://schemas.microsoft.com/office/drawing/2014/main" id="{7418E311-638F-9EB4-9600-E9FB7365B93E}"/>
              </a:ext>
            </a:extLst>
          </p:cNvPr>
          <p:cNvPicPr>
            <a:picLocks noChangeAspect="1"/>
          </p:cNvPicPr>
          <p:nvPr/>
        </p:nvPicPr>
        <p:blipFill>
          <a:blip r:embed="rId4"/>
          <a:srcRect l="33031" t="51899" r="32727"/>
          <a:stretch>
            <a:fillRect/>
          </a:stretch>
        </p:blipFill>
        <p:spPr>
          <a:xfrm>
            <a:off x="4677095" y="1252385"/>
            <a:ext cx="3533652" cy="3065089"/>
          </a:xfrm>
          <a:prstGeom prst="rect">
            <a:avLst/>
          </a:prstGeom>
        </p:spPr>
      </p:pic>
      <p:sp>
        <p:nvSpPr>
          <p:cNvPr id="16" name="TextBox 15"/>
          <p:cNvSpPr txBox="1"/>
          <p:nvPr/>
        </p:nvSpPr>
        <p:spPr>
          <a:xfrm>
            <a:off x="8412480" y="4750308"/>
            <a:ext cx="320040" cy="228600"/>
          </a:xfrm>
          <a:prstGeom prst="rect">
            <a:avLst/>
          </a:prstGeom>
          <a:noFill/>
        </p:spPr>
        <p:txBody>
          <a:bodyPr wrap="none">
            <a:spAutoFit/>
          </a:bodyPr>
          <a:lstStyle/>
          <a:p>
            <a:pPr algn="r"/>
            <a:r>
              <a:rPr sz="1100" b="0">
                <a:solidFill>
                  <a:srgbClr val="0C0A9E"/>
                </a:solidFill>
              </a:rPr>
              <a:t>11</a:t>
            </a:r>
          </a:p>
        </p:txBody>
      </p:sp>
    </p:spTree>
    <p:extLst>
      <p:ext uri="{BB962C8B-B14F-4D97-AF65-F5344CB8AC3E}">
        <p14:creationId xmlns:p14="http://schemas.microsoft.com/office/powerpoint/2010/main" val="3012241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41A71FE-AA35-409F-8199-365D0647E44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BF4DCB3-8E04-0B70-F8EB-1D3CE52BB1C1}"/>
              </a:ext>
            </a:extLst>
          </p:cNvPr>
          <p:cNvPicPr>
            <a:picLocks noChangeAspect="1"/>
          </p:cNvPicPr>
          <p:nvPr/>
        </p:nvPicPr>
        <p:blipFill>
          <a:blip r:embed="rId3">
            <a:alphaModFix amt="80000"/>
          </a:blip>
          <a:stretch>
            <a:fillRect/>
          </a:stretch>
        </p:blipFill>
        <p:spPr>
          <a:xfrm>
            <a:off x="6217920" y="2926080"/>
            <a:ext cx="2926080" cy="2194560"/>
          </a:xfrm>
          <a:prstGeom prst="rect">
            <a:avLst/>
          </a:prstGeom>
        </p:spPr>
      </p:pic>
      <p:sp>
        <p:nvSpPr>
          <p:cNvPr id="3" name="Text 0">
            <a:extLst>
              <a:ext uri="{FF2B5EF4-FFF2-40B4-BE49-F238E27FC236}">
                <a16:creationId xmlns:a16="http://schemas.microsoft.com/office/drawing/2014/main" id="{E7C93904-D8F2-4763-E5CF-415C88D92DF9}"/>
              </a:ext>
            </a:extLst>
          </p:cNvPr>
          <p:cNvSpPr/>
          <p:nvPr/>
        </p:nvSpPr>
        <p:spPr>
          <a:xfrm>
            <a:off x="365760" y="137160"/>
            <a:ext cx="8412480" cy="475488"/>
          </a:xfrm>
          <a:prstGeom prst="rect">
            <a:avLst/>
          </a:prstGeom>
          <a:noFill/>
          <a:ln/>
        </p:spPr>
        <p:txBody>
          <a:bodyPr wrap="square" lIns="0" tIns="0" rIns="0" bIns="0" rtlCol="0" anchor="ctr"/>
          <a:lstStyle/>
          <a:p>
            <a:pPr marL="0" indent="0">
              <a:buNone/>
            </a:pPr>
            <a:r>
              <a:rPr lang="en-US" sz="2000" b="1" dirty="0">
                <a:solidFill>
                  <a:srgbClr val="0C0A9E"/>
                </a:solidFill>
                <a:latin typeface="Poppins" pitchFamily="34" charset="0"/>
                <a:cs typeface="Poppins" pitchFamily="34" charset="-120"/>
              </a:rPr>
              <a:t>EDA Results: </a:t>
            </a:r>
            <a:r>
              <a:rPr lang="en-US" sz="2000" b="1" dirty="0" err="1">
                <a:solidFill>
                  <a:srgbClr val="0C0A9E"/>
                </a:solidFill>
                <a:latin typeface="Poppins" pitchFamily="34" charset="0"/>
                <a:cs typeface="Poppins" pitchFamily="34" charset="-120"/>
              </a:rPr>
              <a:t>CodeSearchNet</a:t>
            </a:r>
            <a:endParaRPr lang="en-US" sz="2000" dirty="0"/>
          </a:p>
        </p:txBody>
      </p:sp>
      <p:sp>
        <p:nvSpPr>
          <p:cNvPr id="4" name="Shape 1">
            <a:extLst>
              <a:ext uri="{FF2B5EF4-FFF2-40B4-BE49-F238E27FC236}">
                <a16:creationId xmlns:a16="http://schemas.microsoft.com/office/drawing/2014/main" id="{AE2EC57E-62EF-9C60-B652-9FED7F88AB4A}"/>
              </a:ext>
            </a:extLst>
          </p:cNvPr>
          <p:cNvSpPr/>
          <p:nvPr/>
        </p:nvSpPr>
        <p:spPr>
          <a:xfrm>
            <a:off x="365760" y="621792"/>
            <a:ext cx="1280160" cy="50292"/>
          </a:xfrm>
          <a:prstGeom prst="rect">
            <a:avLst/>
          </a:prstGeom>
          <a:solidFill>
            <a:srgbClr val="FF9900"/>
          </a:solidFill>
          <a:ln/>
        </p:spPr>
        <p:txBody>
          <a:bodyPr/>
          <a:lstStyle/>
          <a:p>
            <a:endParaRPr lang="en-US"/>
          </a:p>
        </p:txBody>
      </p:sp>
      <p:sp>
        <p:nvSpPr>
          <p:cNvPr id="7" name="Shape 3">
            <a:extLst>
              <a:ext uri="{FF2B5EF4-FFF2-40B4-BE49-F238E27FC236}">
                <a16:creationId xmlns:a16="http://schemas.microsoft.com/office/drawing/2014/main" id="{449459E4-8ACA-5D06-2C85-B282BFC1E17E}"/>
              </a:ext>
            </a:extLst>
          </p:cNvPr>
          <p:cNvSpPr/>
          <p:nvPr/>
        </p:nvSpPr>
        <p:spPr>
          <a:xfrm>
            <a:off x="365760" y="4736592"/>
            <a:ext cx="8412480" cy="0"/>
          </a:xfrm>
          <a:prstGeom prst="line">
            <a:avLst/>
          </a:prstGeom>
          <a:noFill/>
          <a:ln w="8890">
            <a:solidFill>
              <a:srgbClr val="C5C6E8"/>
            </a:solidFill>
            <a:prstDash val="solid"/>
          </a:ln>
        </p:spPr>
        <p:txBody>
          <a:bodyPr/>
          <a:lstStyle/>
          <a:p>
            <a:endParaRPr lang="en-US"/>
          </a:p>
        </p:txBody>
      </p:sp>
      <p:sp>
        <p:nvSpPr>
          <p:cNvPr id="8" name="Text 4">
            <a:extLst>
              <a:ext uri="{FF2B5EF4-FFF2-40B4-BE49-F238E27FC236}">
                <a16:creationId xmlns:a16="http://schemas.microsoft.com/office/drawing/2014/main" id="{98CFB28A-8630-3AFE-E167-FF4FE2B80632}"/>
              </a:ext>
            </a:extLst>
          </p:cNvPr>
          <p:cNvSpPr/>
          <p:nvPr/>
        </p:nvSpPr>
        <p:spPr>
          <a:xfrm>
            <a:off x="365760" y="4773168"/>
            <a:ext cx="7772400" cy="201168"/>
          </a:xfrm>
          <a:prstGeom prst="rect">
            <a:avLst/>
          </a:prstGeom>
          <a:noFill/>
          <a:ln/>
        </p:spPr>
        <p:txBody>
          <a:bodyPr wrap="square" rtlCol="0" anchor="ctr"/>
          <a:lstStyle/>
          <a:p>
            <a:pPr marL="0" indent="0">
              <a:buNone/>
            </a:pPr>
            <a:r>
              <a:rPr lang="en-US" sz="750" i="1" dirty="0">
                <a:solidFill>
                  <a:srgbClr val="7B7B9D"/>
                </a:solidFill>
                <a:latin typeface="Poppins" pitchFamily="34" charset="0"/>
                <a:ea typeface="Poppins" pitchFamily="34" charset="-122"/>
                <a:cs typeface="Poppins" pitchFamily="34" charset="-120"/>
              </a:rPr>
              <a:t>Red dashed lines = quality filter thresholds. Documentation Coverage (bottom-left): Has Doc 100%, Inline Comments 31%, Structured Param Doc 32%, Return Doc 19%.</a:t>
            </a:r>
            <a:endParaRPr lang="en-US" sz="750" dirty="0"/>
          </a:p>
        </p:txBody>
      </p:sp>
      <p:pic>
        <p:nvPicPr>
          <p:cNvPr id="9" name="Picture 8">
            <a:extLst>
              <a:ext uri="{FF2B5EF4-FFF2-40B4-BE49-F238E27FC236}">
                <a16:creationId xmlns:a16="http://schemas.microsoft.com/office/drawing/2014/main" id="{BDE351ED-CD5A-3A73-87D5-61A85CD3BA4B}"/>
              </a:ext>
            </a:extLst>
          </p:cNvPr>
          <p:cNvPicPr>
            <a:picLocks noChangeAspect="1"/>
          </p:cNvPicPr>
          <p:nvPr/>
        </p:nvPicPr>
        <p:blipFill>
          <a:blip r:embed="rId4"/>
          <a:srcRect l="66495" t="2178" b="47398"/>
          <a:stretch>
            <a:fillRect/>
          </a:stretch>
        </p:blipFill>
        <p:spPr>
          <a:xfrm>
            <a:off x="365760" y="922959"/>
            <a:ext cx="3771993" cy="3190234"/>
          </a:xfrm>
          <a:prstGeom prst="rect">
            <a:avLst/>
          </a:prstGeom>
        </p:spPr>
      </p:pic>
      <p:pic>
        <p:nvPicPr>
          <p:cNvPr id="13" name="Picture 12">
            <a:extLst>
              <a:ext uri="{FF2B5EF4-FFF2-40B4-BE49-F238E27FC236}">
                <a16:creationId xmlns:a16="http://schemas.microsoft.com/office/drawing/2014/main" id="{48BC81DA-1AC2-2257-5676-B6898B3B1BD2}"/>
              </a:ext>
            </a:extLst>
          </p:cNvPr>
          <p:cNvPicPr>
            <a:picLocks noChangeAspect="1"/>
          </p:cNvPicPr>
          <p:nvPr/>
        </p:nvPicPr>
        <p:blipFill>
          <a:blip r:embed="rId4"/>
          <a:srcRect l="66289" t="52419"/>
          <a:stretch>
            <a:fillRect/>
          </a:stretch>
        </p:blipFill>
        <p:spPr>
          <a:xfrm>
            <a:off x="4676637" y="1236047"/>
            <a:ext cx="3813268" cy="3024663"/>
          </a:xfrm>
          <a:prstGeom prst="rect">
            <a:avLst/>
          </a:prstGeom>
        </p:spPr>
      </p:pic>
      <p:sp>
        <p:nvSpPr>
          <p:cNvPr id="14" name="TextBox 13"/>
          <p:cNvSpPr txBox="1"/>
          <p:nvPr/>
        </p:nvSpPr>
        <p:spPr>
          <a:xfrm>
            <a:off x="8412480" y="4750308"/>
            <a:ext cx="320040" cy="228600"/>
          </a:xfrm>
          <a:prstGeom prst="rect">
            <a:avLst/>
          </a:prstGeom>
          <a:noFill/>
        </p:spPr>
        <p:txBody>
          <a:bodyPr wrap="none">
            <a:spAutoFit/>
          </a:bodyPr>
          <a:lstStyle/>
          <a:p>
            <a:pPr algn="r"/>
            <a:r>
              <a:rPr sz="1100" b="0">
                <a:solidFill>
                  <a:srgbClr val="0C0A9E"/>
                </a:solidFill>
              </a:rPr>
              <a:t>12</a:t>
            </a:r>
          </a:p>
        </p:txBody>
      </p:sp>
    </p:spTree>
    <p:extLst>
      <p:ext uri="{BB962C8B-B14F-4D97-AF65-F5344CB8AC3E}">
        <p14:creationId xmlns:p14="http://schemas.microsoft.com/office/powerpoint/2010/main" val="1701936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217920" y="2926080"/>
            <a:ext cx="2926080" cy="2194560"/>
          </a:xfrm>
          <a:prstGeom prst="rect">
            <a:avLst/>
          </a:prstGeom>
        </p:spPr>
      </p:pic>
      <p:sp>
        <p:nvSpPr>
          <p:cNvPr id="3" name="Text 0"/>
          <p:cNvSpPr/>
          <p:nvPr/>
        </p:nvSpPr>
        <p:spPr>
          <a:xfrm>
            <a:off x="365760" y="137160"/>
            <a:ext cx="8412480" cy="475488"/>
          </a:xfrm>
          <a:prstGeom prst="rect">
            <a:avLst/>
          </a:prstGeom>
          <a:noFill/>
          <a:ln/>
        </p:spPr>
        <p:txBody>
          <a:bodyPr wrap="square" lIns="0" tIns="0" rIns="0" bIns="0" rtlCol="0" anchor="ctr"/>
          <a:lstStyle/>
          <a:p>
            <a:pPr marL="0" indent="0">
              <a:buNone/>
            </a:pPr>
            <a:r>
              <a:rPr lang="en-US" sz="2000" b="1" dirty="0">
                <a:solidFill>
                  <a:srgbClr val="0C0A9E"/>
                </a:solidFill>
                <a:latin typeface="Poppins" pitchFamily="34" charset="0"/>
                <a:ea typeface="Poppins" pitchFamily="34" charset="-122"/>
                <a:cs typeface="Poppins" pitchFamily="34" charset="-120"/>
              </a:rPr>
              <a:t>EDA Results: </a:t>
            </a:r>
            <a:r>
              <a:rPr lang="en-US" sz="2000" b="1" dirty="0" err="1">
                <a:solidFill>
                  <a:srgbClr val="0C0A9E"/>
                </a:solidFill>
                <a:latin typeface="Poppins" pitchFamily="34" charset="0"/>
                <a:ea typeface="Poppins" pitchFamily="34" charset="-122"/>
                <a:cs typeface="Poppins" pitchFamily="34" charset="-120"/>
              </a:rPr>
              <a:t>Github</a:t>
            </a:r>
            <a:r>
              <a:rPr lang="en-US" sz="2000" b="1" dirty="0">
                <a:solidFill>
                  <a:srgbClr val="0C0A9E"/>
                </a:solidFill>
                <a:latin typeface="Poppins" pitchFamily="34" charset="0"/>
                <a:ea typeface="Poppins" pitchFamily="34" charset="-122"/>
                <a:cs typeface="Poppins" pitchFamily="34" charset="-120"/>
              </a:rPr>
              <a:t> Issues</a:t>
            </a:r>
            <a:endParaRPr lang="en-US" sz="2000" dirty="0"/>
          </a:p>
        </p:txBody>
      </p:sp>
      <p:sp>
        <p:nvSpPr>
          <p:cNvPr id="4" name="Shape 1"/>
          <p:cNvSpPr/>
          <p:nvPr/>
        </p:nvSpPr>
        <p:spPr>
          <a:xfrm>
            <a:off x="365760" y="621792"/>
            <a:ext cx="1280160" cy="50292"/>
          </a:xfrm>
          <a:prstGeom prst="rect">
            <a:avLst/>
          </a:prstGeom>
          <a:solidFill>
            <a:srgbClr val="FF9900"/>
          </a:solidFill>
          <a:ln/>
        </p:spPr>
        <p:txBody>
          <a:bodyPr/>
          <a:lstStyle/>
          <a:p>
            <a:endParaRPr lang="en-US"/>
          </a:p>
        </p:txBody>
      </p:sp>
      <p:sp>
        <p:nvSpPr>
          <p:cNvPr id="6" name="Text 3"/>
          <p:cNvSpPr/>
          <p:nvPr/>
        </p:nvSpPr>
        <p:spPr>
          <a:xfrm>
            <a:off x="365760" y="777240"/>
            <a:ext cx="4023360" cy="237744"/>
          </a:xfrm>
          <a:prstGeom prst="rect">
            <a:avLst/>
          </a:prstGeom>
          <a:noFill/>
          <a:ln/>
        </p:spPr>
        <p:txBody>
          <a:bodyPr wrap="square" lIns="0" tIns="0" rIns="0" bIns="0" rtlCol="0" anchor="ctr"/>
          <a:lstStyle/>
          <a:p>
            <a:pPr marL="0" indent="0">
              <a:buNone/>
            </a:pPr>
            <a:r>
              <a:rPr lang="en-US" sz="1200" b="1" dirty="0">
                <a:solidFill>
                  <a:srgbClr val="0C0A9E"/>
                </a:solidFill>
                <a:latin typeface="Poppins" pitchFamily="34" charset="0"/>
                <a:ea typeface="Poppins" pitchFamily="34" charset="-122"/>
                <a:cs typeface="Poppins" pitchFamily="34" charset="-120"/>
              </a:rPr>
              <a:t>Descriptive Statistics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033272"/>
          <a:ext cx="4023360" cy="1487424"/>
        </p:xfrm>
        <a:graphic>
          <a:graphicData uri="http://schemas.openxmlformats.org/drawingml/2006/table">
            <a:tbl>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01752">
                <a:tc>
                  <a:txBody>
                    <a:bodyPr/>
                    <a:lstStyle/>
                    <a:p>
                      <a:pPr marL="0" indent="0">
                        <a:buNone/>
                      </a:pPr>
                      <a:r>
                        <a:rPr lang="en-US" sz="1150" b="1" dirty="0">
                          <a:solidFill>
                            <a:srgbClr val="FFFFFF"/>
                          </a:solidFill>
                          <a:latin typeface="Poppins" pitchFamily="34" charset="0"/>
                          <a:ea typeface="Poppins" pitchFamily="34" charset="-122"/>
                          <a:cs typeface="Poppins" pitchFamily="34" charset="-120"/>
                        </a:rPr>
                        <a:t>Metric</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0C0A9E"/>
                    </a:solidFill>
                  </a:tcPr>
                </a:tc>
                <a:tc>
                  <a:txBody>
                    <a:bodyPr/>
                    <a:lstStyle/>
                    <a:p>
                      <a:pPr marL="0" indent="0">
                        <a:buNone/>
                      </a:pPr>
                      <a:r>
                        <a:rPr lang="en-US" sz="1150" b="1" dirty="0">
                          <a:solidFill>
                            <a:srgbClr val="FFFFFF"/>
                          </a:solidFill>
                          <a:latin typeface="Poppins" pitchFamily="34" charset="0"/>
                          <a:ea typeface="Poppins" pitchFamily="34" charset="-122"/>
                          <a:cs typeface="Poppins" pitchFamily="34" charset="-120"/>
                        </a:rPr>
                        <a:t>Mean</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0C0A9E"/>
                    </a:solidFill>
                  </a:tcPr>
                </a:tc>
                <a:tc>
                  <a:txBody>
                    <a:bodyPr/>
                    <a:lstStyle/>
                    <a:p>
                      <a:pPr marL="0" indent="0">
                        <a:buNone/>
                      </a:pPr>
                      <a:r>
                        <a:rPr lang="en-US" sz="1150" b="1" dirty="0">
                          <a:solidFill>
                            <a:srgbClr val="FFFFFF"/>
                          </a:solidFill>
                          <a:latin typeface="Poppins" pitchFamily="34" charset="0"/>
                          <a:ea typeface="Poppins" pitchFamily="34" charset="-122"/>
                          <a:cs typeface="Poppins" pitchFamily="34" charset="-120"/>
                        </a:rPr>
                        <a:t>Median</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0C0A9E"/>
                    </a:solidFill>
                  </a:tcPr>
                </a:tc>
                <a:tc>
                  <a:txBody>
                    <a:bodyPr/>
                    <a:lstStyle/>
                    <a:p>
                      <a:pPr marL="0" indent="0">
                        <a:buNone/>
                      </a:pPr>
                      <a:r>
                        <a:rPr lang="en-US" sz="1150" b="1" dirty="0">
                          <a:solidFill>
                            <a:srgbClr val="FFFFFF"/>
                          </a:solidFill>
                          <a:latin typeface="Poppins" pitchFamily="34" charset="0"/>
                          <a:ea typeface="Poppins" pitchFamily="34" charset="-122"/>
                          <a:cs typeface="Poppins" pitchFamily="34" charset="-120"/>
                        </a:rPr>
                        <a:t>Max</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0C0A9E"/>
                    </a:solidFill>
                  </a:tcPr>
                </a:tc>
                <a:extLst>
                  <a:ext uri="{0D108BD9-81ED-4DB2-BD59-A6C34878D82A}">
                    <a16:rowId xmlns:a16="http://schemas.microsoft.com/office/drawing/2014/main" val="10000"/>
                  </a:ext>
                </a:extLst>
              </a:tr>
              <a:tr h="301752">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Title words</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7.5</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7</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26</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Body words</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181.8</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123</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18,481</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Label count</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N/A</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N/A</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tc>
                  <a:txBody>
                    <a:bodyPr/>
                    <a:lstStyle/>
                    <a:p>
                      <a:pPr marL="0" indent="0">
                        <a:buNone/>
                      </a:pPr>
                      <a:r>
                        <a:rPr lang="en-US" sz="1150" dirty="0">
                          <a:solidFill>
                            <a:srgbClr val="000000"/>
                          </a:solidFill>
                          <a:latin typeface="Poppins" pitchFamily="34" charset="0"/>
                          <a:ea typeface="Poppins" pitchFamily="34" charset="-122"/>
                          <a:cs typeface="Poppins" pitchFamily="34" charset="-120"/>
                        </a:rPr>
                        <a:t>top: needsInvestigation</a:t>
                      </a:r>
                      <a:endParaRPr lang="en-US" sz="1150" dirty="0">
                        <a:latin typeface="Poppins" charset="0"/>
                        <a:ea typeface="Poppins" charset="0"/>
                        <a:cs typeface="Poppins" charset="0"/>
                      </a:endParaRPr>
                    </a:p>
                  </a:txBody>
                  <a:tcPr>
                    <a:lnL w="6350" cap="flat" cmpd="sng" algn="ctr">
                      <a:solidFill>
                        <a:srgbClr val="C5C6E8"/>
                      </a:solidFill>
                      <a:prstDash val="solid"/>
                      <a:round/>
                      <a:headEnd type="none" w="med" len="med"/>
                      <a:tailEnd type="none" w="med" len="med"/>
                    </a:lnL>
                    <a:lnR w="6350" cap="flat" cmpd="sng" algn="ctr">
                      <a:solidFill>
                        <a:srgbClr val="C5C6E8"/>
                      </a:solidFill>
                      <a:prstDash val="solid"/>
                      <a:round/>
                      <a:headEnd type="none" w="med" len="med"/>
                      <a:tailEnd type="none" w="med" len="med"/>
                    </a:lnR>
                    <a:lnT w="6350" cap="flat" cmpd="sng" algn="ctr">
                      <a:solidFill>
                        <a:srgbClr val="C5C6E8"/>
                      </a:solidFill>
                      <a:prstDash val="solid"/>
                      <a:round/>
                      <a:headEnd type="none" w="med" len="med"/>
                      <a:tailEnd type="none" w="med" len="med"/>
                    </a:lnT>
                    <a:lnB w="6350" cap="flat" cmpd="sng" algn="ctr">
                      <a:solidFill>
                        <a:srgbClr val="C5C6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7" name="Text 23"/>
          <p:cNvSpPr/>
          <p:nvPr/>
        </p:nvSpPr>
        <p:spPr>
          <a:xfrm>
            <a:off x="365760" y="2979810"/>
            <a:ext cx="8412480" cy="237744"/>
          </a:xfrm>
          <a:prstGeom prst="rect">
            <a:avLst/>
          </a:prstGeom>
          <a:noFill/>
          <a:ln/>
        </p:spPr>
        <p:txBody>
          <a:bodyPr wrap="square" lIns="0" tIns="0" rIns="0" bIns="0" rtlCol="0" anchor="ctr"/>
          <a:lstStyle/>
          <a:p>
            <a:pPr marL="0" indent="0">
              <a:buNone/>
            </a:pPr>
            <a:r>
              <a:rPr lang="en-US" sz="1200" b="1" dirty="0">
                <a:solidFill>
                  <a:srgbClr val="0C0A9E"/>
                </a:solidFill>
                <a:latin typeface="Poppins" pitchFamily="34" charset="0"/>
                <a:ea typeface="Poppins" pitchFamily="34" charset="-122"/>
                <a:cs typeface="Poppins" pitchFamily="34" charset="-120"/>
              </a:rPr>
              <a:t>Key Findings</a:t>
            </a:r>
            <a:endParaRPr lang="en-US" sz="1200" dirty="0"/>
          </a:p>
        </p:txBody>
      </p:sp>
      <p:sp>
        <p:nvSpPr>
          <p:cNvPr id="28" name="Text 24"/>
          <p:cNvSpPr/>
          <p:nvPr/>
        </p:nvSpPr>
        <p:spPr>
          <a:xfrm>
            <a:off x="258371" y="3210216"/>
            <a:ext cx="7588457" cy="1327015"/>
          </a:xfrm>
          <a:prstGeom prst="rect">
            <a:avLst/>
          </a:prstGeom>
          <a:noFill/>
          <a:ln/>
        </p:spPr>
        <p:txBody>
          <a:bodyPr wrap="square" rtlCol="0" anchor="ctr"/>
          <a:lstStyle/>
          <a:p>
            <a:pPr marL="342900" indent="-342900">
              <a:spcAft>
                <a:spcPts val="300"/>
              </a:spcAft>
              <a:buSzPct val="100000"/>
              <a:buChar char="•"/>
            </a:pPr>
            <a:r>
              <a:rPr lang="en-US" sz="1200" dirty="0">
                <a:solidFill>
                  <a:srgbClr val="191919"/>
                </a:solidFill>
                <a:latin typeface="Poppins" pitchFamily="34" charset="0"/>
                <a:ea typeface="Poppins" pitchFamily="34" charset="-122"/>
                <a:cs typeface="Poppins" pitchFamily="34" charset="-120"/>
              </a:rPr>
              <a:t>48.3% of issues include code blocks — high lexical overlap with CSN, justifying shared architecture</a:t>
            </a:r>
            <a:endParaRPr lang="en-US" sz="1200" dirty="0"/>
          </a:p>
          <a:p>
            <a:pPr marL="342900" indent="-342900">
              <a:spcAft>
                <a:spcPts val="300"/>
              </a:spcAft>
              <a:buSzPct val="100000"/>
              <a:buChar char="•"/>
            </a:pPr>
            <a:r>
              <a:rPr lang="en-US" sz="1200" dirty="0">
                <a:solidFill>
                  <a:srgbClr val="191919"/>
                </a:solidFill>
                <a:latin typeface="Poppins" pitchFamily="34" charset="0"/>
                <a:ea typeface="Poppins" pitchFamily="34" charset="-122"/>
                <a:cs typeface="Poppins" pitchFamily="34" charset="-120"/>
              </a:rPr>
              <a:t>Body word count is heavily right-skewed (std 339) — max-length cap of 600 words prevents noisy targets</a:t>
            </a:r>
            <a:endParaRPr lang="en-US" sz="1200" dirty="0"/>
          </a:p>
          <a:p>
            <a:pPr marL="342900" indent="-342900">
              <a:spcAft>
                <a:spcPts val="300"/>
              </a:spcAft>
              <a:buSzPct val="100000"/>
              <a:buChar char="•"/>
            </a:pPr>
            <a:r>
              <a:rPr lang="en-US" sz="1200" dirty="0">
                <a:solidFill>
                  <a:srgbClr val="191919"/>
                </a:solidFill>
                <a:latin typeface="Poppins" pitchFamily="34" charset="0"/>
                <a:ea typeface="Poppins" pitchFamily="34" charset="-122"/>
                <a:cs typeface="Poppins" pitchFamily="34" charset="-120"/>
              </a:rPr>
              <a:t>Low traceback/error-msg rates mean model must learn semantic summarization, not pattern matching</a:t>
            </a:r>
            <a:endParaRPr lang="en-US" sz="1200" dirty="0"/>
          </a:p>
        </p:txBody>
      </p:sp>
      <p:sp>
        <p:nvSpPr>
          <p:cNvPr id="29" name="Shape 25"/>
          <p:cNvSpPr/>
          <p:nvPr/>
        </p:nvSpPr>
        <p:spPr>
          <a:xfrm>
            <a:off x="365760" y="4736592"/>
            <a:ext cx="8412480" cy="0"/>
          </a:xfrm>
          <a:prstGeom prst="line">
            <a:avLst/>
          </a:prstGeom>
          <a:noFill/>
          <a:ln w="8890">
            <a:solidFill>
              <a:srgbClr val="C5C6E8"/>
            </a:solidFill>
            <a:prstDash val="solid"/>
          </a:ln>
        </p:spPr>
        <p:txBody>
          <a:bodyPr/>
          <a:lstStyle/>
          <a:p>
            <a:endParaRPr lang="en-US"/>
          </a:p>
        </p:txBody>
      </p:sp>
      <p:sp>
        <p:nvSpPr>
          <p:cNvPr id="30" name="Text 26"/>
          <p:cNvSpPr/>
          <p:nvPr/>
        </p:nvSpPr>
        <p:spPr>
          <a:xfrm>
            <a:off x="365760" y="4773168"/>
            <a:ext cx="7772400" cy="201168"/>
          </a:xfrm>
          <a:prstGeom prst="rect">
            <a:avLst/>
          </a:prstGeom>
          <a:noFill/>
          <a:ln/>
        </p:spPr>
        <p:txBody>
          <a:bodyPr wrap="square" rtlCol="0" anchor="ctr"/>
          <a:lstStyle/>
          <a:p>
            <a:pPr marL="0" indent="0">
              <a:buNone/>
            </a:pPr>
            <a:r>
              <a:rPr lang="en-US" sz="750" i="1" dirty="0">
                <a:solidFill>
                  <a:srgbClr val="7B7B9D"/>
                </a:solidFill>
                <a:latin typeface="Poppins" pitchFamily="34" charset="0"/>
                <a:ea typeface="Poppins" pitchFamily="34" charset="-122"/>
                <a:cs typeface="Poppins" pitchFamily="34" charset="-120"/>
              </a:rPr>
              <a:t>Dataset: sharjeelyunus/github-issues-dataset (HuggingFace). Quality filter: title ≥3 words, body 20–600 words; generic single-word titles discarded.</a:t>
            </a:r>
            <a:endParaRPr lang="en-US" sz="750" dirty="0"/>
          </a:p>
        </p:txBody>
      </p:sp>
      <p:sp>
        <p:nvSpPr>
          <p:cNvPr id="31" name="TextBox 30"/>
          <p:cNvSpPr txBox="1"/>
          <p:nvPr/>
        </p:nvSpPr>
        <p:spPr>
          <a:xfrm>
            <a:off x="8412480" y="4750308"/>
            <a:ext cx="320040" cy="228600"/>
          </a:xfrm>
          <a:prstGeom prst="rect">
            <a:avLst/>
          </a:prstGeom>
          <a:noFill/>
        </p:spPr>
        <p:txBody>
          <a:bodyPr wrap="none">
            <a:spAutoFit/>
          </a:bodyPr>
          <a:lstStyle/>
          <a:p>
            <a:pPr algn="r"/>
            <a:r>
              <a:rPr sz="1100" b="0">
                <a:solidFill>
                  <a:srgbClr val="0C0A9E"/>
                </a:solidFil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217920" y="2926080"/>
            <a:ext cx="2926080" cy="2194560"/>
          </a:xfrm>
          <a:prstGeom prst="rect">
            <a:avLst/>
          </a:prstGeom>
        </p:spPr>
      </p:pic>
      <p:sp>
        <p:nvSpPr>
          <p:cNvPr id="3" name="Text 0"/>
          <p:cNvSpPr/>
          <p:nvPr/>
        </p:nvSpPr>
        <p:spPr>
          <a:xfrm>
            <a:off x="365760" y="137160"/>
            <a:ext cx="8412480" cy="475488"/>
          </a:xfrm>
          <a:prstGeom prst="rect">
            <a:avLst/>
          </a:prstGeom>
          <a:noFill/>
          <a:ln/>
        </p:spPr>
        <p:txBody>
          <a:bodyPr wrap="square" lIns="0" tIns="0" rIns="0" bIns="0" rtlCol="0" anchor="ctr"/>
          <a:lstStyle/>
          <a:p>
            <a:pPr marL="0" indent="0">
              <a:buNone/>
            </a:pPr>
            <a:r>
              <a:rPr lang="en-US" sz="2000" b="1" dirty="0">
                <a:solidFill>
                  <a:srgbClr val="0C0A9E"/>
                </a:solidFill>
                <a:latin typeface="Poppins" pitchFamily="34" charset="0"/>
                <a:ea typeface="Poppins" pitchFamily="34" charset="-122"/>
                <a:cs typeface="Poppins" pitchFamily="34" charset="-120"/>
              </a:rPr>
              <a:t>EDA Results: </a:t>
            </a:r>
            <a:r>
              <a:rPr lang="en-US" sz="2000" b="1" dirty="0" err="1">
                <a:solidFill>
                  <a:srgbClr val="0C0A9E"/>
                </a:solidFill>
                <a:latin typeface="Poppins" pitchFamily="34" charset="0"/>
                <a:ea typeface="Poppins" pitchFamily="34" charset="-122"/>
                <a:cs typeface="Poppins" pitchFamily="34" charset="-120"/>
              </a:rPr>
              <a:t>Github</a:t>
            </a:r>
            <a:r>
              <a:rPr lang="en-US" sz="2000" b="1" dirty="0">
                <a:solidFill>
                  <a:srgbClr val="0C0A9E"/>
                </a:solidFill>
                <a:latin typeface="Poppins" pitchFamily="34" charset="0"/>
                <a:ea typeface="Poppins" pitchFamily="34" charset="-122"/>
                <a:cs typeface="Poppins" pitchFamily="34" charset="-120"/>
              </a:rPr>
              <a:t> Issues</a:t>
            </a:r>
            <a:endParaRPr lang="en-US" sz="2000" dirty="0"/>
          </a:p>
        </p:txBody>
      </p:sp>
      <p:sp>
        <p:nvSpPr>
          <p:cNvPr id="4" name="Shape 1"/>
          <p:cNvSpPr/>
          <p:nvPr/>
        </p:nvSpPr>
        <p:spPr>
          <a:xfrm>
            <a:off x="365760" y="621792"/>
            <a:ext cx="1280160" cy="50292"/>
          </a:xfrm>
          <a:prstGeom prst="rect">
            <a:avLst/>
          </a:prstGeom>
          <a:solidFill>
            <a:srgbClr val="FF9900"/>
          </a:solidFill>
          <a:ln/>
        </p:spPr>
        <p:txBody>
          <a:bodyPr/>
          <a:lstStyle/>
          <a:p>
            <a:endParaRPr lang="en-US"/>
          </a:p>
        </p:txBody>
      </p:sp>
      <p:pic>
        <p:nvPicPr>
          <p:cNvPr id="6" name="Image 1" descr="/home/claude/notebook_img_9_0.png"/>
          <p:cNvPicPr>
            <a:picLocks noChangeAspect="1"/>
          </p:cNvPicPr>
          <p:nvPr/>
        </p:nvPicPr>
        <p:blipFill>
          <a:blip r:embed="rId4"/>
          <a:srcRect t="7419" r="66510"/>
          <a:stretch>
            <a:fillRect/>
          </a:stretch>
        </p:blipFill>
        <p:spPr>
          <a:xfrm>
            <a:off x="4603580" y="762848"/>
            <a:ext cx="3854620" cy="4010320"/>
          </a:xfrm>
          <a:prstGeom prst="rect">
            <a:avLst/>
          </a:prstGeom>
        </p:spPr>
      </p:pic>
      <p:sp>
        <p:nvSpPr>
          <p:cNvPr id="19" name="TextBox 18">
            <a:extLst>
              <a:ext uri="{FF2B5EF4-FFF2-40B4-BE49-F238E27FC236}">
                <a16:creationId xmlns:a16="http://schemas.microsoft.com/office/drawing/2014/main" id="{762ECEAB-5300-2026-9698-D0B7C99AC309}"/>
              </a:ext>
            </a:extLst>
          </p:cNvPr>
          <p:cNvSpPr txBox="1"/>
          <p:nvPr/>
        </p:nvSpPr>
        <p:spPr>
          <a:xfrm>
            <a:off x="365760" y="1140588"/>
            <a:ext cx="4045984" cy="1384995"/>
          </a:xfrm>
          <a:prstGeom prst="rect">
            <a:avLst/>
          </a:prstGeom>
          <a:noFill/>
        </p:spPr>
        <p:txBody>
          <a:bodyPr wrap="square">
            <a:spAutoFit/>
          </a:bodyPr>
          <a:lstStyle/>
          <a:p>
            <a:pPr>
              <a:buFont typeface="Arial" panose="020B0604020202020204" pitchFamily="34" charset="0"/>
              <a:buChar char="•"/>
            </a:pPr>
            <a:r>
              <a:rPr lang="en-US" sz="1200" dirty="0">
                <a:latin typeface="Poppins" panose="00000500000000000000" pitchFamily="2" charset="0"/>
                <a:cs typeface="Poppins" panose="00000500000000000000" pitchFamily="2" charset="0"/>
              </a:rPr>
              <a:t> Majority of issue titles are brief and descriptive, making them suitable summarization targets.</a:t>
            </a:r>
          </a:p>
          <a:p>
            <a:pPr>
              <a:buFont typeface="Arial" panose="020B0604020202020204" pitchFamily="34" charset="0"/>
              <a:buChar char="•"/>
            </a:pPr>
            <a:endParaRPr lang="en-US" sz="1200" dirty="0">
              <a:latin typeface="Poppins" panose="00000500000000000000" pitchFamily="2" charset="0"/>
              <a:cs typeface="Poppins" panose="00000500000000000000" pitchFamily="2" charset="0"/>
            </a:endParaRPr>
          </a:p>
          <a:p>
            <a:pPr>
              <a:buFont typeface="Arial" panose="020B0604020202020204" pitchFamily="34" charset="0"/>
              <a:buChar char="•"/>
            </a:pPr>
            <a:r>
              <a:rPr lang="en-US" sz="1200" dirty="0">
                <a:latin typeface="Poppins" panose="00000500000000000000" pitchFamily="2" charset="0"/>
                <a:cs typeface="Poppins" panose="00000500000000000000" pitchFamily="2" charset="0"/>
              </a:rPr>
              <a:t>The red dashed line at min=3 words filters out single-word generic titles like "bug", "fix", and "help" that carry no meaningful content for the model to learn from</a:t>
            </a:r>
          </a:p>
        </p:txBody>
      </p:sp>
      <p:sp>
        <p:nvSpPr>
          <p:cNvPr id="20" name="TextBox 19"/>
          <p:cNvSpPr txBox="1"/>
          <p:nvPr/>
        </p:nvSpPr>
        <p:spPr>
          <a:xfrm>
            <a:off x="8412480" y="4750308"/>
            <a:ext cx="320040" cy="228600"/>
          </a:xfrm>
          <a:prstGeom prst="rect">
            <a:avLst/>
          </a:prstGeom>
          <a:noFill/>
        </p:spPr>
        <p:txBody>
          <a:bodyPr wrap="none">
            <a:spAutoFit/>
          </a:bodyPr>
          <a:lstStyle/>
          <a:p>
            <a:pPr algn="r"/>
            <a:r>
              <a:rPr sz="1100" b="0">
                <a:solidFill>
                  <a:srgbClr val="0C0A9E"/>
                </a:solidFil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9A49613-029C-1EE6-306B-ECD73047F26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958AD6E-465D-A7CF-7163-DD82F812C92F}"/>
              </a:ext>
            </a:extLst>
          </p:cNvPr>
          <p:cNvPicPr>
            <a:picLocks noChangeAspect="1"/>
          </p:cNvPicPr>
          <p:nvPr/>
        </p:nvPicPr>
        <p:blipFill>
          <a:blip r:embed="rId3">
            <a:alphaModFix amt="80000"/>
          </a:blip>
          <a:stretch>
            <a:fillRect/>
          </a:stretch>
        </p:blipFill>
        <p:spPr>
          <a:xfrm>
            <a:off x="6217920" y="2926080"/>
            <a:ext cx="2926080" cy="2194560"/>
          </a:xfrm>
          <a:prstGeom prst="rect">
            <a:avLst/>
          </a:prstGeom>
        </p:spPr>
      </p:pic>
      <p:sp>
        <p:nvSpPr>
          <p:cNvPr id="3" name="Text 0">
            <a:extLst>
              <a:ext uri="{FF2B5EF4-FFF2-40B4-BE49-F238E27FC236}">
                <a16:creationId xmlns:a16="http://schemas.microsoft.com/office/drawing/2014/main" id="{51BF9B79-731F-E11E-E205-057E0795B08D}"/>
              </a:ext>
            </a:extLst>
          </p:cNvPr>
          <p:cNvSpPr/>
          <p:nvPr/>
        </p:nvSpPr>
        <p:spPr>
          <a:xfrm>
            <a:off x="365760" y="137160"/>
            <a:ext cx="8412480" cy="475488"/>
          </a:xfrm>
          <a:prstGeom prst="rect">
            <a:avLst/>
          </a:prstGeom>
          <a:noFill/>
          <a:ln/>
        </p:spPr>
        <p:txBody>
          <a:bodyPr wrap="square" lIns="0" tIns="0" rIns="0" bIns="0" rtlCol="0" anchor="ctr"/>
          <a:lstStyle/>
          <a:p>
            <a:pPr marL="0" indent="0">
              <a:buNone/>
            </a:pPr>
            <a:r>
              <a:rPr lang="en-US" sz="2000" b="1" dirty="0">
                <a:solidFill>
                  <a:srgbClr val="0C0A9E"/>
                </a:solidFill>
                <a:latin typeface="Poppins" pitchFamily="34" charset="0"/>
                <a:ea typeface="Poppins" pitchFamily="34" charset="-122"/>
                <a:cs typeface="Poppins" pitchFamily="34" charset="-120"/>
              </a:rPr>
              <a:t>EDA Results: </a:t>
            </a:r>
            <a:r>
              <a:rPr lang="en-US" sz="2000" b="1" dirty="0" err="1">
                <a:solidFill>
                  <a:srgbClr val="0C0A9E"/>
                </a:solidFill>
                <a:latin typeface="Poppins" pitchFamily="34" charset="0"/>
                <a:ea typeface="Poppins" pitchFamily="34" charset="-122"/>
                <a:cs typeface="Poppins" pitchFamily="34" charset="-120"/>
              </a:rPr>
              <a:t>Github</a:t>
            </a:r>
            <a:r>
              <a:rPr lang="en-US" sz="2000" b="1" dirty="0">
                <a:solidFill>
                  <a:srgbClr val="0C0A9E"/>
                </a:solidFill>
                <a:latin typeface="Poppins" pitchFamily="34" charset="0"/>
                <a:ea typeface="Poppins" pitchFamily="34" charset="-122"/>
                <a:cs typeface="Poppins" pitchFamily="34" charset="-120"/>
              </a:rPr>
              <a:t> Issues</a:t>
            </a:r>
            <a:endParaRPr lang="en-US" sz="2000" dirty="0"/>
          </a:p>
        </p:txBody>
      </p:sp>
      <p:sp>
        <p:nvSpPr>
          <p:cNvPr id="4" name="Shape 1">
            <a:extLst>
              <a:ext uri="{FF2B5EF4-FFF2-40B4-BE49-F238E27FC236}">
                <a16:creationId xmlns:a16="http://schemas.microsoft.com/office/drawing/2014/main" id="{107B16ED-1211-B252-ED6F-676B3E90FD2B}"/>
              </a:ext>
            </a:extLst>
          </p:cNvPr>
          <p:cNvSpPr/>
          <p:nvPr/>
        </p:nvSpPr>
        <p:spPr>
          <a:xfrm>
            <a:off x="365760" y="621792"/>
            <a:ext cx="1280160" cy="50292"/>
          </a:xfrm>
          <a:prstGeom prst="rect">
            <a:avLst/>
          </a:prstGeom>
          <a:solidFill>
            <a:srgbClr val="FF9900"/>
          </a:solidFill>
          <a:ln/>
        </p:spPr>
        <p:txBody>
          <a:bodyPr/>
          <a:lstStyle/>
          <a:p>
            <a:endParaRPr lang="en-US"/>
          </a:p>
        </p:txBody>
      </p:sp>
      <p:pic>
        <p:nvPicPr>
          <p:cNvPr id="6" name="Image 1" descr="/home/claude/notebook_img_9_0.png">
            <a:extLst>
              <a:ext uri="{FF2B5EF4-FFF2-40B4-BE49-F238E27FC236}">
                <a16:creationId xmlns:a16="http://schemas.microsoft.com/office/drawing/2014/main" id="{B304612A-6C66-7C09-517D-850A5D48FA7F}"/>
              </a:ext>
            </a:extLst>
          </p:cNvPr>
          <p:cNvPicPr>
            <a:picLocks noChangeAspect="1"/>
          </p:cNvPicPr>
          <p:nvPr/>
        </p:nvPicPr>
        <p:blipFill>
          <a:blip r:embed="rId4"/>
          <a:srcRect l="32518" t="6446" r="33073"/>
          <a:stretch>
            <a:fillRect/>
          </a:stretch>
        </p:blipFill>
        <p:spPr>
          <a:xfrm>
            <a:off x="4375790" y="687314"/>
            <a:ext cx="4082410" cy="4177294"/>
          </a:xfrm>
          <a:prstGeom prst="rect">
            <a:avLst/>
          </a:prstGeom>
        </p:spPr>
      </p:pic>
      <p:sp>
        <p:nvSpPr>
          <p:cNvPr id="8" name="TextBox 7">
            <a:extLst>
              <a:ext uri="{FF2B5EF4-FFF2-40B4-BE49-F238E27FC236}">
                <a16:creationId xmlns:a16="http://schemas.microsoft.com/office/drawing/2014/main" id="{83376AAA-04D1-904C-7130-55EB4D6EADC6}"/>
              </a:ext>
            </a:extLst>
          </p:cNvPr>
          <p:cNvSpPr txBox="1"/>
          <p:nvPr/>
        </p:nvSpPr>
        <p:spPr>
          <a:xfrm>
            <a:off x="233785" y="1176269"/>
            <a:ext cx="3857448" cy="1015663"/>
          </a:xfrm>
          <a:prstGeom prst="rect">
            <a:avLst/>
          </a:prstGeom>
          <a:noFill/>
        </p:spPr>
        <p:txBody>
          <a:bodyPr wrap="square">
            <a:spAutoFit/>
          </a:bodyPr>
          <a:lstStyle/>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The wide spread reflects the diversity of GitHub issue quality, ranging from one-line questions to full incident reports with logs and stack traces.</a:t>
            </a:r>
          </a:p>
          <a:p>
            <a:pPr marL="171450" indent="-171450">
              <a:buFont typeface="Arial" panose="020B0604020202020204" pitchFamily="34" charset="0"/>
              <a:buChar char="•"/>
            </a:pPr>
            <a:endParaRPr lang="en-US" sz="1200" dirty="0">
              <a:latin typeface="Poppins" panose="00000500000000000000" pitchFamily="2" charset="0"/>
              <a:cs typeface="Poppins" panose="00000500000000000000" pitchFamily="2" charset="0"/>
            </a:endParaRPr>
          </a:p>
        </p:txBody>
      </p:sp>
      <p:sp>
        <p:nvSpPr>
          <p:cNvPr id="9" name="TextBox 8"/>
          <p:cNvSpPr txBox="1"/>
          <p:nvPr/>
        </p:nvSpPr>
        <p:spPr>
          <a:xfrm>
            <a:off x="8412480" y="4750308"/>
            <a:ext cx="320040" cy="228600"/>
          </a:xfrm>
          <a:prstGeom prst="rect">
            <a:avLst/>
          </a:prstGeom>
          <a:noFill/>
        </p:spPr>
        <p:txBody>
          <a:bodyPr wrap="none">
            <a:spAutoFit/>
          </a:bodyPr>
          <a:lstStyle/>
          <a:p>
            <a:pPr algn="r"/>
            <a:r>
              <a:rPr sz="1100" b="0">
                <a:solidFill>
                  <a:srgbClr val="0C0A9E"/>
                </a:solidFill>
              </a:rPr>
              <a:t>15</a:t>
            </a:r>
          </a:p>
        </p:txBody>
      </p:sp>
    </p:spTree>
    <p:extLst>
      <p:ext uri="{BB962C8B-B14F-4D97-AF65-F5344CB8AC3E}">
        <p14:creationId xmlns:p14="http://schemas.microsoft.com/office/powerpoint/2010/main" val="2961933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84A0351-7DF9-1B05-6D5F-7FD2E71BE2A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A11C3680-3040-493D-4ACC-3123BCF19B82}"/>
              </a:ext>
            </a:extLst>
          </p:cNvPr>
          <p:cNvPicPr>
            <a:picLocks noChangeAspect="1"/>
          </p:cNvPicPr>
          <p:nvPr/>
        </p:nvPicPr>
        <p:blipFill>
          <a:blip r:embed="rId3">
            <a:alphaModFix amt="80000"/>
          </a:blip>
          <a:stretch>
            <a:fillRect/>
          </a:stretch>
        </p:blipFill>
        <p:spPr>
          <a:xfrm>
            <a:off x="6217920" y="2926080"/>
            <a:ext cx="2926080" cy="2194560"/>
          </a:xfrm>
          <a:prstGeom prst="rect">
            <a:avLst/>
          </a:prstGeom>
        </p:spPr>
      </p:pic>
      <p:sp>
        <p:nvSpPr>
          <p:cNvPr id="3" name="Text 0">
            <a:extLst>
              <a:ext uri="{FF2B5EF4-FFF2-40B4-BE49-F238E27FC236}">
                <a16:creationId xmlns:a16="http://schemas.microsoft.com/office/drawing/2014/main" id="{658A9C96-56FB-335B-BF94-3131758026A7}"/>
              </a:ext>
            </a:extLst>
          </p:cNvPr>
          <p:cNvSpPr/>
          <p:nvPr/>
        </p:nvSpPr>
        <p:spPr>
          <a:xfrm>
            <a:off x="365760" y="137160"/>
            <a:ext cx="8412480" cy="475488"/>
          </a:xfrm>
          <a:prstGeom prst="rect">
            <a:avLst/>
          </a:prstGeom>
          <a:noFill/>
          <a:ln/>
        </p:spPr>
        <p:txBody>
          <a:bodyPr wrap="square" lIns="0" tIns="0" rIns="0" bIns="0" rtlCol="0" anchor="ctr"/>
          <a:lstStyle/>
          <a:p>
            <a:pPr marL="0" indent="0">
              <a:buNone/>
            </a:pPr>
            <a:r>
              <a:rPr lang="en-US" sz="2000" b="1" dirty="0">
                <a:solidFill>
                  <a:srgbClr val="0C0A9E"/>
                </a:solidFill>
                <a:latin typeface="Poppins" pitchFamily="34" charset="0"/>
                <a:ea typeface="Poppins" pitchFamily="34" charset="-122"/>
                <a:cs typeface="Poppins" pitchFamily="34" charset="-120"/>
              </a:rPr>
              <a:t>EDA Results: </a:t>
            </a:r>
            <a:r>
              <a:rPr lang="en-US" sz="2000" b="1" dirty="0" err="1">
                <a:solidFill>
                  <a:srgbClr val="0C0A9E"/>
                </a:solidFill>
                <a:latin typeface="Poppins" pitchFamily="34" charset="0"/>
                <a:ea typeface="Poppins" pitchFamily="34" charset="-122"/>
                <a:cs typeface="Poppins" pitchFamily="34" charset="-120"/>
              </a:rPr>
              <a:t>Github</a:t>
            </a:r>
            <a:r>
              <a:rPr lang="en-US" sz="2000" b="1" dirty="0">
                <a:solidFill>
                  <a:srgbClr val="0C0A9E"/>
                </a:solidFill>
                <a:latin typeface="Poppins" pitchFamily="34" charset="0"/>
                <a:ea typeface="Poppins" pitchFamily="34" charset="-122"/>
                <a:cs typeface="Poppins" pitchFamily="34" charset="-120"/>
              </a:rPr>
              <a:t> Issues</a:t>
            </a:r>
            <a:endParaRPr lang="en-US" sz="2000" dirty="0"/>
          </a:p>
        </p:txBody>
      </p:sp>
      <p:sp>
        <p:nvSpPr>
          <p:cNvPr id="4" name="Shape 1">
            <a:extLst>
              <a:ext uri="{FF2B5EF4-FFF2-40B4-BE49-F238E27FC236}">
                <a16:creationId xmlns:a16="http://schemas.microsoft.com/office/drawing/2014/main" id="{0EC89BA4-EF6D-20C8-552D-DA63DA2470F5}"/>
              </a:ext>
            </a:extLst>
          </p:cNvPr>
          <p:cNvSpPr/>
          <p:nvPr/>
        </p:nvSpPr>
        <p:spPr>
          <a:xfrm>
            <a:off x="365760" y="621792"/>
            <a:ext cx="1280160" cy="50292"/>
          </a:xfrm>
          <a:prstGeom prst="rect">
            <a:avLst/>
          </a:prstGeom>
          <a:solidFill>
            <a:srgbClr val="FF9900"/>
          </a:solidFill>
          <a:ln/>
        </p:spPr>
        <p:txBody>
          <a:bodyPr/>
          <a:lstStyle/>
          <a:p>
            <a:endParaRPr lang="en-US"/>
          </a:p>
        </p:txBody>
      </p:sp>
      <p:pic>
        <p:nvPicPr>
          <p:cNvPr id="6" name="Image 1" descr="/home/claude/notebook_img_9_0.png">
            <a:extLst>
              <a:ext uri="{FF2B5EF4-FFF2-40B4-BE49-F238E27FC236}">
                <a16:creationId xmlns:a16="http://schemas.microsoft.com/office/drawing/2014/main" id="{D8B1D37A-9944-C653-A9F0-B78774552139}"/>
              </a:ext>
            </a:extLst>
          </p:cNvPr>
          <p:cNvPicPr>
            <a:picLocks noChangeAspect="1"/>
          </p:cNvPicPr>
          <p:nvPr/>
        </p:nvPicPr>
        <p:blipFill>
          <a:blip r:embed="rId4"/>
          <a:srcRect l="66372" t="8103" r="1"/>
          <a:stretch>
            <a:fillRect/>
          </a:stretch>
        </p:blipFill>
        <p:spPr>
          <a:xfrm>
            <a:off x="4641287" y="646938"/>
            <a:ext cx="3816913" cy="3925473"/>
          </a:xfrm>
          <a:prstGeom prst="rect">
            <a:avLst/>
          </a:prstGeom>
        </p:spPr>
      </p:pic>
      <p:sp>
        <p:nvSpPr>
          <p:cNvPr id="16" name="Shape 12">
            <a:extLst>
              <a:ext uri="{FF2B5EF4-FFF2-40B4-BE49-F238E27FC236}">
                <a16:creationId xmlns:a16="http://schemas.microsoft.com/office/drawing/2014/main" id="{6AD37348-F25D-FFE4-74FA-C53AF54FAA5F}"/>
              </a:ext>
            </a:extLst>
          </p:cNvPr>
          <p:cNvSpPr/>
          <p:nvPr/>
        </p:nvSpPr>
        <p:spPr>
          <a:xfrm>
            <a:off x="365760" y="4736592"/>
            <a:ext cx="8412480" cy="0"/>
          </a:xfrm>
          <a:prstGeom prst="line">
            <a:avLst/>
          </a:prstGeom>
          <a:noFill/>
          <a:ln w="8890">
            <a:solidFill>
              <a:srgbClr val="C5C6E8"/>
            </a:solidFill>
            <a:prstDash val="solid"/>
          </a:ln>
        </p:spPr>
        <p:txBody>
          <a:bodyPr/>
          <a:lstStyle/>
          <a:p>
            <a:endParaRPr lang="en-US"/>
          </a:p>
        </p:txBody>
      </p:sp>
      <p:sp>
        <p:nvSpPr>
          <p:cNvPr id="17" name="Text 13">
            <a:extLst>
              <a:ext uri="{FF2B5EF4-FFF2-40B4-BE49-F238E27FC236}">
                <a16:creationId xmlns:a16="http://schemas.microsoft.com/office/drawing/2014/main" id="{2D567418-0F99-3F76-57D4-A86B63D6D1A9}"/>
              </a:ext>
            </a:extLst>
          </p:cNvPr>
          <p:cNvSpPr/>
          <p:nvPr/>
        </p:nvSpPr>
        <p:spPr>
          <a:xfrm>
            <a:off x="365760" y="4773168"/>
            <a:ext cx="7772400" cy="201168"/>
          </a:xfrm>
          <a:prstGeom prst="rect">
            <a:avLst/>
          </a:prstGeom>
          <a:noFill/>
          <a:ln/>
        </p:spPr>
        <p:txBody>
          <a:bodyPr wrap="square" rtlCol="0" anchor="ctr"/>
          <a:lstStyle/>
          <a:p>
            <a:pPr marL="0" indent="0">
              <a:buNone/>
            </a:pPr>
            <a:endParaRPr lang="en-US" sz="750" dirty="0"/>
          </a:p>
        </p:txBody>
      </p:sp>
      <p:sp>
        <p:nvSpPr>
          <p:cNvPr id="20" name="TextBox 19">
            <a:extLst>
              <a:ext uri="{FF2B5EF4-FFF2-40B4-BE49-F238E27FC236}">
                <a16:creationId xmlns:a16="http://schemas.microsoft.com/office/drawing/2014/main" id="{B929B782-CCD2-A184-0A63-BB7944130766}"/>
              </a:ext>
            </a:extLst>
          </p:cNvPr>
          <p:cNvSpPr txBox="1"/>
          <p:nvPr/>
        </p:nvSpPr>
        <p:spPr>
          <a:xfrm>
            <a:off x="274320" y="1055167"/>
            <a:ext cx="4118571" cy="1200329"/>
          </a:xfrm>
          <a:prstGeom prst="rect">
            <a:avLst/>
          </a:prstGeom>
          <a:noFill/>
        </p:spPr>
        <p:txBody>
          <a:bodyPr wrap="square">
            <a:spAutoFit/>
          </a:bodyPr>
          <a:lstStyle/>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Code blocks are present in 48.3% of issues</a:t>
            </a:r>
          </a:p>
          <a:p>
            <a:endParaRPr lang="en-US" sz="1200"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latin typeface="Poppins" panose="00000500000000000000" pitchFamily="2" charset="0"/>
                <a:cs typeface="Poppins" panose="00000500000000000000" pitchFamily="2" charset="0"/>
              </a:rPr>
              <a:t>The low traceback rate (4.9%) and near-zero error message rate (0.1%) reveal that the majority of issues are written in natural language rather than structured error output</a:t>
            </a:r>
          </a:p>
        </p:txBody>
      </p:sp>
      <p:sp>
        <p:nvSpPr>
          <p:cNvPr id="21" name="TextBox 20"/>
          <p:cNvSpPr txBox="1"/>
          <p:nvPr/>
        </p:nvSpPr>
        <p:spPr>
          <a:xfrm>
            <a:off x="8412480" y="4750308"/>
            <a:ext cx="320040" cy="228600"/>
          </a:xfrm>
          <a:prstGeom prst="rect">
            <a:avLst/>
          </a:prstGeom>
          <a:noFill/>
        </p:spPr>
        <p:txBody>
          <a:bodyPr wrap="none">
            <a:spAutoFit/>
          </a:bodyPr>
          <a:lstStyle/>
          <a:p>
            <a:pPr algn="r"/>
            <a:r>
              <a:rPr sz="1100" b="0">
                <a:solidFill>
                  <a:srgbClr val="0C0A9E"/>
                </a:solidFill>
              </a:rPr>
              <a:t>16</a:t>
            </a:r>
          </a:p>
        </p:txBody>
      </p:sp>
    </p:spTree>
    <p:extLst>
      <p:ext uri="{BB962C8B-B14F-4D97-AF65-F5344CB8AC3E}">
        <p14:creationId xmlns:p14="http://schemas.microsoft.com/office/powerpoint/2010/main" val="11436118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B97136C-29F2-FC16-42F1-AB2E9758CE5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51C9D93-07DE-4A53-98BB-711D902EF9A5}"/>
              </a:ext>
            </a:extLst>
          </p:cNvPr>
          <p:cNvPicPr>
            <a:picLocks noChangeAspect="1"/>
          </p:cNvPicPr>
          <p:nvPr/>
        </p:nvPicPr>
        <p:blipFill>
          <a:blip r:embed="rId3">
            <a:alphaModFix amt="80000"/>
          </a:blip>
          <a:stretch>
            <a:fillRect/>
          </a:stretch>
        </p:blipFill>
        <p:spPr>
          <a:xfrm>
            <a:off x="6217920" y="2926080"/>
            <a:ext cx="2926080" cy="2194560"/>
          </a:xfrm>
          <a:prstGeom prst="rect">
            <a:avLst/>
          </a:prstGeom>
        </p:spPr>
      </p:pic>
      <p:sp>
        <p:nvSpPr>
          <p:cNvPr id="3" name="Text 0">
            <a:extLst>
              <a:ext uri="{FF2B5EF4-FFF2-40B4-BE49-F238E27FC236}">
                <a16:creationId xmlns:a16="http://schemas.microsoft.com/office/drawing/2014/main" id="{F275BE19-CF05-2BDF-C0CD-C285E66FA185}"/>
              </a:ext>
            </a:extLst>
          </p:cNvPr>
          <p:cNvSpPr/>
          <p:nvPr/>
        </p:nvSpPr>
        <p:spPr>
          <a:xfrm>
            <a:off x="365760" y="137160"/>
            <a:ext cx="8412480" cy="475488"/>
          </a:xfrm>
          <a:prstGeom prst="rect">
            <a:avLst/>
          </a:prstGeom>
          <a:noFill/>
          <a:ln/>
        </p:spPr>
        <p:txBody>
          <a:bodyPr wrap="square" lIns="0" tIns="0" rIns="0" bIns="0" rtlCol="0" anchor="ctr"/>
          <a:lstStyle/>
          <a:p>
            <a:pPr marL="0" indent="0">
              <a:buNone/>
            </a:pPr>
            <a:r>
              <a:rPr lang="en-US" sz="2000" b="1" dirty="0">
                <a:solidFill>
                  <a:srgbClr val="0C0A9E"/>
                </a:solidFill>
                <a:latin typeface="Poppins" pitchFamily="34" charset="0"/>
                <a:ea typeface="Poppins" pitchFamily="34" charset="-122"/>
                <a:cs typeface="Poppins" pitchFamily="34" charset="-120"/>
              </a:rPr>
              <a:t>Discussion</a:t>
            </a:r>
            <a:endParaRPr lang="en-US" sz="2000" dirty="0"/>
          </a:p>
        </p:txBody>
      </p:sp>
      <p:sp>
        <p:nvSpPr>
          <p:cNvPr id="4" name="Shape 1">
            <a:extLst>
              <a:ext uri="{FF2B5EF4-FFF2-40B4-BE49-F238E27FC236}">
                <a16:creationId xmlns:a16="http://schemas.microsoft.com/office/drawing/2014/main" id="{24FB000B-CF9B-A587-27CC-D643CEFB42E7}"/>
              </a:ext>
            </a:extLst>
          </p:cNvPr>
          <p:cNvSpPr/>
          <p:nvPr/>
        </p:nvSpPr>
        <p:spPr>
          <a:xfrm>
            <a:off x="365760" y="621792"/>
            <a:ext cx="1280160" cy="50292"/>
          </a:xfrm>
          <a:prstGeom prst="rect">
            <a:avLst/>
          </a:prstGeom>
          <a:solidFill>
            <a:srgbClr val="FF9900"/>
          </a:solidFill>
          <a:ln/>
        </p:spPr>
        <p:txBody>
          <a:bodyPr/>
          <a:lstStyle/>
          <a:p>
            <a:endParaRPr lang="en-US"/>
          </a:p>
        </p:txBody>
      </p:sp>
      <p:sp>
        <p:nvSpPr>
          <p:cNvPr id="16" name="Shape 12">
            <a:extLst>
              <a:ext uri="{FF2B5EF4-FFF2-40B4-BE49-F238E27FC236}">
                <a16:creationId xmlns:a16="http://schemas.microsoft.com/office/drawing/2014/main" id="{E17B275C-4FC0-3E6B-433E-6A21C90855C7}"/>
              </a:ext>
            </a:extLst>
          </p:cNvPr>
          <p:cNvSpPr/>
          <p:nvPr/>
        </p:nvSpPr>
        <p:spPr>
          <a:xfrm>
            <a:off x="365760" y="4736592"/>
            <a:ext cx="8412480" cy="0"/>
          </a:xfrm>
          <a:prstGeom prst="line">
            <a:avLst/>
          </a:prstGeom>
          <a:noFill/>
          <a:ln w="8890">
            <a:solidFill>
              <a:srgbClr val="C5C6E8"/>
            </a:solidFill>
            <a:prstDash val="solid"/>
          </a:ln>
        </p:spPr>
        <p:txBody>
          <a:bodyPr/>
          <a:lstStyle/>
          <a:p>
            <a:endParaRPr lang="en-US"/>
          </a:p>
        </p:txBody>
      </p:sp>
      <p:sp>
        <p:nvSpPr>
          <p:cNvPr id="17" name="Text 13">
            <a:extLst>
              <a:ext uri="{FF2B5EF4-FFF2-40B4-BE49-F238E27FC236}">
                <a16:creationId xmlns:a16="http://schemas.microsoft.com/office/drawing/2014/main" id="{4FA3E575-9531-C351-7B36-6FFC5F0CDA7B}"/>
              </a:ext>
            </a:extLst>
          </p:cNvPr>
          <p:cNvSpPr/>
          <p:nvPr/>
        </p:nvSpPr>
        <p:spPr>
          <a:xfrm>
            <a:off x="365760" y="4773168"/>
            <a:ext cx="7772400" cy="201168"/>
          </a:xfrm>
          <a:prstGeom prst="rect">
            <a:avLst/>
          </a:prstGeom>
          <a:noFill/>
          <a:ln/>
        </p:spPr>
        <p:txBody>
          <a:bodyPr wrap="square" rtlCol="0" anchor="ctr"/>
          <a:lstStyle/>
          <a:p>
            <a:pPr marL="0" indent="0">
              <a:buNone/>
            </a:pPr>
            <a:endParaRPr lang="en-US" sz="750" dirty="0"/>
          </a:p>
        </p:txBody>
      </p:sp>
      <p:sp>
        <p:nvSpPr>
          <p:cNvPr id="8" name="TextBox 7">
            <a:extLst>
              <a:ext uri="{FF2B5EF4-FFF2-40B4-BE49-F238E27FC236}">
                <a16:creationId xmlns:a16="http://schemas.microsoft.com/office/drawing/2014/main" id="{35D1B336-1C50-806F-B823-8C550BE1B45F}"/>
              </a:ext>
            </a:extLst>
          </p:cNvPr>
          <p:cNvSpPr txBox="1"/>
          <p:nvPr/>
        </p:nvSpPr>
        <p:spPr>
          <a:xfrm>
            <a:off x="268663" y="1031129"/>
            <a:ext cx="6160417" cy="2677656"/>
          </a:xfrm>
          <a:prstGeom prst="rect">
            <a:avLst/>
          </a:prstGeom>
          <a:noFill/>
        </p:spPr>
        <p:txBody>
          <a:bodyPr wrap="square">
            <a:spAutoFit/>
          </a:bodyPr>
          <a:lstStyle/>
          <a:p>
            <a:pPr marL="285750" indent="-285750">
              <a:buFont typeface="Arial" panose="020B0604020202020204" pitchFamily="34" charset="0"/>
              <a:buChar char="•"/>
            </a:pPr>
            <a:r>
              <a:rPr lang="en-US" sz="1200" dirty="0">
                <a:latin typeface="Poppins" panose="00000500000000000000" pitchFamily="2" charset="0"/>
                <a:cs typeface="Poppins" panose="00000500000000000000" pitchFamily="2" charset="0"/>
              </a:rPr>
              <a:t>The 99.7% docstring coverage in CSN confirms supervised fine-tuning was the right approach, no semi-supervised methods needed.</a:t>
            </a:r>
          </a:p>
          <a:p>
            <a:endParaRPr lang="en-US" sz="12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200" dirty="0">
                <a:latin typeface="Poppins" panose="00000500000000000000" pitchFamily="2" charset="0"/>
                <a:cs typeface="Poppins" panose="00000500000000000000" pitchFamily="2" charset="0"/>
              </a:rPr>
              <a:t>Low structured param doc rate (32%) validates the </a:t>
            </a:r>
            <a:r>
              <a:rPr lang="en-US" sz="1200" dirty="0" err="1">
                <a:latin typeface="Poppins" panose="00000500000000000000" pitchFamily="2" charset="0"/>
                <a:cs typeface="Poppins" panose="00000500000000000000" pitchFamily="2" charset="0"/>
              </a:rPr>
              <a:t>PyPlus</a:t>
            </a:r>
            <a:r>
              <a:rPr lang="en-US" sz="1200" dirty="0">
                <a:latin typeface="Poppins" panose="00000500000000000000" pitchFamily="2" charset="0"/>
                <a:cs typeface="Poppins" panose="00000500000000000000" pitchFamily="2" charset="0"/>
              </a:rPr>
              <a:t> enrichment decision</a:t>
            </a:r>
          </a:p>
          <a:p>
            <a:endParaRPr lang="en-US" sz="12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200" dirty="0">
                <a:latin typeface="Poppins" panose="00000500000000000000" pitchFamily="2" charset="0"/>
                <a:cs typeface="Poppins" panose="00000500000000000000" pitchFamily="2" charset="0"/>
              </a:rPr>
              <a:t>Scoping to Python-only and applying strict quality filtering produced a cleaner training distribution, expected to reduce noise in evaluation. </a:t>
            </a:r>
          </a:p>
          <a:p>
            <a:pPr marL="285750" indent="-285750">
              <a:buFont typeface="Arial" panose="020B0604020202020204" pitchFamily="34" charset="0"/>
              <a:buChar char="•"/>
            </a:pPr>
            <a:endParaRPr lang="en-US" sz="12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200" dirty="0">
                <a:latin typeface="Poppins" panose="00000500000000000000" pitchFamily="2" charset="0"/>
                <a:cs typeface="Poppins" panose="00000500000000000000" pitchFamily="2" charset="0"/>
              </a:rPr>
              <a:t>Training on both CSN and GitHub Issues tests with a single encoder-decoder generalizes across structured and unstructured text</a:t>
            </a:r>
          </a:p>
          <a:p>
            <a:pPr marL="285750" indent="-285750">
              <a:buFont typeface="Arial" panose="020B0604020202020204" pitchFamily="34" charset="0"/>
              <a:buChar char="•"/>
            </a:pPr>
            <a:endParaRPr lang="en-US" sz="12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200" dirty="0">
                <a:latin typeface="Poppins" panose="00000500000000000000" pitchFamily="2" charset="0"/>
                <a:cs typeface="Poppins" panose="00000500000000000000" pitchFamily="2" charset="0"/>
              </a:rPr>
              <a:t>EDA was conducted on a sample so distributions may shift slightly at full scale; full model comparison results are pending.</a:t>
            </a:r>
          </a:p>
        </p:txBody>
      </p:sp>
      <p:sp>
        <p:nvSpPr>
          <p:cNvPr id="18" name="TextBox 17"/>
          <p:cNvSpPr txBox="1"/>
          <p:nvPr/>
        </p:nvSpPr>
        <p:spPr>
          <a:xfrm>
            <a:off x="8412480" y="4750308"/>
            <a:ext cx="320040" cy="228600"/>
          </a:xfrm>
          <a:prstGeom prst="rect">
            <a:avLst/>
          </a:prstGeom>
          <a:noFill/>
        </p:spPr>
        <p:txBody>
          <a:bodyPr wrap="none">
            <a:spAutoFit/>
          </a:bodyPr>
          <a:lstStyle/>
          <a:p>
            <a:pPr algn="r"/>
            <a:r>
              <a:rPr sz="1100" b="0">
                <a:solidFill>
                  <a:srgbClr val="0C0A9E"/>
                </a:solidFill>
              </a:rPr>
              <a:t>17</a:t>
            </a:r>
          </a:p>
        </p:txBody>
      </p:sp>
    </p:spTree>
    <p:extLst>
      <p:ext uri="{BB962C8B-B14F-4D97-AF65-F5344CB8AC3E}">
        <p14:creationId xmlns:p14="http://schemas.microsoft.com/office/powerpoint/2010/main" val="9618311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chemeClr val="bg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40000"/>
          </a:blip>
          <a:stretch>
            <a:fillRect/>
          </a:stretch>
        </p:blipFill>
        <p:spPr>
          <a:xfrm>
            <a:off x="6217920" y="2926080"/>
            <a:ext cx="2926080" cy="2194560"/>
          </a:xfrm>
          <a:prstGeom prst="rect">
            <a:avLst/>
          </a:prstGeom>
        </p:spPr>
      </p:pic>
      <p:sp>
        <p:nvSpPr>
          <p:cNvPr id="3" name="Shape 0"/>
          <p:cNvSpPr/>
          <p:nvPr/>
        </p:nvSpPr>
        <p:spPr>
          <a:xfrm>
            <a:off x="-1143000" y="-1080783"/>
            <a:ext cx="2286000" cy="2286000"/>
          </a:xfrm>
          <a:prstGeom prst="ellipse">
            <a:avLst/>
          </a:prstGeom>
          <a:solidFill>
            <a:srgbClr val="9900FF">
              <a:alpha val="20000"/>
            </a:srgbClr>
          </a:solidFill>
          <a:ln w="12700">
            <a:solidFill>
              <a:srgbClr val="000000"/>
            </a:solidFill>
            <a:prstDash val="solid"/>
          </a:ln>
        </p:spPr>
        <p:txBody>
          <a:bodyPr/>
          <a:lstStyle/>
          <a:p>
            <a:endParaRPr lang="en-US"/>
          </a:p>
        </p:txBody>
      </p:sp>
      <p:sp>
        <p:nvSpPr>
          <p:cNvPr id="4" name="Shape 1"/>
          <p:cNvSpPr/>
          <p:nvPr/>
        </p:nvSpPr>
        <p:spPr>
          <a:xfrm>
            <a:off x="7936426" y="3803904"/>
            <a:ext cx="2011680" cy="2011680"/>
          </a:xfrm>
          <a:prstGeom prst="ellipse">
            <a:avLst/>
          </a:prstGeom>
          <a:solidFill>
            <a:srgbClr val="FF9900">
              <a:alpha val="20000"/>
            </a:srgbClr>
          </a:solidFill>
          <a:ln w="12700">
            <a:solidFill>
              <a:srgbClr val="000000"/>
            </a:solidFill>
            <a:prstDash val="solid"/>
          </a:ln>
        </p:spPr>
        <p:txBody>
          <a:bodyPr/>
          <a:lstStyle/>
          <a:p>
            <a:endParaRPr lang="en-US"/>
          </a:p>
        </p:txBody>
      </p:sp>
      <p:sp>
        <p:nvSpPr>
          <p:cNvPr id="5" name="Text 2"/>
          <p:cNvSpPr/>
          <p:nvPr/>
        </p:nvSpPr>
        <p:spPr>
          <a:xfrm>
            <a:off x="457200" y="256032"/>
            <a:ext cx="8229600" cy="530352"/>
          </a:xfrm>
          <a:prstGeom prst="rect">
            <a:avLst/>
          </a:prstGeom>
          <a:noFill/>
          <a:ln/>
        </p:spPr>
        <p:txBody>
          <a:bodyPr wrap="square" lIns="0" tIns="0" rIns="0" bIns="0" rtlCol="0" anchor="ctr"/>
          <a:lstStyle/>
          <a:p>
            <a:r>
              <a:rPr lang="en-US" sz="2000" b="1" dirty="0">
                <a:solidFill>
                  <a:srgbClr val="0C0A9E"/>
                </a:solidFill>
                <a:latin typeface="Poppins" pitchFamily="34" charset="0"/>
                <a:ea typeface="Poppins" pitchFamily="34" charset="-122"/>
                <a:cs typeface="Poppins" pitchFamily="34" charset="-120"/>
              </a:rPr>
              <a:t>Contribution</a:t>
            </a:r>
            <a:endParaRPr lang="en-US" sz="2000" dirty="0"/>
          </a:p>
        </p:txBody>
      </p:sp>
      <p:sp>
        <p:nvSpPr>
          <p:cNvPr id="6" name="Shape 3"/>
          <p:cNvSpPr/>
          <p:nvPr/>
        </p:nvSpPr>
        <p:spPr>
          <a:xfrm>
            <a:off x="457200" y="822960"/>
            <a:ext cx="1645920" cy="54864"/>
          </a:xfrm>
          <a:prstGeom prst="rect">
            <a:avLst/>
          </a:prstGeom>
          <a:solidFill>
            <a:srgbClr val="FF9900"/>
          </a:solidFill>
          <a:ln/>
        </p:spPr>
        <p:txBody>
          <a:bodyPr/>
          <a:lstStyle/>
          <a:p>
            <a:endParaRPr lang="en-US"/>
          </a:p>
        </p:txBody>
      </p:sp>
      <p:sp>
        <p:nvSpPr>
          <p:cNvPr id="7" name="Shape 4"/>
          <p:cNvSpPr/>
          <p:nvPr/>
        </p:nvSpPr>
        <p:spPr>
          <a:xfrm>
            <a:off x="365759" y="1205217"/>
            <a:ext cx="6723197" cy="3246120"/>
          </a:xfrm>
          <a:prstGeom prst="rect">
            <a:avLst/>
          </a:prstGeom>
          <a:solidFill>
            <a:srgbClr val="F4EFF8"/>
          </a:solidFill>
          <a:ln w="10160">
            <a:solidFill>
              <a:srgbClr val="C5C6E8"/>
            </a:solidFill>
            <a:prstDash val="solid"/>
          </a:ln>
        </p:spPr>
        <p:txBody>
          <a:bodyPr/>
          <a:lstStyle/>
          <a:p>
            <a:pPr marR="0" lvl="0" algn="l" defTabSz="914400" rtl="0" eaLnBrk="1" fontAlgn="auto" latinLnBrk="0" hangingPunct="1">
              <a:lnSpc>
                <a:spcPct val="100000"/>
              </a:lnSpc>
              <a:spcBef>
                <a:spcPts val="0"/>
              </a:spcBef>
              <a:spcAft>
                <a:spcPts val="300"/>
              </a:spcAft>
              <a:buClrTx/>
              <a:buSzPct val="100000"/>
              <a:tabLst/>
              <a:defRPr/>
            </a:pPr>
            <a:endParaRPr lang="en-US" sz="1200" dirty="0">
              <a:latin typeface="Poppins" pitchFamily="34" charset="0"/>
              <a:ea typeface="Poppins" pitchFamily="34" charset="-122"/>
              <a:cs typeface="Poppins" pitchFamily="34" charset="-120"/>
            </a:endParaRPr>
          </a:p>
          <a:p>
            <a:pPr marL="342900" marR="0" lvl="0" indent="-342900" algn="l" defTabSz="914400" rtl="0" eaLnBrk="1" fontAlgn="auto" latinLnBrk="0" hangingPunct="1">
              <a:lnSpc>
                <a:spcPct val="100000"/>
              </a:lnSpc>
              <a:spcBef>
                <a:spcPts val="0"/>
              </a:spcBef>
              <a:spcAft>
                <a:spcPts val="300"/>
              </a:spcAft>
              <a:buClrTx/>
              <a:buSzPct val="100000"/>
              <a:buFontTx/>
              <a:buChar char="•"/>
              <a:tabLst/>
              <a:defRPr/>
            </a:pPr>
            <a:r>
              <a:rPr kumimoji="0" lang="en-US" sz="1200" b="0" i="0" u="none" strike="noStrike" kern="1200" cap="none" spc="0" normalizeH="0" baseline="0" noProof="0" dirty="0">
                <a:ln>
                  <a:noFill/>
                </a:ln>
                <a:effectLst/>
                <a:uLnTx/>
                <a:uFillTx/>
                <a:latin typeface="Poppins" pitchFamily="34" charset="0"/>
                <a:ea typeface="Poppins" pitchFamily="34" charset="-122"/>
                <a:cs typeface="Poppins" pitchFamily="34" charset="-120"/>
              </a:rPr>
              <a:t>Full EDA on both datasets (8000 </a:t>
            </a:r>
            <a:r>
              <a:rPr kumimoji="0" lang="en-US" sz="1200" b="0" i="0" u="none" strike="noStrike" kern="1200" cap="none" spc="0" normalizeH="0" baseline="0" noProof="0" dirty="0" err="1">
                <a:ln>
                  <a:noFill/>
                </a:ln>
                <a:effectLst/>
                <a:uLnTx/>
                <a:uFillTx/>
                <a:latin typeface="Poppins" pitchFamily="34" charset="0"/>
                <a:ea typeface="Poppins" pitchFamily="34" charset="-122"/>
                <a:cs typeface="Poppins" pitchFamily="34" charset="-120"/>
              </a:rPr>
              <a:t>CodeSearchNet</a:t>
            </a:r>
            <a:r>
              <a:rPr kumimoji="0" lang="en-US" sz="1200" b="0" i="0" u="none" strike="noStrike" kern="1200" cap="none" spc="0" normalizeH="0" baseline="0" noProof="0" dirty="0">
                <a:ln>
                  <a:noFill/>
                </a:ln>
                <a:effectLst/>
                <a:uLnTx/>
                <a:uFillTx/>
                <a:latin typeface="Poppins" pitchFamily="34" charset="0"/>
                <a:ea typeface="Poppins" pitchFamily="34" charset="-122"/>
                <a:cs typeface="Poppins" pitchFamily="34" charset="-120"/>
              </a:rPr>
              <a:t> + 5000 </a:t>
            </a:r>
            <a:r>
              <a:rPr lang="en-US" sz="1200" dirty="0" err="1">
                <a:latin typeface="Poppins" pitchFamily="34" charset="0"/>
                <a:ea typeface="Poppins" pitchFamily="34" charset="-122"/>
                <a:cs typeface="Poppins" pitchFamily="34" charset="-120"/>
              </a:rPr>
              <a:t>Github</a:t>
            </a:r>
            <a:r>
              <a:rPr lang="en-US" sz="1200" dirty="0">
                <a:latin typeface="Poppins" pitchFamily="34" charset="0"/>
                <a:ea typeface="Poppins" pitchFamily="34" charset="-122"/>
                <a:cs typeface="Poppins" pitchFamily="34" charset="-120"/>
              </a:rPr>
              <a:t> Issues</a:t>
            </a:r>
            <a:r>
              <a:rPr kumimoji="0" lang="en-US" sz="1200" b="0" i="0" u="none" strike="noStrike" kern="1200" cap="none" spc="0" normalizeH="0" baseline="0" noProof="0" dirty="0">
                <a:ln>
                  <a:noFill/>
                </a:ln>
                <a:effectLst/>
                <a:uLnTx/>
                <a:uFillTx/>
                <a:latin typeface="Poppins" pitchFamily="34" charset="0"/>
                <a:ea typeface="Poppins" pitchFamily="34" charset="-122"/>
                <a:cs typeface="Poppins" pitchFamily="34" charset="-120"/>
              </a:rPr>
              <a:t> samples)</a:t>
            </a:r>
          </a:p>
          <a:p>
            <a:pPr marR="0" lvl="0" algn="l" defTabSz="914400" rtl="0" eaLnBrk="1" fontAlgn="auto" latinLnBrk="0" hangingPunct="1">
              <a:lnSpc>
                <a:spcPct val="100000"/>
              </a:lnSpc>
              <a:spcBef>
                <a:spcPts val="0"/>
              </a:spcBef>
              <a:spcAft>
                <a:spcPts val="300"/>
              </a:spcAft>
              <a:buClrTx/>
              <a:buSzPct val="100000"/>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300"/>
              </a:spcAft>
              <a:buClrTx/>
              <a:buSzPct val="100000"/>
              <a:buFontTx/>
              <a:buChar char="•"/>
              <a:tabLst/>
              <a:defRPr/>
            </a:pPr>
            <a:r>
              <a:rPr kumimoji="0" lang="en-US" sz="1200" b="0" i="0" u="none" strike="noStrike" kern="1200" cap="none" spc="0" normalizeH="0" baseline="0" noProof="0" dirty="0">
                <a:ln>
                  <a:noFill/>
                </a:ln>
                <a:effectLst/>
                <a:uLnTx/>
                <a:uFillTx/>
                <a:latin typeface="Poppins" pitchFamily="34" charset="0"/>
                <a:ea typeface="Poppins" pitchFamily="34" charset="-122"/>
                <a:cs typeface="Poppins" pitchFamily="34" charset="-120"/>
              </a:rPr>
              <a:t>Quality filtering pipeline: 69.4% CSN, 88.5% GH retained</a:t>
            </a:r>
          </a:p>
          <a:p>
            <a:pPr marR="0" lvl="0" algn="l" defTabSz="914400" rtl="0" eaLnBrk="1" fontAlgn="auto" latinLnBrk="0" hangingPunct="1">
              <a:lnSpc>
                <a:spcPct val="100000"/>
              </a:lnSpc>
              <a:spcBef>
                <a:spcPts val="0"/>
              </a:spcBef>
              <a:spcAft>
                <a:spcPts val="300"/>
              </a:spcAft>
              <a:buClrTx/>
              <a:buSzPct val="100000"/>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300"/>
              </a:spcAft>
              <a:buClrTx/>
              <a:buSzPct val="100000"/>
              <a:buFontTx/>
              <a:buChar char="•"/>
              <a:tabLst/>
              <a:defRPr/>
            </a:pPr>
            <a:r>
              <a:rPr kumimoji="0" lang="en-US" sz="1200" b="0" i="0" u="none" strike="noStrike" kern="1200" cap="none" spc="0" normalizeH="0" baseline="0" noProof="0" dirty="0" err="1">
                <a:ln>
                  <a:noFill/>
                </a:ln>
                <a:effectLst/>
                <a:uLnTx/>
                <a:uFillTx/>
                <a:latin typeface="Poppins" pitchFamily="34" charset="0"/>
                <a:ea typeface="Poppins" pitchFamily="34" charset="-122"/>
                <a:cs typeface="Poppins" pitchFamily="34" charset="-120"/>
              </a:rPr>
              <a:t>PyPlus</a:t>
            </a:r>
            <a:r>
              <a:rPr kumimoji="0" lang="en-US" sz="1200" b="0" i="0" u="none" strike="noStrike" kern="1200" cap="none" spc="0" normalizeH="0" baseline="0" noProof="0" dirty="0">
                <a:ln>
                  <a:noFill/>
                </a:ln>
                <a:effectLst/>
                <a:uLnTx/>
                <a:uFillTx/>
                <a:latin typeface="Poppins" pitchFamily="34" charset="0"/>
                <a:ea typeface="Poppins" pitchFamily="34" charset="-122"/>
                <a:cs typeface="Poppins" pitchFamily="34" charset="-120"/>
              </a:rPr>
              <a:t> target enrichment across all 200K+ CSN pairs</a:t>
            </a:r>
          </a:p>
          <a:p>
            <a:pPr marR="0" lvl="0" algn="l" defTabSz="914400" rtl="0" eaLnBrk="1" fontAlgn="auto" latinLnBrk="0" hangingPunct="1">
              <a:lnSpc>
                <a:spcPct val="100000"/>
              </a:lnSpc>
              <a:spcBef>
                <a:spcPts val="0"/>
              </a:spcBef>
              <a:spcAft>
                <a:spcPts val="300"/>
              </a:spcAft>
              <a:buClrTx/>
              <a:buSzPct val="100000"/>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300"/>
              </a:spcAft>
              <a:buClrTx/>
              <a:buSzPct val="100000"/>
              <a:buFontTx/>
              <a:buChar char="•"/>
              <a:tabLst/>
              <a:defRPr/>
            </a:pPr>
            <a:r>
              <a:rPr kumimoji="0" lang="en-US" sz="1200" b="0" i="0" u="none" strike="noStrike" kern="1200" cap="none" spc="0" normalizeH="0" baseline="0" noProof="0" dirty="0">
                <a:ln>
                  <a:noFill/>
                </a:ln>
                <a:effectLst/>
                <a:uLnTx/>
                <a:uFillTx/>
                <a:latin typeface="Poppins" pitchFamily="34" charset="0"/>
                <a:ea typeface="Poppins" pitchFamily="34" charset="-122"/>
                <a:cs typeface="Poppins" pitchFamily="34" charset="-120"/>
              </a:rPr>
              <a:t>All 4 metrics verified and operational</a:t>
            </a:r>
          </a:p>
          <a:p>
            <a:pPr marR="0" lvl="0" algn="l" defTabSz="914400" rtl="0" eaLnBrk="1" fontAlgn="auto" latinLnBrk="0" hangingPunct="1">
              <a:lnSpc>
                <a:spcPct val="100000"/>
              </a:lnSpc>
              <a:spcBef>
                <a:spcPts val="0"/>
              </a:spcBef>
              <a:spcAft>
                <a:spcPts val="300"/>
              </a:spcAft>
              <a:buClrTx/>
              <a:buSzPct val="100000"/>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300"/>
              </a:spcAft>
              <a:buClrTx/>
              <a:buSzPct val="100000"/>
              <a:buFontTx/>
              <a:buChar char="•"/>
              <a:tabLst/>
              <a:defRPr/>
            </a:pPr>
            <a:r>
              <a:rPr kumimoji="0" lang="en-US" sz="1200" b="0" i="0" u="none" strike="noStrike" kern="1200" cap="none" spc="0" normalizeH="0" baseline="0" noProof="0" dirty="0">
                <a:ln>
                  <a:noFill/>
                </a:ln>
                <a:effectLst/>
                <a:uLnTx/>
                <a:uFillTx/>
                <a:latin typeface="Poppins" pitchFamily="34" charset="0"/>
                <a:ea typeface="Poppins" pitchFamily="34" charset="-122"/>
                <a:cs typeface="Poppins" pitchFamily="34" charset="-120"/>
              </a:rPr>
              <a:t>Model registry defined, tokenizers patched and validated</a:t>
            </a:r>
          </a:p>
          <a:p>
            <a:pPr marR="0" lvl="0" algn="l" defTabSz="914400" rtl="0" eaLnBrk="1" fontAlgn="auto" latinLnBrk="0" hangingPunct="1">
              <a:lnSpc>
                <a:spcPct val="100000"/>
              </a:lnSpc>
              <a:spcBef>
                <a:spcPts val="0"/>
              </a:spcBef>
              <a:spcAft>
                <a:spcPts val="300"/>
              </a:spcAft>
              <a:buClrTx/>
              <a:buSzPct val="100000"/>
              <a:tabLst/>
              <a:defRPr/>
            </a:pPr>
            <a:endParaRPr kumimoji="0" lang="en-US" sz="1200" b="0" i="0" u="none" strike="noStrike" kern="1200" cap="none" spc="0" normalizeH="0" baseline="0" noProof="0" dirty="0">
              <a:ln>
                <a:noFill/>
              </a:ln>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300"/>
              </a:spcAft>
              <a:buClrTx/>
              <a:buSzPct val="100000"/>
              <a:buFontTx/>
              <a:buChar char="•"/>
              <a:tabLst/>
              <a:defRPr/>
            </a:pPr>
            <a:r>
              <a:rPr kumimoji="0" lang="en-US" sz="1200" b="0" i="0" u="none" strike="noStrike" kern="1200" cap="none" spc="0" normalizeH="0" baseline="0" noProof="0" dirty="0">
                <a:ln>
                  <a:noFill/>
                </a:ln>
                <a:effectLst/>
                <a:uLnTx/>
                <a:uFillTx/>
                <a:latin typeface="Poppins" pitchFamily="34" charset="0"/>
                <a:ea typeface="Poppins" pitchFamily="34" charset="-122"/>
                <a:cs typeface="Poppins" pitchFamily="34" charset="-120"/>
              </a:rPr>
              <a:t>Comparison training framework implemented on GCP A100</a:t>
            </a:r>
            <a:endParaRPr kumimoji="0" lang="en-US" sz="1200" b="0" i="0" u="none" strike="noStrike" kern="1200" cap="none" spc="0" normalizeH="0" baseline="0" noProof="0" dirty="0">
              <a:ln>
                <a:noFill/>
              </a:ln>
              <a:effectLst/>
              <a:uLnTx/>
              <a:uFillTx/>
              <a:latin typeface="Calibri" panose="020F0502020204030204"/>
              <a:ea typeface="+mn-ea"/>
              <a:cs typeface="+mn-cs"/>
            </a:endParaRPr>
          </a:p>
        </p:txBody>
      </p:sp>
      <p:sp>
        <p:nvSpPr>
          <p:cNvPr id="9" name="Text 6"/>
          <p:cNvSpPr/>
          <p:nvPr/>
        </p:nvSpPr>
        <p:spPr>
          <a:xfrm>
            <a:off x="502920" y="1316736"/>
            <a:ext cx="3840480" cy="2286000"/>
          </a:xfrm>
          <a:prstGeom prst="rect">
            <a:avLst/>
          </a:prstGeom>
          <a:noFill/>
          <a:ln/>
        </p:spPr>
        <p:txBody>
          <a:bodyPr wrap="square" rtlCol="0" anchor="ctr"/>
          <a:lstStyle/>
          <a:p>
            <a:pPr marL="342900" indent="-342900">
              <a:spcAft>
                <a:spcPts val="300"/>
              </a:spcAft>
              <a:buSzPct val="100000"/>
              <a:buChar char="•"/>
            </a:pPr>
            <a:endParaRPr lang="en-US" sz="1200" dirty="0"/>
          </a:p>
        </p:txBody>
      </p:sp>
      <p:sp>
        <p:nvSpPr>
          <p:cNvPr id="10" name="TextBox 9"/>
          <p:cNvSpPr txBox="1"/>
          <p:nvPr/>
        </p:nvSpPr>
        <p:spPr>
          <a:xfrm>
            <a:off x="8412480" y="4750308"/>
            <a:ext cx="320040" cy="228600"/>
          </a:xfrm>
          <a:prstGeom prst="rect">
            <a:avLst/>
          </a:prstGeom>
          <a:noFill/>
        </p:spPr>
        <p:txBody>
          <a:bodyPr wrap="none">
            <a:spAutoFit/>
          </a:bodyPr>
          <a:lstStyle/>
          <a:p>
            <a:pPr algn="r"/>
            <a:r>
              <a:rPr sz="1100" b="0">
                <a:solidFill>
                  <a:srgbClr val="0C0A9E"/>
                </a:solidFill>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84C5E2-D169-7F43-9AF7-2C7A38A76D2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1B61D9A5-ED74-51F1-DE53-F7688042C6B3}"/>
              </a:ext>
            </a:extLst>
          </p:cNvPr>
          <p:cNvPicPr>
            <a:picLocks noChangeAspect="1"/>
          </p:cNvPicPr>
          <p:nvPr/>
        </p:nvPicPr>
        <p:blipFill>
          <a:blip r:embed="rId3">
            <a:alphaModFix amt="40000"/>
          </a:blip>
          <a:stretch>
            <a:fillRect/>
          </a:stretch>
        </p:blipFill>
        <p:spPr>
          <a:xfrm>
            <a:off x="6217920" y="2926080"/>
            <a:ext cx="2926080" cy="2194560"/>
          </a:xfrm>
          <a:prstGeom prst="rect">
            <a:avLst/>
          </a:prstGeom>
        </p:spPr>
      </p:pic>
      <p:sp>
        <p:nvSpPr>
          <p:cNvPr id="3" name="Shape 0">
            <a:extLst>
              <a:ext uri="{FF2B5EF4-FFF2-40B4-BE49-F238E27FC236}">
                <a16:creationId xmlns:a16="http://schemas.microsoft.com/office/drawing/2014/main" id="{F171A946-D562-3AB8-C86B-56D38032BB6F}"/>
              </a:ext>
            </a:extLst>
          </p:cNvPr>
          <p:cNvSpPr/>
          <p:nvPr/>
        </p:nvSpPr>
        <p:spPr>
          <a:xfrm>
            <a:off x="-1143000" y="-1080783"/>
            <a:ext cx="2286000" cy="2286000"/>
          </a:xfrm>
          <a:prstGeom prst="ellipse">
            <a:avLst/>
          </a:prstGeom>
          <a:solidFill>
            <a:srgbClr val="9900FF">
              <a:alpha val="20000"/>
            </a:srgbClr>
          </a:solidFill>
          <a:ln w="12700">
            <a:solidFill>
              <a:srgbClr val="000000"/>
            </a:solidFill>
            <a:prstDash val="solid"/>
          </a:ln>
        </p:spPr>
        <p:txBody>
          <a:bodyPr/>
          <a:lstStyle/>
          <a:p>
            <a:endParaRPr lang="en-US"/>
          </a:p>
        </p:txBody>
      </p:sp>
      <p:sp>
        <p:nvSpPr>
          <p:cNvPr id="4" name="Shape 1">
            <a:extLst>
              <a:ext uri="{FF2B5EF4-FFF2-40B4-BE49-F238E27FC236}">
                <a16:creationId xmlns:a16="http://schemas.microsoft.com/office/drawing/2014/main" id="{1E446C56-0713-C0D6-6B2B-AA46CA8D42E4}"/>
              </a:ext>
            </a:extLst>
          </p:cNvPr>
          <p:cNvSpPr/>
          <p:nvPr/>
        </p:nvSpPr>
        <p:spPr>
          <a:xfrm>
            <a:off x="7936426" y="3803904"/>
            <a:ext cx="2011680" cy="2011680"/>
          </a:xfrm>
          <a:prstGeom prst="ellipse">
            <a:avLst/>
          </a:prstGeom>
          <a:solidFill>
            <a:srgbClr val="FF9900">
              <a:alpha val="20000"/>
            </a:srgbClr>
          </a:solidFill>
          <a:ln w="12700">
            <a:solidFill>
              <a:srgbClr val="000000"/>
            </a:solidFill>
            <a:prstDash val="solid"/>
          </a:ln>
        </p:spPr>
        <p:txBody>
          <a:bodyPr/>
          <a:lstStyle/>
          <a:p>
            <a:endParaRPr lang="en-US"/>
          </a:p>
        </p:txBody>
      </p:sp>
      <p:sp>
        <p:nvSpPr>
          <p:cNvPr id="5" name="Text 2">
            <a:extLst>
              <a:ext uri="{FF2B5EF4-FFF2-40B4-BE49-F238E27FC236}">
                <a16:creationId xmlns:a16="http://schemas.microsoft.com/office/drawing/2014/main" id="{372C7F16-647E-FD05-80C0-743FC50A209D}"/>
              </a:ext>
            </a:extLst>
          </p:cNvPr>
          <p:cNvSpPr/>
          <p:nvPr/>
        </p:nvSpPr>
        <p:spPr>
          <a:xfrm>
            <a:off x="457200" y="256032"/>
            <a:ext cx="8229600" cy="530352"/>
          </a:xfrm>
          <a:prstGeom prst="rect">
            <a:avLst/>
          </a:prstGeom>
          <a:noFill/>
          <a:ln/>
        </p:spPr>
        <p:txBody>
          <a:bodyPr wrap="square" lIns="0" tIns="0" rIns="0" bIns="0" rtlCol="0" anchor="ctr"/>
          <a:lstStyle/>
          <a:p>
            <a:r>
              <a:rPr lang="en-US" sz="2000" b="1" dirty="0">
                <a:solidFill>
                  <a:srgbClr val="0C0A9E"/>
                </a:solidFill>
                <a:latin typeface="Poppins" pitchFamily="34" charset="0"/>
                <a:ea typeface="Poppins" pitchFamily="34" charset="-122"/>
                <a:cs typeface="Poppins" pitchFamily="34" charset="-120"/>
              </a:rPr>
              <a:t>Conclusion</a:t>
            </a:r>
            <a:endParaRPr lang="en-US" sz="2000" dirty="0"/>
          </a:p>
        </p:txBody>
      </p:sp>
      <p:sp>
        <p:nvSpPr>
          <p:cNvPr id="6" name="Shape 3">
            <a:extLst>
              <a:ext uri="{FF2B5EF4-FFF2-40B4-BE49-F238E27FC236}">
                <a16:creationId xmlns:a16="http://schemas.microsoft.com/office/drawing/2014/main" id="{9654BC15-7720-6315-68FF-2249255413BD}"/>
              </a:ext>
            </a:extLst>
          </p:cNvPr>
          <p:cNvSpPr/>
          <p:nvPr/>
        </p:nvSpPr>
        <p:spPr>
          <a:xfrm>
            <a:off x="457200" y="822960"/>
            <a:ext cx="1645920" cy="54864"/>
          </a:xfrm>
          <a:prstGeom prst="rect">
            <a:avLst/>
          </a:prstGeom>
          <a:solidFill>
            <a:srgbClr val="FF9900"/>
          </a:solidFill>
          <a:ln/>
        </p:spPr>
        <p:txBody>
          <a:bodyPr/>
          <a:lstStyle/>
          <a:p>
            <a:endParaRPr lang="en-US"/>
          </a:p>
        </p:txBody>
      </p:sp>
      <p:sp>
        <p:nvSpPr>
          <p:cNvPr id="7" name="Shape 4">
            <a:extLst>
              <a:ext uri="{FF2B5EF4-FFF2-40B4-BE49-F238E27FC236}">
                <a16:creationId xmlns:a16="http://schemas.microsoft.com/office/drawing/2014/main" id="{3F2A6685-A481-932E-8E57-9B6208E6CE87}"/>
              </a:ext>
            </a:extLst>
          </p:cNvPr>
          <p:cNvSpPr/>
          <p:nvPr/>
        </p:nvSpPr>
        <p:spPr>
          <a:xfrm>
            <a:off x="365759" y="1205217"/>
            <a:ext cx="6723197" cy="3246120"/>
          </a:xfrm>
          <a:prstGeom prst="rect">
            <a:avLst/>
          </a:prstGeom>
          <a:solidFill>
            <a:srgbClr val="F4EFF8"/>
          </a:solidFill>
          <a:ln w="10160">
            <a:solidFill>
              <a:srgbClr val="C5C6E8"/>
            </a:solidFill>
            <a:prstDash val="solid"/>
          </a:ln>
        </p:spPr>
        <p:txBody>
          <a:bodyPr/>
          <a:lstStyle/>
          <a:p>
            <a:pPr marL="171450" marR="0" lvl="0" indent="-171450" algn="l" defTabSz="914400" rtl="0" eaLnBrk="1" fontAlgn="auto" latinLnBrk="0" hangingPunct="1">
              <a:lnSpc>
                <a:spcPct val="150000"/>
              </a:lnSpc>
              <a:spcBef>
                <a:spcPts val="0"/>
              </a:spcBef>
              <a:spcAft>
                <a:spcPts val="300"/>
              </a:spcAft>
              <a:buClrTx/>
              <a:buSzPct val="100000"/>
              <a:buFont typeface="Arial" panose="020B0604020202020204" pitchFamily="34" charset="0"/>
              <a:buChar char="•"/>
              <a:tabLst/>
              <a:defRPr/>
            </a:pPr>
            <a:r>
              <a:rPr lang="en-US" sz="1200" dirty="0">
                <a:latin typeface="Poppins" pitchFamily="34" charset="0"/>
                <a:ea typeface="Poppins" pitchFamily="34" charset="-122"/>
                <a:cs typeface="Poppins" pitchFamily="34" charset="-120"/>
              </a:rPr>
              <a:t>Automated code documentation and bug report summarization is a tractable problem when the right model architecture and data quality standards are applied</a:t>
            </a:r>
          </a:p>
          <a:p>
            <a:pPr marR="0" lvl="0" algn="l" defTabSz="914400" rtl="0" eaLnBrk="1" fontAlgn="auto" latinLnBrk="0" hangingPunct="1">
              <a:lnSpc>
                <a:spcPct val="150000"/>
              </a:lnSpc>
              <a:spcBef>
                <a:spcPts val="0"/>
              </a:spcBef>
              <a:spcAft>
                <a:spcPts val="300"/>
              </a:spcAft>
              <a:buClrTx/>
              <a:buSzPct val="100000"/>
              <a:tabLst/>
              <a:defRPr/>
            </a:pPr>
            <a:endParaRPr lang="en-US" sz="1200" dirty="0">
              <a:latin typeface="Poppins" pitchFamily="34" charset="0"/>
              <a:ea typeface="Poppins" pitchFamily="34" charset="-122"/>
              <a:cs typeface="Poppins" pitchFamily="34" charset="-120"/>
            </a:endParaRPr>
          </a:p>
          <a:p>
            <a:pPr marL="171450" marR="0" lvl="0" indent="-171450" algn="l" defTabSz="914400" rtl="0" eaLnBrk="1" fontAlgn="auto" latinLnBrk="0" hangingPunct="1">
              <a:lnSpc>
                <a:spcPct val="150000"/>
              </a:lnSpc>
              <a:spcBef>
                <a:spcPts val="0"/>
              </a:spcBef>
              <a:spcAft>
                <a:spcPts val="300"/>
              </a:spcAft>
              <a:buClrTx/>
              <a:buSzPct val="100000"/>
              <a:buFont typeface="Arial" panose="020B0604020202020204" pitchFamily="34" charset="0"/>
              <a:buChar char="•"/>
              <a:tabLst/>
              <a:defRPr/>
            </a:pPr>
            <a:r>
              <a:rPr lang="en-US" sz="1200" dirty="0" err="1">
                <a:latin typeface="Poppins" pitchFamily="34" charset="0"/>
                <a:ea typeface="Poppins" pitchFamily="34" charset="-122"/>
                <a:cs typeface="Poppins" pitchFamily="34" charset="-120"/>
              </a:rPr>
              <a:t>CodeSearchNet</a:t>
            </a:r>
            <a:r>
              <a:rPr lang="en-US" sz="1200" dirty="0">
                <a:latin typeface="Poppins" pitchFamily="34" charset="0"/>
                <a:ea typeface="Poppins" pitchFamily="34" charset="-122"/>
                <a:cs typeface="Poppins" pitchFamily="34" charset="-120"/>
              </a:rPr>
              <a:t> and GitHub Issues together provide complementary training signal — structured docstrings and unstructured natural language — that tests real generalization</a:t>
            </a:r>
          </a:p>
          <a:p>
            <a:pPr marR="0" lvl="0" algn="l" defTabSz="914400" rtl="0" eaLnBrk="1" fontAlgn="auto" latinLnBrk="0" hangingPunct="1">
              <a:lnSpc>
                <a:spcPct val="150000"/>
              </a:lnSpc>
              <a:spcBef>
                <a:spcPts val="0"/>
              </a:spcBef>
              <a:spcAft>
                <a:spcPts val="300"/>
              </a:spcAft>
              <a:buClrTx/>
              <a:buSzPct val="100000"/>
              <a:tabLst/>
              <a:defRPr/>
            </a:pPr>
            <a:endParaRPr lang="en-US" sz="1200" dirty="0">
              <a:latin typeface="Poppins" pitchFamily="34" charset="0"/>
              <a:ea typeface="Poppins" pitchFamily="34" charset="-122"/>
              <a:cs typeface="Poppins" pitchFamily="34" charset="-120"/>
            </a:endParaRPr>
          </a:p>
          <a:p>
            <a:pPr marL="171450" marR="0" lvl="0" indent="-171450" algn="l" defTabSz="914400" rtl="0" eaLnBrk="1" fontAlgn="auto" latinLnBrk="0" hangingPunct="1">
              <a:lnSpc>
                <a:spcPct val="150000"/>
              </a:lnSpc>
              <a:spcBef>
                <a:spcPts val="0"/>
              </a:spcBef>
              <a:spcAft>
                <a:spcPts val="300"/>
              </a:spcAft>
              <a:buClrTx/>
              <a:buSzPct val="100000"/>
              <a:buFont typeface="Arial" panose="020B0604020202020204" pitchFamily="34" charset="0"/>
              <a:buChar char="•"/>
              <a:tabLst/>
              <a:defRPr/>
            </a:pPr>
            <a:r>
              <a:rPr lang="en-US" sz="1200" dirty="0">
                <a:latin typeface="Poppins" pitchFamily="34" charset="0"/>
                <a:ea typeface="Poppins" pitchFamily="34" charset="-122"/>
                <a:cs typeface="Poppins" pitchFamily="34" charset="-120"/>
              </a:rPr>
              <a:t>Fine-tuning a code-specific model like CodeT5 is more effective than applying general-purpose NLP models to code, given the unique vocabulary and syntax of programming languages</a:t>
            </a:r>
          </a:p>
        </p:txBody>
      </p:sp>
      <p:sp>
        <p:nvSpPr>
          <p:cNvPr id="9" name="Text 6">
            <a:extLst>
              <a:ext uri="{FF2B5EF4-FFF2-40B4-BE49-F238E27FC236}">
                <a16:creationId xmlns:a16="http://schemas.microsoft.com/office/drawing/2014/main" id="{112525A6-9E42-3CA8-7242-F02E8F8FCEC9}"/>
              </a:ext>
            </a:extLst>
          </p:cNvPr>
          <p:cNvSpPr/>
          <p:nvPr/>
        </p:nvSpPr>
        <p:spPr>
          <a:xfrm>
            <a:off x="502920" y="1316736"/>
            <a:ext cx="3840480" cy="2286000"/>
          </a:xfrm>
          <a:prstGeom prst="rect">
            <a:avLst/>
          </a:prstGeom>
          <a:noFill/>
          <a:ln/>
        </p:spPr>
        <p:txBody>
          <a:bodyPr wrap="square" rtlCol="0" anchor="ctr"/>
          <a:lstStyle/>
          <a:p>
            <a:pPr marL="342900" indent="-342900">
              <a:spcAft>
                <a:spcPts val="300"/>
              </a:spcAft>
              <a:buSzPct val="100000"/>
              <a:buChar char="•"/>
            </a:pPr>
            <a:endParaRPr lang="en-US" sz="1200" dirty="0"/>
          </a:p>
        </p:txBody>
      </p:sp>
      <p:sp>
        <p:nvSpPr>
          <p:cNvPr id="10" name="TextBox 9"/>
          <p:cNvSpPr txBox="1"/>
          <p:nvPr/>
        </p:nvSpPr>
        <p:spPr>
          <a:xfrm>
            <a:off x="8412480" y="4750308"/>
            <a:ext cx="320040" cy="228600"/>
          </a:xfrm>
          <a:prstGeom prst="rect">
            <a:avLst/>
          </a:prstGeom>
          <a:noFill/>
        </p:spPr>
        <p:txBody>
          <a:bodyPr wrap="none">
            <a:spAutoFit/>
          </a:bodyPr>
          <a:lstStyle/>
          <a:p>
            <a:pPr algn="r"/>
            <a:r>
              <a:rPr sz="1100" b="0">
                <a:solidFill>
                  <a:srgbClr val="0C0A9E"/>
                </a:solidFill>
              </a:rPr>
              <a:t>19</a:t>
            </a:r>
          </a:p>
        </p:txBody>
      </p:sp>
    </p:spTree>
    <p:extLst>
      <p:ext uri="{BB962C8B-B14F-4D97-AF65-F5344CB8AC3E}">
        <p14:creationId xmlns:p14="http://schemas.microsoft.com/office/powerpoint/2010/main" val="4220333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6B1860-B5E9-7A40-7385-AEFA09F9962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A330BEF-2942-BF83-E982-0D82ACB098A1}"/>
              </a:ext>
            </a:extLst>
          </p:cNvPr>
          <p:cNvPicPr>
            <a:picLocks noChangeAspect="1"/>
          </p:cNvPicPr>
          <p:nvPr/>
        </p:nvPicPr>
        <p:blipFill>
          <a:blip r:embed="rId3">
            <a:alphaModFix amt="40000"/>
          </a:blip>
          <a:stretch>
            <a:fillRect/>
          </a:stretch>
        </p:blipFill>
        <p:spPr>
          <a:xfrm>
            <a:off x="6217920" y="2926080"/>
            <a:ext cx="2926080" cy="2194560"/>
          </a:xfrm>
          <a:prstGeom prst="rect">
            <a:avLst/>
          </a:prstGeom>
        </p:spPr>
      </p:pic>
      <p:sp>
        <p:nvSpPr>
          <p:cNvPr id="3" name="Shape 0">
            <a:extLst>
              <a:ext uri="{FF2B5EF4-FFF2-40B4-BE49-F238E27FC236}">
                <a16:creationId xmlns:a16="http://schemas.microsoft.com/office/drawing/2014/main" id="{E81C55D1-D561-2BB0-1D54-6EC760458087}"/>
              </a:ext>
            </a:extLst>
          </p:cNvPr>
          <p:cNvSpPr/>
          <p:nvPr/>
        </p:nvSpPr>
        <p:spPr>
          <a:xfrm>
            <a:off x="-1064987" y="-1025259"/>
            <a:ext cx="2286000" cy="2286000"/>
          </a:xfrm>
          <a:prstGeom prst="ellipse">
            <a:avLst/>
          </a:prstGeom>
          <a:solidFill>
            <a:srgbClr val="9900FF">
              <a:alpha val="20000"/>
            </a:srgbClr>
          </a:solidFill>
          <a:ln w="12700">
            <a:solidFill>
              <a:srgbClr val="000000"/>
            </a:solidFill>
            <a:prstDash val="solid"/>
          </a:ln>
        </p:spPr>
        <p:txBody>
          <a:bodyPr/>
          <a:lstStyle/>
          <a:p>
            <a:endParaRPr lang="en-US" dirty="0"/>
          </a:p>
        </p:txBody>
      </p:sp>
      <p:sp>
        <p:nvSpPr>
          <p:cNvPr id="4" name="Shape 1">
            <a:extLst>
              <a:ext uri="{FF2B5EF4-FFF2-40B4-BE49-F238E27FC236}">
                <a16:creationId xmlns:a16="http://schemas.microsoft.com/office/drawing/2014/main" id="{9F21BA0B-0EE5-FCD8-259E-D82C2C119F76}"/>
              </a:ext>
            </a:extLst>
          </p:cNvPr>
          <p:cNvSpPr/>
          <p:nvPr/>
        </p:nvSpPr>
        <p:spPr>
          <a:xfrm>
            <a:off x="7927942" y="3767328"/>
            <a:ext cx="2011680" cy="2011680"/>
          </a:xfrm>
          <a:prstGeom prst="ellipse">
            <a:avLst/>
          </a:prstGeom>
          <a:solidFill>
            <a:srgbClr val="FF9900">
              <a:alpha val="20000"/>
            </a:srgbClr>
          </a:solidFill>
          <a:ln w="12700">
            <a:solidFill>
              <a:srgbClr val="000000"/>
            </a:solidFill>
            <a:prstDash val="solid"/>
          </a:ln>
        </p:spPr>
        <p:txBody>
          <a:bodyPr/>
          <a:lstStyle/>
          <a:p>
            <a:endParaRPr lang="en-US"/>
          </a:p>
        </p:txBody>
      </p:sp>
      <p:sp>
        <p:nvSpPr>
          <p:cNvPr id="5" name="Text 2">
            <a:extLst>
              <a:ext uri="{FF2B5EF4-FFF2-40B4-BE49-F238E27FC236}">
                <a16:creationId xmlns:a16="http://schemas.microsoft.com/office/drawing/2014/main" id="{60C9E135-9F0A-7CA6-025D-E9BF9DE152A0}"/>
              </a:ext>
            </a:extLst>
          </p:cNvPr>
          <p:cNvSpPr/>
          <p:nvPr/>
        </p:nvSpPr>
        <p:spPr>
          <a:xfrm>
            <a:off x="457200" y="256032"/>
            <a:ext cx="8229600" cy="530352"/>
          </a:xfrm>
          <a:prstGeom prst="rect">
            <a:avLst/>
          </a:prstGeom>
          <a:noFill/>
          <a:ln/>
        </p:spPr>
        <p:txBody>
          <a:bodyPr wrap="square" lIns="0" tIns="0" rIns="0" bIns="0" rtlCol="0" anchor="ctr"/>
          <a:lstStyle/>
          <a:p>
            <a:r>
              <a:rPr lang="en-US" sz="2000" b="1" dirty="0">
                <a:solidFill>
                  <a:srgbClr val="0C0A9E"/>
                </a:solidFill>
                <a:latin typeface="Poppins" pitchFamily="34" charset="0"/>
                <a:cs typeface="Poppins" pitchFamily="34" charset="-120"/>
              </a:rPr>
              <a:t>Next Steps</a:t>
            </a:r>
            <a:endParaRPr lang="en-US" sz="2000" dirty="0"/>
          </a:p>
        </p:txBody>
      </p:sp>
      <p:sp>
        <p:nvSpPr>
          <p:cNvPr id="6" name="Shape 3">
            <a:extLst>
              <a:ext uri="{FF2B5EF4-FFF2-40B4-BE49-F238E27FC236}">
                <a16:creationId xmlns:a16="http://schemas.microsoft.com/office/drawing/2014/main" id="{C6047872-C15B-616C-1EC3-519C92D73881}"/>
              </a:ext>
            </a:extLst>
          </p:cNvPr>
          <p:cNvSpPr/>
          <p:nvPr/>
        </p:nvSpPr>
        <p:spPr>
          <a:xfrm>
            <a:off x="457200" y="822960"/>
            <a:ext cx="1645920" cy="54864"/>
          </a:xfrm>
          <a:prstGeom prst="rect">
            <a:avLst/>
          </a:prstGeom>
          <a:solidFill>
            <a:srgbClr val="FF9900"/>
          </a:solidFill>
          <a:ln/>
        </p:spPr>
        <p:txBody>
          <a:bodyPr/>
          <a:lstStyle/>
          <a:p>
            <a:endParaRPr lang="en-US"/>
          </a:p>
        </p:txBody>
      </p:sp>
      <p:sp>
        <p:nvSpPr>
          <p:cNvPr id="9" name="Text 6">
            <a:extLst>
              <a:ext uri="{FF2B5EF4-FFF2-40B4-BE49-F238E27FC236}">
                <a16:creationId xmlns:a16="http://schemas.microsoft.com/office/drawing/2014/main" id="{213AB388-2F65-FE3C-5F48-F58D2BB0FCFC}"/>
              </a:ext>
            </a:extLst>
          </p:cNvPr>
          <p:cNvSpPr/>
          <p:nvPr/>
        </p:nvSpPr>
        <p:spPr>
          <a:xfrm>
            <a:off x="502920" y="1316736"/>
            <a:ext cx="3840480" cy="2286000"/>
          </a:xfrm>
          <a:prstGeom prst="rect">
            <a:avLst/>
          </a:prstGeom>
          <a:noFill/>
          <a:ln/>
        </p:spPr>
        <p:txBody>
          <a:bodyPr wrap="square" rtlCol="0" anchor="ctr"/>
          <a:lstStyle/>
          <a:p>
            <a:pPr marL="342900" indent="-342900">
              <a:spcAft>
                <a:spcPts val="300"/>
              </a:spcAft>
              <a:buSzPct val="100000"/>
              <a:buChar char="•"/>
            </a:pPr>
            <a:endParaRPr lang="en-US" sz="1200" dirty="0"/>
          </a:p>
        </p:txBody>
      </p:sp>
      <p:sp>
        <p:nvSpPr>
          <p:cNvPr id="11" name="Text 8">
            <a:extLst>
              <a:ext uri="{FF2B5EF4-FFF2-40B4-BE49-F238E27FC236}">
                <a16:creationId xmlns:a16="http://schemas.microsoft.com/office/drawing/2014/main" id="{67842D75-59DC-21E9-C48C-0ADF55A15DEC}"/>
              </a:ext>
            </a:extLst>
          </p:cNvPr>
          <p:cNvSpPr/>
          <p:nvPr/>
        </p:nvSpPr>
        <p:spPr>
          <a:xfrm>
            <a:off x="4800600" y="1005840"/>
            <a:ext cx="3840480" cy="274320"/>
          </a:xfrm>
          <a:prstGeom prst="rect">
            <a:avLst/>
          </a:prstGeom>
          <a:noFill/>
          <a:ln/>
        </p:spPr>
        <p:txBody>
          <a:bodyPr wrap="square" lIns="0" tIns="0" rIns="0" bIns="0" rtlCol="0" anchor="ctr"/>
          <a:lstStyle/>
          <a:p>
            <a:pPr marL="0" indent="0">
              <a:buNone/>
            </a:pPr>
            <a:endParaRPr lang="en-US" sz="1300" dirty="0"/>
          </a:p>
        </p:txBody>
      </p:sp>
      <p:sp>
        <p:nvSpPr>
          <p:cNvPr id="12" name="Text 9">
            <a:extLst>
              <a:ext uri="{FF2B5EF4-FFF2-40B4-BE49-F238E27FC236}">
                <a16:creationId xmlns:a16="http://schemas.microsoft.com/office/drawing/2014/main" id="{D0013D0F-B6FC-AF73-E6E2-19454E476916}"/>
              </a:ext>
            </a:extLst>
          </p:cNvPr>
          <p:cNvSpPr/>
          <p:nvPr/>
        </p:nvSpPr>
        <p:spPr>
          <a:xfrm>
            <a:off x="445416" y="1279406"/>
            <a:ext cx="6365451" cy="2852928"/>
          </a:xfrm>
          <a:prstGeom prst="rect">
            <a:avLst/>
          </a:prstGeom>
          <a:solidFill>
            <a:srgbClr val="F4EFF8"/>
          </a:solidFill>
          <a:ln>
            <a:solidFill>
              <a:srgbClr val="B1B1C5"/>
            </a:solidFill>
          </a:ln>
        </p:spPr>
        <p:txBody>
          <a:bodyPr wrap="square" rtlCol="0" anchor="ctr"/>
          <a:lstStyle/>
          <a:p>
            <a:pPr marL="342900" indent="-342900">
              <a:spcAft>
                <a:spcPts val="300"/>
              </a:spcAft>
              <a:buSzPct val="100000"/>
              <a:buChar char="•"/>
            </a:pPr>
            <a:endParaRPr lang="en-US" sz="1200" dirty="0">
              <a:latin typeface="Poppins" pitchFamily="34" charset="0"/>
              <a:ea typeface="Poppins" pitchFamily="34" charset="-122"/>
              <a:cs typeface="Poppins" pitchFamily="34" charset="-120"/>
            </a:endParaRPr>
          </a:p>
          <a:p>
            <a:pPr marL="342900" indent="-342900">
              <a:spcAft>
                <a:spcPts val="300"/>
              </a:spcAft>
              <a:buSzPct val="100000"/>
              <a:buChar char="•"/>
            </a:pPr>
            <a:r>
              <a:rPr lang="en-US" sz="1200" dirty="0">
                <a:latin typeface="Poppins" pitchFamily="34" charset="0"/>
                <a:ea typeface="Poppins" pitchFamily="34" charset="-122"/>
                <a:cs typeface="Poppins" pitchFamily="34" charset="-120"/>
              </a:rPr>
              <a:t>Run full comparison (all 3 models × 3 epochs)</a:t>
            </a:r>
          </a:p>
          <a:p>
            <a:pPr>
              <a:spcAft>
                <a:spcPts val="300"/>
              </a:spcAft>
              <a:buSzPct val="100000"/>
            </a:pPr>
            <a:endParaRPr lang="en-US" sz="1200" dirty="0"/>
          </a:p>
          <a:p>
            <a:pPr marL="342900" indent="-342900">
              <a:spcAft>
                <a:spcPts val="300"/>
              </a:spcAft>
              <a:buSzPct val="100000"/>
              <a:buChar char="•"/>
            </a:pPr>
            <a:r>
              <a:rPr lang="en-US" sz="1200" dirty="0">
                <a:latin typeface="Poppins" pitchFamily="34" charset="0"/>
                <a:ea typeface="Poppins" pitchFamily="34" charset="-122"/>
                <a:cs typeface="Poppins" pitchFamily="34" charset="-120"/>
              </a:rPr>
              <a:t>Select best model by composite BLEU/ROUGE/METEOR/</a:t>
            </a:r>
            <a:r>
              <a:rPr lang="en-US" sz="1200" dirty="0" err="1">
                <a:latin typeface="Poppins" pitchFamily="34" charset="0"/>
                <a:ea typeface="Poppins" pitchFamily="34" charset="-122"/>
                <a:cs typeface="Poppins" pitchFamily="34" charset="-120"/>
              </a:rPr>
              <a:t>CodeBLEU</a:t>
            </a:r>
            <a:endParaRPr lang="en-US" sz="1200" dirty="0">
              <a:latin typeface="Poppins" pitchFamily="34" charset="0"/>
              <a:ea typeface="Poppins" pitchFamily="34" charset="-122"/>
              <a:cs typeface="Poppins" pitchFamily="34" charset="-120"/>
            </a:endParaRPr>
          </a:p>
          <a:p>
            <a:pPr>
              <a:spcAft>
                <a:spcPts val="300"/>
              </a:spcAft>
              <a:buSzPct val="100000"/>
            </a:pPr>
            <a:endParaRPr lang="en-US" sz="1200" dirty="0"/>
          </a:p>
          <a:p>
            <a:pPr marL="342900" indent="-342900">
              <a:spcAft>
                <a:spcPts val="300"/>
              </a:spcAft>
              <a:buSzPct val="100000"/>
              <a:buChar char="•"/>
            </a:pPr>
            <a:r>
              <a:rPr lang="en-US" sz="1200" dirty="0">
                <a:latin typeface="Poppins" pitchFamily="34" charset="0"/>
                <a:ea typeface="Poppins" pitchFamily="34" charset="-122"/>
                <a:cs typeface="Poppins" pitchFamily="34" charset="-120"/>
              </a:rPr>
              <a:t>Full fine-tuning on combined 225K dataset (</a:t>
            </a:r>
            <a:r>
              <a:rPr lang="en-US" sz="1200" dirty="0" err="1">
                <a:latin typeface="Poppins" pitchFamily="34" charset="0"/>
                <a:ea typeface="Poppins" pitchFamily="34" charset="-122"/>
                <a:cs typeface="Poppins" pitchFamily="34" charset="-120"/>
              </a:rPr>
              <a:t>CodeSearchNet</a:t>
            </a:r>
            <a:r>
              <a:rPr lang="en-US" sz="1200" dirty="0">
                <a:latin typeface="Poppins" pitchFamily="34" charset="0"/>
                <a:ea typeface="Poppins" pitchFamily="34" charset="-122"/>
                <a:cs typeface="Poppins" pitchFamily="34" charset="-120"/>
              </a:rPr>
              <a:t> + </a:t>
            </a:r>
            <a:r>
              <a:rPr lang="en-US" sz="1200" dirty="0" err="1">
                <a:latin typeface="Poppins" pitchFamily="34" charset="0"/>
                <a:ea typeface="Poppins" pitchFamily="34" charset="-122"/>
                <a:cs typeface="Poppins" pitchFamily="34" charset="-120"/>
              </a:rPr>
              <a:t>Github</a:t>
            </a:r>
            <a:r>
              <a:rPr lang="en-US" sz="1200" dirty="0">
                <a:latin typeface="Poppins" pitchFamily="34" charset="0"/>
                <a:ea typeface="Poppins" pitchFamily="34" charset="-122"/>
                <a:cs typeface="Poppins" pitchFamily="34" charset="-120"/>
              </a:rPr>
              <a:t> Issues)</a:t>
            </a:r>
          </a:p>
          <a:p>
            <a:pPr marL="342900" indent="-342900">
              <a:spcAft>
                <a:spcPts val="300"/>
              </a:spcAft>
              <a:buSzPct val="100000"/>
              <a:buChar char="•"/>
            </a:pPr>
            <a:endParaRPr lang="en-US" sz="1200" dirty="0"/>
          </a:p>
          <a:p>
            <a:pPr marL="342900" indent="-342900">
              <a:spcAft>
                <a:spcPts val="300"/>
              </a:spcAft>
              <a:buSzPct val="100000"/>
              <a:buChar char="•"/>
            </a:pPr>
            <a:r>
              <a:rPr lang="en-US" sz="1200" dirty="0">
                <a:latin typeface="Poppins" pitchFamily="34" charset="0"/>
                <a:ea typeface="Poppins" pitchFamily="34" charset="-122"/>
                <a:cs typeface="Poppins" pitchFamily="34" charset="-120"/>
              </a:rPr>
              <a:t>Final evaluation of </a:t>
            </a:r>
            <a:r>
              <a:rPr lang="en-US" sz="1200" dirty="0" err="1">
                <a:latin typeface="Poppins" pitchFamily="34" charset="0"/>
                <a:ea typeface="Poppins" pitchFamily="34" charset="-122"/>
                <a:cs typeface="Poppins" pitchFamily="34" charset="-120"/>
              </a:rPr>
              <a:t>CodeSearchNet</a:t>
            </a:r>
            <a:r>
              <a:rPr lang="en-US" sz="1200" dirty="0">
                <a:latin typeface="Poppins" pitchFamily="34" charset="0"/>
                <a:ea typeface="Poppins" pitchFamily="34" charset="-122"/>
                <a:cs typeface="Poppins" pitchFamily="34" charset="-120"/>
              </a:rPr>
              <a:t> and </a:t>
            </a:r>
            <a:r>
              <a:rPr lang="en-US" sz="1200" dirty="0" err="1">
                <a:latin typeface="Poppins" pitchFamily="34" charset="0"/>
                <a:ea typeface="Poppins" pitchFamily="34" charset="-122"/>
                <a:cs typeface="Poppins" pitchFamily="34" charset="-120"/>
              </a:rPr>
              <a:t>Github</a:t>
            </a:r>
            <a:r>
              <a:rPr lang="en-US" sz="1200" dirty="0">
                <a:latin typeface="Poppins" pitchFamily="34" charset="0"/>
                <a:ea typeface="Poppins" pitchFamily="34" charset="-122"/>
                <a:cs typeface="Poppins" pitchFamily="34" charset="-120"/>
              </a:rPr>
              <a:t> Issues separately </a:t>
            </a:r>
          </a:p>
          <a:p>
            <a:pPr marL="342900" indent="-342900">
              <a:spcAft>
                <a:spcPts val="300"/>
              </a:spcAft>
              <a:buSzPct val="100000"/>
              <a:buChar char="•"/>
            </a:pPr>
            <a:endParaRPr lang="en-US" sz="1200" dirty="0"/>
          </a:p>
          <a:p>
            <a:pPr marL="342900" indent="-342900">
              <a:spcAft>
                <a:spcPts val="300"/>
              </a:spcAft>
              <a:buSzPct val="100000"/>
              <a:buChar char="•"/>
            </a:pPr>
            <a:r>
              <a:rPr lang="en-US" sz="1200" dirty="0">
                <a:latin typeface="Poppins" pitchFamily="34" charset="0"/>
                <a:ea typeface="Poppins" pitchFamily="34" charset="-122"/>
                <a:cs typeface="Poppins" pitchFamily="34" charset="-120"/>
              </a:rPr>
              <a:t>Inference demo on unseen code and bug report examples</a:t>
            </a:r>
          </a:p>
          <a:p>
            <a:pPr>
              <a:spcAft>
                <a:spcPts val="300"/>
              </a:spcAft>
              <a:buSzPct val="100000"/>
            </a:pPr>
            <a:endParaRPr lang="en-US" sz="1200" dirty="0"/>
          </a:p>
          <a:p>
            <a:pPr>
              <a:spcAft>
                <a:spcPts val="300"/>
              </a:spcAft>
              <a:buSzPct val="100000"/>
            </a:pPr>
            <a:endParaRPr lang="en-US" sz="1200" dirty="0"/>
          </a:p>
        </p:txBody>
      </p:sp>
      <p:sp>
        <p:nvSpPr>
          <p:cNvPr id="13" name="TextBox 12"/>
          <p:cNvSpPr txBox="1"/>
          <p:nvPr/>
        </p:nvSpPr>
        <p:spPr>
          <a:xfrm>
            <a:off x="8412480" y="4750308"/>
            <a:ext cx="320040" cy="228600"/>
          </a:xfrm>
          <a:prstGeom prst="rect">
            <a:avLst/>
          </a:prstGeom>
          <a:noFill/>
        </p:spPr>
        <p:txBody>
          <a:bodyPr wrap="none">
            <a:spAutoFit/>
          </a:bodyPr>
          <a:lstStyle/>
          <a:p>
            <a:pPr algn="r"/>
            <a:r>
              <a:rPr sz="1100" b="0">
                <a:solidFill>
                  <a:srgbClr val="0C0A9E"/>
                </a:solidFill>
              </a:rPr>
              <a:t>20</a:t>
            </a:r>
          </a:p>
        </p:txBody>
      </p:sp>
    </p:spTree>
    <p:extLst>
      <p:ext uri="{BB962C8B-B14F-4D97-AF65-F5344CB8AC3E}">
        <p14:creationId xmlns:p14="http://schemas.microsoft.com/office/powerpoint/2010/main" val="2720542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217920" y="2926080"/>
            <a:ext cx="2926080" cy="2194560"/>
          </a:xfrm>
          <a:prstGeom prst="rect">
            <a:avLst/>
          </a:prstGeom>
        </p:spPr>
      </p:pic>
      <p:sp>
        <p:nvSpPr>
          <p:cNvPr id="4"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2000" b="1" dirty="0">
                <a:solidFill>
                  <a:srgbClr val="0C0A9E"/>
                </a:solidFill>
                <a:latin typeface="Poppins" pitchFamily="34" charset="0"/>
                <a:ea typeface="Poppins" pitchFamily="34" charset="-122"/>
                <a:cs typeface="Poppins" pitchFamily="34" charset="-120"/>
              </a:rPr>
              <a:t>References</a:t>
            </a:r>
            <a:endParaRPr lang="en-US" sz="2000" dirty="0"/>
          </a:p>
        </p:txBody>
      </p:sp>
      <p:sp>
        <p:nvSpPr>
          <p:cNvPr id="5" name="Shape 2"/>
          <p:cNvSpPr/>
          <p:nvPr/>
        </p:nvSpPr>
        <p:spPr>
          <a:xfrm>
            <a:off x="365760" y="594360"/>
            <a:ext cx="1097280" cy="50292"/>
          </a:xfrm>
          <a:prstGeom prst="rect">
            <a:avLst/>
          </a:prstGeom>
          <a:solidFill>
            <a:srgbClr val="FF9900"/>
          </a:solidFill>
          <a:ln/>
        </p:spPr>
        <p:txBody>
          <a:bodyPr/>
          <a:lstStyle/>
          <a:p>
            <a:endParaRPr lang="en-US"/>
          </a:p>
        </p:txBody>
      </p:sp>
      <p:sp>
        <p:nvSpPr>
          <p:cNvPr id="6" name="Shape 3"/>
          <p:cNvSpPr/>
          <p:nvPr/>
        </p:nvSpPr>
        <p:spPr>
          <a:xfrm>
            <a:off x="365760" y="768096"/>
            <a:ext cx="292608" cy="256032"/>
          </a:xfrm>
          <a:prstGeom prst="rect">
            <a:avLst/>
          </a:prstGeom>
          <a:solidFill>
            <a:srgbClr val="0C0A9E"/>
          </a:solidFill>
          <a:ln/>
        </p:spPr>
        <p:txBody>
          <a:bodyPr/>
          <a:lstStyle/>
          <a:p>
            <a:endParaRPr lang="en-US"/>
          </a:p>
        </p:txBody>
      </p:sp>
      <p:sp>
        <p:nvSpPr>
          <p:cNvPr id="7" name="Text 4"/>
          <p:cNvSpPr/>
          <p:nvPr/>
        </p:nvSpPr>
        <p:spPr>
          <a:xfrm>
            <a:off x="365760" y="768096"/>
            <a:ext cx="292608"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Poppins" pitchFamily="34" charset="0"/>
                <a:ea typeface="Poppins" pitchFamily="34" charset="-122"/>
                <a:cs typeface="Poppins" pitchFamily="34" charset="-120"/>
              </a:rPr>
              <a:t>[1]</a:t>
            </a:r>
            <a:endParaRPr lang="en-US" sz="750" dirty="0"/>
          </a:p>
        </p:txBody>
      </p:sp>
      <p:sp>
        <p:nvSpPr>
          <p:cNvPr id="8" name="Text 5"/>
          <p:cNvSpPr/>
          <p:nvPr/>
        </p:nvSpPr>
        <p:spPr>
          <a:xfrm>
            <a:off x="713232" y="749808"/>
            <a:ext cx="3721608" cy="621792"/>
          </a:xfrm>
          <a:prstGeom prst="rect">
            <a:avLst/>
          </a:prstGeom>
          <a:noFill/>
          <a:ln/>
        </p:spPr>
        <p:txBody>
          <a:bodyPr wrap="square" lIns="0" tIns="0" rIns="0" bIns="0" rtlCol="0" anchor="ctr"/>
          <a:lstStyle/>
          <a:p>
            <a:pPr marL="0" indent="0">
              <a:buNone/>
            </a:pPr>
            <a:r>
              <a:rPr lang="en-US" sz="880" dirty="0">
                <a:solidFill>
                  <a:srgbClr val="191919"/>
                </a:solidFill>
                <a:latin typeface="Poppins" pitchFamily="34" charset="0"/>
                <a:ea typeface="Poppins" pitchFamily="34" charset="-122"/>
                <a:cs typeface="Poppins" pitchFamily="34" charset="-120"/>
              </a:rPr>
              <a:t>Wang, Y., Wang, W., Joty, S., &amp; Hoi, S. C. H. (2021). CodeT5: Identifier-aware Unified Pre-trained Encoder-Decoder Models for Code Understanding and Generation. In Proceedings of EMNLP 2021, pp. 8696–8708. ACL. https://aclanthology.org/2021.emnlp-main.685</a:t>
            </a:r>
            <a:endParaRPr lang="en-US" sz="880" dirty="0"/>
          </a:p>
        </p:txBody>
      </p:sp>
      <p:sp>
        <p:nvSpPr>
          <p:cNvPr id="9" name="Shape 6"/>
          <p:cNvSpPr/>
          <p:nvPr/>
        </p:nvSpPr>
        <p:spPr>
          <a:xfrm>
            <a:off x="365760" y="1426464"/>
            <a:ext cx="292608" cy="256032"/>
          </a:xfrm>
          <a:prstGeom prst="rect">
            <a:avLst/>
          </a:prstGeom>
          <a:solidFill>
            <a:srgbClr val="0C0A9E"/>
          </a:solidFill>
          <a:ln/>
        </p:spPr>
        <p:txBody>
          <a:bodyPr/>
          <a:lstStyle/>
          <a:p>
            <a:endParaRPr lang="en-US"/>
          </a:p>
        </p:txBody>
      </p:sp>
      <p:sp>
        <p:nvSpPr>
          <p:cNvPr id="10" name="Text 7"/>
          <p:cNvSpPr/>
          <p:nvPr/>
        </p:nvSpPr>
        <p:spPr>
          <a:xfrm>
            <a:off x="365760" y="1426464"/>
            <a:ext cx="292608"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Poppins" pitchFamily="34" charset="0"/>
                <a:ea typeface="Poppins" pitchFamily="34" charset="-122"/>
                <a:cs typeface="Poppins" pitchFamily="34" charset="-120"/>
              </a:rPr>
              <a:t>[2]</a:t>
            </a:r>
            <a:endParaRPr lang="en-US" sz="750" dirty="0"/>
          </a:p>
        </p:txBody>
      </p:sp>
      <p:sp>
        <p:nvSpPr>
          <p:cNvPr id="11" name="Text 8"/>
          <p:cNvSpPr/>
          <p:nvPr/>
        </p:nvSpPr>
        <p:spPr>
          <a:xfrm>
            <a:off x="713232" y="1408176"/>
            <a:ext cx="3721608" cy="621792"/>
          </a:xfrm>
          <a:prstGeom prst="rect">
            <a:avLst/>
          </a:prstGeom>
          <a:noFill/>
          <a:ln/>
        </p:spPr>
        <p:txBody>
          <a:bodyPr wrap="square" lIns="0" tIns="0" rIns="0" bIns="0" rtlCol="0" anchor="ctr"/>
          <a:lstStyle/>
          <a:p>
            <a:pPr marL="0" indent="0">
              <a:buNone/>
            </a:pPr>
            <a:r>
              <a:rPr lang="en-US" sz="880" dirty="0">
                <a:solidFill>
                  <a:srgbClr val="191919"/>
                </a:solidFill>
                <a:latin typeface="Poppins" pitchFamily="34" charset="0"/>
                <a:ea typeface="Poppins" pitchFamily="34" charset="-122"/>
                <a:cs typeface="Poppins" pitchFamily="34" charset="-120"/>
              </a:rPr>
              <a:t>Wang, Y., Le, H., Gotmare, A. D., Bui, N. D. Q., Li, J., &amp; Hoi, S. C. H. (2023). CodeT5+: Open Code Large Language Models for Code Understanding and Generation. In Proceedings of EMNLP 2023, pp. 1069–1088. ACL. https://aclanthology.org/2023.emnlp-main.68</a:t>
            </a:r>
            <a:endParaRPr lang="en-US" sz="880" dirty="0"/>
          </a:p>
        </p:txBody>
      </p:sp>
      <p:sp>
        <p:nvSpPr>
          <p:cNvPr id="12" name="Shape 9"/>
          <p:cNvSpPr/>
          <p:nvPr/>
        </p:nvSpPr>
        <p:spPr>
          <a:xfrm>
            <a:off x="365760" y="2084832"/>
            <a:ext cx="292608" cy="256032"/>
          </a:xfrm>
          <a:prstGeom prst="rect">
            <a:avLst/>
          </a:prstGeom>
          <a:solidFill>
            <a:srgbClr val="0C0A9E"/>
          </a:solidFill>
          <a:ln/>
        </p:spPr>
        <p:txBody>
          <a:bodyPr/>
          <a:lstStyle/>
          <a:p>
            <a:endParaRPr lang="en-US"/>
          </a:p>
        </p:txBody>
      </p:sp>
      <p:sp>
        <p:nvSpPr>
          <p:cNvPr id="13" name="Text 10"/>
          <p:cNvSpPr/>
          <p:nvPr/>
        </p:nvSpPr>
        <p:spPr>
          <a:xfrm>
            <a:off x="365760" y="2084832"/>
            <a:ext cx="292608"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Poppins" pitchFamily="34" charset="0"/>
                <a:ea typeface="Poppins" pitchFamily="34" charset="-122"/>
                <a:cs typeface="Poppins" pitchFamily="34" charset="-120"/>
              </a:rPr>
              <a:t>[3]</a:t>
            </a:r>
            <a:endParaRPr lang="en-US" sz="750" dirty="0"/>
          </a:p>
        </p:txBody>
      </p:sp>
      <p:sp>
        <p:nvSpPr>
          <p:cNvPr id="14" name="Text 11"/>
          <p:cNvSpPr/>
          <p:nvPr/>
        </p:nvSpPr>
        <p:spPr>
          <a:xfrm>
            <a:off x="713232" y="2066544"/>
            <a:ext cx="3721608" cy="621792"/>
          </a:xfrm>
          <a:prstGeom prst="rect">
            <a:avLst/>
          </a:prstGeom>
          <a:noFill/>
          <a:ln/>
        </p:spPr>
        <p:txBody>
          <a:bodyPr wrap="square" lIns="0" tIns="0" rIns="0" bIns="0" rtlCol="0" anchor="ctr"/>
          <a:lstStyle/>
          <a:p>
            <a:pPr marL="0" indent="0">
              <a:buNone/>
            </a:pPr>
            <a:r>
              <a:rPr lang="en-US" sz="880" dirty="0">
                <a:solidFill>
                  <a:srgbClr val="191919"/>
                </a:solidFill>
                <a:latin typeface="Poppins" pitchFamily="34" charset="0"/>
                <a:ea typeface="Poppins" pitchFamily="34" charset="-122"/>
                <a:cs typeface="Poppins" pitchFamily="34" charset="-120"/>
              </a:rPr>
              <a:t>Hu, E. J., Shen, Y., Wallis, P., Allen-Zhu, Z., Li, Y., Wang, S., Wang, L., &amp; Chen, W. (2021). LoRA: Low-Rank Adaptation of Large Language Models. arXiv:2106.09685. https://arxiv.org/abs/2106.09685</a:t>
            </a:r>
            <a:endParaRPr lang="en-US" sz="880" dirty="0"/>
          </a:p>
        </p:txBody>
      </p:sp>
      <p:sp>
        <p:nvSpPr>
          <p:cNvPr id="15" name="Shape 12"/>
          <p:cNvSpPr/>
          <p:nvPr/>
        </p:nvSpPr>
        <p:spPr>
          <a:xfrm>
            <a:off x="365760" y="2743200"/>
            <a:ext cx="292608" cy="256032"/>
          </a:xfrm>
          <a:prstGeom prst="rect">
            <a:avLst/>
          </a:prstGeom>
          <a:solidFill>
            <a:srgbClr val="0C0A9E"/>
          </a:solidFill>
          <a:ln/>
        </p:spPr>
        <p:txBody>
          <a:bodyPr/>
          <a:lstStyle/>
          <a:p>
            <a:endParaRPr lang="en-US"/>
          </a:p>
        </p:txBody>
      </p:sp>
      <p:sp>
        <p:nvSpPr>
          <p:cNvPr id="16" name="Text 13"/>
          <p:cNvSpPr/>
          <p:nvPr/>
        </p:nvSpPr>
        <p:spPr>
          <a:xfrm>
            <a:off x="365760" y="2743200"/>
            <a:ext cx="292608"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Poppins" pitchFamily="34" charset="0"/>
                <a:ea typeface="Poppins" pitchFamily="34" charset="-122"/>
                <a:cs typeface="Poppins" pitchFamily="34" charset="-120"/>
              </a:rPr>
              <a:t>[4]</a:t>
            </a:r>
            <a:endParaRPr lang="en-US" sz="750" dirty="0"/>
          </a:p>
        </p:txBody>
      </p:sp>
      <p:sp>
        <p:nvSpPr>
          <p:cNvPr id="17" name="Text 14"/>
          <p:cNvSpPr/>
          <p:nvPr/>
        </p:nvSpPr>
        <p:spPr>
          <a:xfrm>
            <a:off x="713232" y="2724912"/>
            <a:ext cx="3721608" cy="621792"/>
          </a:xfrm>
          <a:prstGeom prst="rect">
            <a:avLst/>
          </a:prstGeom>
          <a:noFill/>
          <a:ln/>
        </p:spPr>
        <p:txBody>
          <a:bodyPr wrap="square" lIns="0" tIns="0" rIns="0" bIns="0" rtlCol="0" anchor="ctr"/>
          <a:lstStyle/>
          <a:p>
            <a:pPr marL="0" indent="0">
              <a:buNone/>
            </a:pPr>
            <a:r>
              <a:rPr lang="en-US" sz="880" dirty="0">
                <a:solidFill>
                  <a:srgbClr val="191919"/>
                </a:solidFill>
                <a:latin typeface="Poppins" pitchFamily="34" charset="0"/>
                <a:ea typeface="Poppins" pitchFamily="34" charset="-122"/>
                <a:cs typeface="Poppins" pitchFamily="34" charset="-120"/>
              </a:rPr>
              <a:t>Shaalan, K., &amp; Zakaria, L. (2023). Code Generation Documentation Using CodeT5. In Proceedings of the International Conference on Advanced Intelligent Systems and Informatics (AISI 2023). Springer.</a:t>
            </a:r>
            <a:endParaRPr lang="en-US" sz="880" dirty="0"/>
          </a:p>
        </p:txBody>
      </p:sp>
      <p:sp>
        <p:nvSpPr>
          <p:cNvPr id="18" name="Shape 15"/>
          <p:cNvSpPr/>
          <p:nvPr/>
        </p:nvSpPr>
        <p:spPr>
          <a:xfrm>
            <a:off x="365760" y="3401568"/>
            <a:ext cx="292608" cy="256032"/>
          </a:xfrm>
          <a:prstGeom prst="rect">
            <a:avLst/>
          </a:prstGeom>
          <a:solidFill>
            <a:srgbClr val="0C0A9E"/>
          </a:solidFill>
          <a:ln/>
        </p:spPr>
        <p:txBody>
          <a:bodyPr/>
          <a:lstStyle/>
          <a:p>
            <a:endParaRPr lang="en-US"/>
          </a:p>
        </p:txBody>
      </p:sp>
      <p:sp>
        <p:nvSpPr>
          <p:cNvPr id="19" name="Text 16"/>
          <p:cNvSpPr/>
          <p:nvPr/>
        </p:nvSpPr>
        <p:spPr>
          <a:xfrm>
            <a:off x="365760" y="3401568"/>
            <a:ext cx="292608"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Poppins" pitchFamily="34" charset="0"/>
                <a:ea typeface="Poppins" pitchFamily="34" charset="-122"/>
                <a:cs typeface="Poppins" pitchFamily="34" charset="-120"/>
              </a:rPr>
              <a:t>[5]</a:t>
            </a:r>
            <a:endParaRPr lang="en-US" sz="750" dirty="0"/>
          </a:p>
        </p:txBody>
      </p:sp>
      <p:sp>
        <p:nvSpPr>
          <p:cNvPr id="20" name="Text 17"/>
          <p:cNvSpPr/>
          <p:nvPr/>
        </p:nvSpPr>
        <p:spPr>
          <a:xfrm>
            <a:off x="713232" y="3383280"/>
            <a:ext cx="3721608" cy="621792"/>
          </a:xfrm>
          <a:prstGeom prst="rect">
            <a:avLst/>
          </a:prstGeom>
          <a:noFill/>
          <a:ln/>
        </p:spPr>
        <p:txBody>
          <a:bodyPr wrap="square" lIns="0" tIns="0" rIns="0" bIns="0" rtlCol="0" anchor="ctr"/>
          <a:lstStyle/>
          <a:p>
            <a:pPr marL="0" indent="0">
              <a:buNone/>
            </a:pPr>
            <a:r>
              <a:rPr lang="en-US" sz="880" dirty="0">
                <a:solidFill>
                  <a:srgbClr val="191919"/>
                </a:solidFill>
                <a:latin typeface="Poppins" pitchFamily="34" charset="0"/>
                <a:ea typeface="Poppins" pitchFamily="34" charset="-122"/>
                <a:cs typeface="Poppins" pitchFamily="34" charset="-120"/>
              </a:rPr>
              <a:t>Husain, H., Wu, H.-H., Gazit, T., Allamanis, M., &amp; Brockschmidt, M. (2019). CodeSearchNet Challenge: Evaluating the State of Semantic Code Search. arXiv:1909.09436. https://arxiv.org/abs/1909.09436</a:t>
            </a:r>
            <a:endParaRPr lang="en-US" sz="880" dirty="0"/>
          </a:p>
        </p:txBody>
      </p:sp>
      <p:sp>
        <p:nvSpPr>
          <p:cNvPr id="21" name="Shape 18"/>
          <p:cNvSpPr/>
          <p:nvPr/>
        </p:nvSpPr>
        <p:spPr>
          <a:xfrm>
            <a:off x="4617720" y="768096"/>
            <a:ext cx="292608" cy="256032"/>
          </a:xfrm>
          <a:prstGeom prst="rect">
            <a:avLst/>
          </a:prstGeom>
          <a:solidFill>
            <a:srgbClr val="9900FF"/>
          </a:solidFill>
          <a:ln/>
        </p:spPr>
        <p:txBody>
          <a:bodyPr/>
          <a:lstStyle/>
          <a:p>
            <a:endParaRPr lang="en-US"/>
          </a:p>
        </p:txBody>
      </p:sp>
      <p:sp>
        <p:nvSpPr>
          <p:cNvPr id="22" name="Text 19"/>
          <p:cNvSpPr/>
          <p:nvPr/>
        </p:nvSpPr>
        <p:spPr>
          <a:xfrm>
            <a:off x="4617720" y="768096"/>
            <a:ext cx="292608"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Poppins" pitchFamily="34" charset="0"/>
                <a:ea typeface="Poppins" pitchFamily="34" charset="-122"/>
                <a:cs typeface="Poppins" pitchFamily="34" charset="-120"/>
              </a:rPr>
              <a:t>[6]</a:t>
            </a:r>
            <a:endParaRPr lang="en-US" sz="750" dirty="0"/>
          </a:p>
        </p:txBody>
      </p:sp>
      <p:sp>
        <p:nvSpPr>
          <p:cNvPr id="23" name="Text 20"/>
          <p:cNvSpPr/>
          <p:nvPr/>
        </p:nvSpPr>
        <p:spPr>
          <a:xfrm>
            <a:off x="4965192" y="749808"/>
            <a:ext cx="3721608" cy="621792"/>
          </a:xfrm>
          <a:prstGeom prst="rect">
            <a:avLst/>
          </a:prstGeom>
          <a:noFill/>
          <a:ln/>
        </p:spPr>
        <p:txBody>
          <a:bodyPr wrap="square" lIns="0" tIns="0" rIns="0" bIns="0" rtlCol="0" anchor="ctr"/>
          <a:lstStyle/>
          <a:p>
            <a:pPr marL="0" indent="0">
              <a:buNone/>
            </a:pPr>
            <a:r>
              <a:rPr lang="en-US" sz="880" dirty="0">
                <a:solidFill>
                  <a:srgbClr val="191919"/>
                </a:solidFill>
                <a:latin typeface="Poppins" pitchFamily="34" charset="0"/>
                <a:ea typeface="Poppins" pitchFamily="34" charset="-122"/>
                <a:cs typeface="Poppins" pitchFamily="34" charset="-120"/>
              </a:rPr>
              <a:t>Papineni, K., Roukos, S., Ward, T., &amp; Zhu, W.-J. (2002). BLEU: A Method for Automatic Evaluation of Machine Translation. In Proceedings of ACL 2002, pp. 311–318.</a:t>
            </a:r>
            <a:endParaRPr lang="en-US" sz="880" dirty="0"/>
          </a:p>
        </p:txBody>
      </p:sp>
      <p:sp>
        <p:nvSpPr>
          <p:cNvPr id="24" name="Shape 21"/>
          <p:cNvSpPr/>
          <p:nvPr/>
        </p:nvSpPr>
        <p:spPr>
          <a:xfrm>
            <a:off x="4617720" y="1426464"/>
            <a:ext cx="292608" cy="256032"/>
          </a:xfrm>
          <a:prstGeom prst="rect">
            <a:avLst/>
          </a:prstGeom>
          <a:solidFill>
            <a:srgbClr val="9900FF"/>
          </a:solidFill>
          <a:ln/>
        </p:spPr>
        <p:txBody>
          <a:bodyPr/>
          <a:lstStyle/>
          <a:p>
            <a:endParaRPr lang="en-US"/>
          </a:p>
        </p:txBody>
      </p:sp>
      <p:sp>
        <p:nvSpPr>
          <p:cNvPr id="25" name="Text 22"/>
          <p:cNvSpPr/>
          <p:nvPr/>
        </p:nvSpPr>
        <p:spPr>
          <a:xfrm>
            <a:off x="4617720" y="1426464"/>
            <a:ext cx="292608"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Poppins" pitchFamily="34" charset="0"/>
                <a:ea typeface="Poppins" pitchFamily="34" charset="-122"/>
                <a:cs typeface="Poppins" pitchFamily="34" charset="-120"/>
              </a:rPr>
              <a:t>[7]</a:t>
            </a:r>
            <a:endParaRPr lang="en-US" sz="750" dirty="0"/>
          </a:p>
        </p:txBody>
      </p:sp>
      <p:sp>
        <p:nvSpPr>
          <p:cNvPr id="26" name="Text 23"/>
          <p:cNvSpPr/>
          <p:nvPr/>
        </p:nvSpPr>
        <p:spPr>
          <a:xfrm>
            <a:off x="4965192" y="1408176"/>
            <a:ext cx="3721608" cy="621792"/>
          </a:xfrm>
          <a:prstGeom prst="rect">
            <a:avLst/>
          </a:prstGeom>
          <a:noFill/>
          <a:ln/>
        </p:spPr>
        <p:txBody>
          <a:bodyPr wrap="square" lIns="0" tIns="0" rIns="0" bIns="0" rtlCol="0" anchor="ctr"/>
          <a:lstStyle/>
          <a:p>
            <a:pPr marL="0" indent="0">
              <a:buNone/>
            </a:pPr>
            <a:r>
              <a:rPr lang="en-US" sz="880" dirty="0">
                <a:solidFill>
                  <a:srgbClr val="191919"/>
                </a:solidFill>
                <a:latin typeface="Poppins" pitchFamily="34" charset="0"/>
                <a:ea typeface="Poppins" pitchFamily="34" charset="-122"/>
                <a:cs typeface="Poppins" pitchFamily="34" charset="-120"/>
              </a:rPr>
              <a:t>Lin, C.-Y. (2004). ROUGE: A Package for Automatic Evaluation of Summaries. In Proceedings of ACL Workshop on Text Summarization Branches Out, pp. 74–81.</a:t>
            </a:r>
            <a:endParaRPr lang="en-US" sz="880" dirty="0"/>
          </a:p>
        </p:txBody>
      </p:sp>
      <p:sp>
        <p:nvSpPr>
          <p:cNvPr id="27" name="Shape 24"/>
          <p:cNvSpPr/>
          <p:nvPr/>
        </p:nvSpPr>
        <p:spPr>
          <a:xfrm>
            <a:off x="4617720" y="2084832"/>
            <a:ext cx="292608" cy="256032"/>
          </a:xfrm>
          <a:prstGeom prst="rect">
            <a:avLst/>
          </a:prstGeom>
          <a:solidFill>
            <a:srgbClr val="9900FF"/>
          </a:solidFill>
          <a:ln/>
        </p:spPr>
        <p:txBody>
          <a:bodyPr/>
          <a:lstStyle/>
          <a:p>
            <a:endParaRPr lang="en-US"/>
          </a:p>
        </p:txBody>
      </p:sp>
      <p:sp>
        <p:nvSpPr>
          <p:cNvPr id="28" name="Text 25"/>
          <p:cNvSpPr/>
          <p:nvPr/>
        </p:nvSpPr>
        <p:spPr>
          <a:xfrm>
            <a:off x="4617720" y="2084832"/>
            <a:ext cx="292608"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Poppins" pitchFamily="34" charset="0"/>
                <a:ea typeface="Poppins" pitchFamily="34" charset="-122"/>
                <a:cs typeface="Poppins" pitchFamily="34" charset="-120"/>
              </a:rPr>
              <a:t>[8]</a:t>
            </a:r>
            <a:endParaRPr lang="en-US" sz="750" dirty="0"/>
          </a:p>
        </p:txBody>
      </p:sp>
      <p:sp>
        <p:nvSpPr>
          <p:cNvPr id="29" name="Text 26"/>
          <p:cNvSpPr/>
          <p:nvPr/>
        </p:nvSpPr>
        <p:spPr>
          <a:xfrm>
            <a:off x="4965192" y="2066544"/>
            <a:ext cx="3721608" cy="621792"/>
          </a:xfrm>
          <a:prstGeom prst="rect">
            <a:avLst/>
          </a:prstGeom>
          <a:noFill/>
          <a:ln/>
        </p:spPr>
        <p:txBody>
          <a:bodyPr wrap="square" lIns="0" tIns="0" rIns="0" bIns="0" rtlCol="0" anchor="ctr"/>
          <a:lstStyle/>
          <a:p>
            <a:pPr marL="0" indent="0">
              <a:buNone/>
            </a:pPr>
            <a:r>
              <a:rPr lang="en-US" sz="880" dirty="0">
                <a:solidFill>
                  <a:srgbClr val="191919"/>
                </a:solidFill>
                <a:latin typeface="Poppins" pitchFamily="34" charset="0"/>
                <a:ea typeface="Poppins" pitchFamily="34" charset="-122"/>
                <a:cs typeface="Poppins" pitchFamily="34" charset="-120"/>
              </a:rPr>
              <a:t>Banerjee, S., &amp; Lavie, A. (2005). METEOR: An Automatic Metric for MT Evaluation with Improved Correlation with Human Judgments. In Proceedings of the ACL Workshop on Intrinsic and Extrinsic Evaluation Measures, pp. 65–72.</a:t>
            </a:r>
            <a:endParaRPr lang="en-US" sz="880" dirty="0"/>
          </a:p>
        </p:txBody>
      </p:sp>
      <p:sp>
        <p:nvSpPr>
          <p:cNvPr id="30" name="Shape 27"/>
          <p:cNvSpPr/>
          <p:nvPr/>
        </p:nvSpPr>
        <p:spPr>
          <a:xfrm>
            <a:off x="4617720" y="2743200"/>
            <a:ext cx="292608" cy="256032"/>
          </a:xfrm>
          <a:prstGeom prst="rect">
            <a:avLst/>
          </a:prstGeom>
          <a:solidFill>
            <a:srgbClr val="9900FF"/>
          </a:solidFill>
          <a:ln/>
        </p:spPr>
        <p:txBody>
          <a:bodyPr/>
          <a:lstStyle/>
          <a:p>
            <a:endParaRPr lang="en-US"/>
          </a:p>
        </p:txBody>
      </p:sp>
      <p:sp>
        <p:nvSpPr>
          <p:cNvPr id="31" name="Text 28"/>
          <p:cNvSpPr/>
          <p:nvPr/>
        </p:nvSpPr>
        <p:spPr>
          <a:xfrm>
            <a:off x="4617720" y="2743200"/>
            <a:ext cx="292608"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Poppins" pitchFamily="34" charset="0"/>
                <a:ea typeface="Poppins" pitchFamily="34" charset="-122"/>
                <a:cs typeface="Poppins" pitchFamily="34" charset="-120"/>
              </a:rPr>
              <a:t>[9]</a:t>
            </a:r>
            <a:endParaRPr lang="en-US" sz="750" dirty="0"/>
          </a:p>
        </p:txBody>
      </p:sp>
      <p:sp>
        <p:nvSpPr>
          <p:cNvPr id="32" name="Text 29"/>
          <p:cNvSpPr/>
          <p:nvPr/>
        </p:nvSpPr>
        <p:spPr>
          <a:xfrm>
            <a:off x="4965192" y="2724912"/>
            <a:ext cx="3721608" cy="621792"/>
          </a:xfrm>
          <a:prstGeom prst="rect">
            <a:avLst/>
          </a:prstGeom>
          <a:noFill/>
          <a:ln/>
        </p:spPr>
        <p:txBody>
          <a:bodyPr wrap="square" lIns="0" tIns="0" rIns="0" bIns="0" rtlCol="0" anchor="ctr"/>
          <a:lstStyle/>
          <a:p>
            <a:pPr marL="0" indent="0">
              <a:buNone/>
            </a:pPr>
            <a:r>
              <a:rPr lang="en-US" sz="880" dirty="0">
                <a:solidFill>
                  <a:srgbClr val="191919"/>
                </a:solidFill>
                <a:latin typeface="Poppins" pitchFamily="34" charset="0"/>
                <a:ea typeface="Poppins" pitchFamily="34" charset="-122"/>
                <a:cs typeface="Poppins" pitchFamily="34" charset="-120"/>
              </a:rPr>
              <a:t>Ren, S., Guo, D., Lu, S., Zhou, L., Liu, S., Tang, D., Sundaresan, N., Zhou, M., Blanco, A., &amp; Ma, S. (2020). CodeBLEU: A Method for Automatic Evaluation of Code Synthesis. arXiv:2009.10297. https://arxiv.org/abs/2009.10297</a:t>
            </a:r>
            <a:endParaRPr lang="en-US" sz="880" dirty="0"/>
          </a:p>
        </p:txBody>
      </p:sp>
      <p:sp>
        <p:nvSpPr>
          <p:cNvPr id="33" name="TextBox 32"/>
          <p:cNvSpPr txBox="1"/>
          <p:nvPr/>
        </p:nvSpPr>
        <p:spPr>
          <a:xfrm>
            <a:off x="8412480" y="4750308"/>
            <a:ext cx="320040" cy="228600"/>
          </a:xfrm>
          <a:prstGeom prst="rect">
            <a:avLst/>
          </a:prstGeom>
          <a:noFill/>
        </p:spPr>
        <p:txBody>
          <a:bodyPr wrap="none">
            <a:spAutoFit/>
          </a:bodyPr>
          <a:lstStyle/>
          <a:p>
            <a:pPr algn="r"/>
            <a:r>
              <a:rPr sz="1100" b="0">
                <a:solidFill>
                  <a:srgbClr val="0C0A9E"/>
                </a:solidFill>
              </a:rP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255</TotalTime>
  <Words>3463</Words>
  <Application>Microsoft Office PowerPoint</Application>
  <PresentationFormat>On-screen Show (16:9)</PresentationFormat>
  <Paragraphs>264</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Code Documentation &amp; Bug Report Analysis</dc:title>
  <dc:subject>PptxGenJS Presentation</dc:subject>
  <dc:creator>PptxGenJS</dc:creator>
  <cp:lastModifiedBy>Jernai Bennett</cp:lastModifiedBy>
  <cp:revision>1</cp:revision>
  <dcterms:created xsi:type="dcterms:W3CDTF">2026-03-24T03:40:17Z</dcterms:created>
  <dcterms:modified xsi:type="dcterms:W3CDTF">2026-04-07T20:23:35Z</dcterms:modified>
</cp:coreProperties>
</file>